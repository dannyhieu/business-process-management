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6" r:id="rId2"/>
    <p:sldId id="267" r:id="rId3"/>
    <p:sldId id="268" r:id="rId4"/>
    <p:sldId id="269" r:id="rId5"/>
    <p:sldId id="270" r:id="rId6"/>
    <p:sldId id="273" r:id="rId7"/>
    <p:sldId id="271" r:id="rId8"/>
    <p:sldId id="272" r:id="rId9"/>
    <p:sldId id="274" r:id="rId10"/>
    <p:sldId id="275" r:id="rId11"/>
    <p:sldId id="276" r:id="rId12"/>
    <p:sldId id="277" r:id="rId13"/>
    <p:sldId id="27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6" autoAdjust="0"/>
    <p:restoredTop sz="94660"/>
  </p:normalViewPr>
  <p:slideViewPr>
    <p:cSldViewPr snapToGrid="0">
      <p:cViewPr varScale="1">
        <p:scale>
          <a:sx n="98" d="100"/>
          <a:sy n="98" d="100"/>
        </p:scale>
        <p:origin x="108" y="4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71FB03-0A8F-41FA-87EC-033E42C3C8A6}"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7936B2-4058-440E-922A-773617D274AF}" type="slidenum">
              <a:rPr lang="en-US" smtClean="0"/>
              <a:t>‹#›</a:t>
            </a:fld>
            <a:endParaRPr lang="en-US"/>
          </a:p>
        </p:txBody>
      </p:sp>
    </p:spTree>
    <p:extLst>
      <p:ext uri="{BB962C8B-B14F-4D97-AF65-F5344CB8AC3E}">
        <p14:creationId xmlns:p14="http://schemas.microsoft.com/office/powerpoint/2010/main" val="3732065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D6D32-6105-4119-9472-1D7CF8E716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277E84-463A-4413-ABDE-82CAFA9086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6ACA2B-26C6-4C90-9280-4727B42E2EE2}"/>
              </a:ext>
            </a:extLst>
          </p:cNvPr>
          <p:cNvSpPr>
            <a:spLocks noGrp="1"/>
          </p:cNvSpPr>
          <p:nvPr>
            <p:ph type="dt" sz="half" idx="10"/>
          </p:nvPr>
        </p:nvSpPr>
        <p:spPr/>
        <p:txBody>
          <a:bodyPr/>
          <a:lstStyle/>
          <a:p>
            <a:fld id="{F755808C-C95F-41D1-900D-89BEFF2CD3AD}" type="datetimeFigureOut">
              <a:rPr lang="en-US" smtClean="0"/>
              <a:t>8/25/2026</a:t>
            </a:fld>
            <a:endParaRPr lang="en-US"/>
          </a:p>
        </p:txBody>
      </p:sp>
      <p:sp>
        <p:nvSpPr>
          <p:cNvPr id="5" name="Footer Placeholder 4">
            <a:extLst>
              <a:ext uri="{FF2B5EF4-FFF2-40B4-BE49-F238E27FC236}">
                <a16:creationId xmlns:a16="http://schemas.microsoft.com/office/drawing/2014/main" id="{A9A08AFE-D7D5-4E0A-BD60-F503FA1920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510BB7-E020-4AD4-9D0F-43FACFBE0261}"/>
              </a:ext>
            </a:extLst>
          </p:cNvPr>
          <p:cNvSpPr>
            <a:spLocks noGrp="1"/>
          </p:cNvSpPr>
          <p:nvPr>
            <p:ph type="sldNum" sz="quarter" idx="12"/>
          </p:nvPr>
        </p:nvSpPr>
        <p:spPr/>
        <p:txBody>
          <a:bodyPr/>
          <a:lstStyle/>
          <a:p>
            <a:fld id="{25826E8C-2358-410C-9A4B-FCA058522A5A}" type="slidenum">
              <a:rPr lang="en-US" smtClean="0"/>
              <a:t>‹#›</a:t>
            </a:fld>
            <a:endParaRPr lang="en-US"/>
          </a:p>
        </p:txBody>
      </p:sp>
    </p:spTree>
    <p:extLst>
      <p:ext uri="{BB962C8B-B14F-4D97-AF65-F5344CB8AC3E}">
        <p14:creationId xmlns:p14="http://schemas.microsoft.com/office/powerpoint/2010/main" val="1655984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76F1C-7966-4CEE-8ACC-ED7FD15B70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3BF303-3792-424C-8707-181E1AD0B34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90C2C1-9FA6-495C-8EAA-16CA2F41606B}"/>
              </a:ext>
            </a:extLst>
          </p:cNvPr>
          <p:cNvSpPr>
            <a:spLocks noGrp="1"/>
          </p:cNvSpPr>
          <p:nvPr>
            <p:ph type="dt" sz="half" idx="10"/>
          </p:nvPr>
        </p:nvSpPr>
        <p:spPr/>
        <p:txBody>
          <a:bodyPr/>
          <a:lstStyle/>
          <a:p>
            <a:fld id="{F755808C-C95F-41D1-900D-89BEFF2CD3AD}" type="datetimeFigureOut">
              <a:rPr lang="en-US" smtClean="0"/>
              <a:t>8/25/2026</a:t>
            </a:fld>
            <a:endParaRPr lang="en-US"/>
          </a:p>
        </p:txBody>
      </p:sp>
      <p:sp>
        <p:nvSpPr>
          <p:cNvPr id="5" name="Footer Placeholder 4">
            <a:extLst>
              <a:ext uri="{FF2B5EF4-FFF2-40B4-BE49-F238E27FC236}">
                <a16:creationId xmlns:a16="http://schemas.microsoft.com/office/drawing/2014/main" id="{1B524D54-7760-4943-B9EB-68349ABA27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7B01F-32E1-46D5-A5E0-C1168C24E135}"/>
              </a:ext>
            </a:extLst>
          </p:cNvPr>
          <p:cNvSpPr>
            <a:spLocks noGrp="1"/>
          </p:cNvSpPr>
          <p:nvPr>
            <p:ph type="sldNum" sz="quarter" idx="12"/>
          </p:nvPr>
        </p:nvSpPr>
        <p:spPr/>
        <p:txBody>
          <a:bodyPr/>
          <a:lstStyle/>
          <a:p>
            <a:fld id="{25826E8C-2358-410C-9A4B-FCA058522A5A}" type="slidenum">
              <a:rPr lang="en-US" smtClean="0"/>
              <a:t>‹#›</a:t>
            </a:fld>
            <a:endParaRPr lang="en-US"/>
          </a:p>
        </p:txBody>
      </p:sp>
    </p:spTree>
    <p:extLst>
      <p:ext uri="{BB962C8B-B14F-4D97-AF65-F5344CB8AC3E}">
        <p14:creationId xmlns:p14="http://schemas.microsoft.com/office/powerpoint/2010/main" val="490815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64E0E-4981-4866-8985-2D1D70FDB7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0149AED-AC44-41A3-8ECF-0A70C672B1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5A0AB66-E96A-4E25-B2DE-F8198A92E0E9}"/>
              </a:ext>
            </a:extLst>
          </p:cNvPr>
          <p:cNvSpPr>
            <a:spLocks noGrp="1"/>
          </p:cNvSpPr>
          <p:nvPr>
            <p:ph type="dt" sz="half" idx="10"/>
          </p:nvPr>
        </p:nvSpPr>
        <p:spPr/>
        <p:txBody>
          <a:bodyPr/>
          <a:lstStyle/>
          <a:p>
            <a:fld id="{F755808C-C95F-41D1-900D-89BEFF2CD3AD}" type="datetimeFigureOut">
              <a:rPr lang="en-US" smtClean="0"/>
              <a:t>8/25/2026</a:t>
            </a:fld>
            <a:endParaRPr lang="en-US"/>
          </a:p>
        </p:txBody>
      </p:sp>
      <p:sp>
        <p:nvSpPr>
          <p:cNvPr id="5" name="Footer Placeholder 4">
            <a:extLst>
              <a:ext uri="{FF2B5EF4-FFF2-40B4-BE49-F238E27FC236}">
                <a16:creationId xmlns:a16="http://schemas.microsoft.com/office/drawing/2014/main" id="{8572A204-7116-47AF-B95B-587DF506DF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AA8656-8C4D-43CF-AAE0-0E43DEE889D7}"/>
              </a:ext>
            </a:extLst>
          </p:cNvPr>
          <p:cNvSpPr>
            <a:spLocks noGrp="1"/>
          </p:cNvSpPr>
          <p:nvPr>
            <p:ph type="sldNum" sz="quarter" idx="12"/>
          </p:nvPr>
        </p:nvSpPr>
        <p:spPr/>
        <p:txBody>
          <a:bodyPr/>
          <a:lstStyle/>
          <a:p>
            <a:fld id="{25826E8C-2358-410C-9A4B-FCA058522A5A}" type="slidenum">
              <a:rPr lang="en-US" smtClean="0"/>
              <a:t>‹#›</a:t>
            </a:fld>
            <a:endParaRPr lang="en-US"/>
          </a:p>
        </p:txBody>
      </p:sp>
    </p:spTree>
    <p:extLst>
      <p:ext uri="{BB962C8B-B14F-4D97-AF65-F5344CB8AC3E}">
        <p14:creationId xmlns:p14="http://schemas.microsoft.com/office/powerpoint/2010/main" val="3805670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33E9-3D22-482F-83F7-F6CEE52280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381B73-DAFD-4114-96F2-D85D3FD6825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EBE1D5-BF6B-4829-8C74-61653429540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DD7CEA-5C58-4916-B276-43F33A73CB9F}"/>
              </a:ext>
            </a:extLst>
          </p:cNvPr>
          <p:cNvSpPr>
            <a:spLocks noGrp="1"/>
          </p:cNvSpPr>
          <p:nvPr>
            <p:ph type="dt" sz="half" idx="10"/>
          </p:nvPr>
        </p:nvSpPr>
        <p:spPr/>
        <p:txBody>
          <a:bodyPr/>
          <a:lstStyle/>
          <a:p>
            <a:fld id="{F755808C-C95F-41D1-900D-89BEFF2CD3AD}" type="datetimeFigureOut">
              <a:rPr lang="en-US" smtClean="0"/>
              <a:t>8/25/2026</a:t>
            </a:fld>
            <a:endParaRPr lang="en-US"/>
          </a:p>
        </p:txBody>
      </p:sp>
      <p:sp>
        <p:nvSpPr>
          <p:cNvPr id="6" name="Footer Placeholder 5">
            <a:extLst>
              <a:ext uri="{FF2B5EF4-FFF2-40B4-BE49-F238E27FC236}">
                <a16:creationId xmlns:a16="http://schemas.microsoft.com/office/drawing/2014/main" id="{5A47FC4F-5AB2-4845-AF94-81D51344D8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76445-A1F4-4E0B-9268-8F96AF110F45}"/>
              </a:ext>
            </a:extLst>
          </p:cNvPr>
          <p:cNvSpPr>
            <a:spLocks noGrp="1"/>
          </p:cNvSpPr>
          <p:nvPr>
            <p:ph type="sldNum" sz="quarter" idx="12"/>
          </p:nvPr>
        </p:nvSpPr>
        <p:spPr/>
        <p:txBody>
          <a:bodyPr/>
          <a:lstStyle/>
          <a:p>
            <a:fld id="{25826E8C-2358-410C-9A4B-FCA058522A5A}" type="slidenum">
              <a:rPr lang="en-US" smtClean="0"/>
              <a:t>‹#›</a:t>
            </a:fld>
            <a:endParaRPr lang="en-US"/>
          </a:p>
        </p:txBody>
      </p:sp>
    </p:spTree>
    <p:extLst>
      <p:ext uri="{BB962C8B-B14F-4D97-AF65-F5344CB8AC3E}">
        <p14:creationId xmlns:p14="http://schemas.microsoft.com/office/powerpoint/2010/main" val="92180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4721B-B892-42F5-BC08-A0047CB16E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E9A39F-9DF3-436D-A329-B9C5ADDE82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24F1679-D12B-48E1-AC03-CD581E482AC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2EB533-92FF-46F9-B778-4DE5413505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A6E470B-6E97-419B-BE81-8336C0F18EB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AB5FE4-E55D-4827-BCCC-1F8EFB178BF1}"/>
              </a:ext>
            </a:extLst>
          </p:cNvPr>
          <p:cNvSpPr>
            <a:spLocks noGrp="1"/>
          </p:cNvSpPr>
          <p:nvPr>
            <p:ph type="dt" sz="half" idx="10"/>
          </p:nvPr>
        </p:nvSpPr>
        <p:spPr/>
        <p:txBody>
          <a:bodyPr/>
          <a:lstStyle/>
          <a:p>
            <a:fld id="{F755808C-C95F-41D1-900D-89BEFF2CD3AD}" type="datetimeFigureOut">
              <a:rPr lang="en-US" smtClean="0"/>
              <a:t>8/25/2026</a:t>
            </a:fld>
            <a:endParaRPr lang="en-US"/>
          </a:p>
        </p:txBody>
      </p:sp>
      <p:sp>
        <p:nvSpPr>
          <p:cNvPr id="8" name="Footer Placeholder 7">
            <a:extLst>
              <a:ext uri="{FF2B5EF4-FFF2-40B4-BE49-F238E27FC236}">
                <a16:creationId xmlns:a16="http://schemas.microsoft.com/office/drawing/2014/main" id="{072C015B-9809-4BC0-B601-6302541D8B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1D3C2D-33A5-41FD-AF2C-C556E82172B0}"/>
              </a:ext>
            </a:extLst>
          </p:cNvPr>
          <p:cNvSpPr>
            <a:spLocks noGrp="1"/>
          </p:cNvSpPr>
          <p:nvPr>
            <p:ph type="sldNum" sz="quarter" idx="12"/>
          </p:nvPr>
        </p:nvSpPr>
        <p:spPr/>
        <p:txBody>
          <a:bodyPr/>
          <a:lstStyle/>
          <a:p>
            <a:fld id="{25826E8C-2358-410C-9A4B-FCA058522A5A}" type="slidenum">
              <a:rPr lang="en-US" smtClean="0"/>
              <a:t>‹#›</a:t>
            </a:fld>
            <a:endParaRPr lang="en-US"/>
          </a:p>
        </p:txBody>
      </p:sp>
    </p:spTree>
    <p:extLst>
      <p:ext uri="{BB962C8B-B14F-4D97-AF65-F5344CB8AC3E}">
        <p14:creationId xmlns:p14="http://schemas.microsoft.com/office/powerpoint/2010/main" val="304706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6FC10-1060-43C8-805F-0EDF12DFD9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4D1172-1417-4204-8B65-FEB82E307F8E}"/>
              </a:ext>
            </a:extLst>
          </p:cNvPr>
          <p:cNvSpPr>
            <a:spLocks noGrp="1"/>
          </p:cNvSpPr>
          <p:nvPr>
            <p:ph type="dt" sz="half" idx="10"/>
          </p:nvPr>
        </p:nvSpPr>
        <p:spPr/>
        <p:txBody>
          <a:bodyPr/>
          <a:lstStyle/>
          <a:p>
            <a:fld id="{F755808C-C95F-41D1-900D-89BEFF2CD3AD}" type="datetimeFigureOut">
              <a:rPr lang="en-US" smtClean="0"/>
              <a:t>8/25/2026</a:t>
            </a:fld>
            <a:endParaRPr lang="en-US"/>
          </a:p>
        </p:txBody>
      </p:sp>
      <p:sp>
        <p:nvSpPr>
          <p:cNvPr id="4" name="Footer Placeholder 3">
            <a:extLst>
              <a:ext uri="{FF2B5EF4-FFF2-40B4-BE49-F238E27FC236}">
                <a16:creationId xmlns:a16="http://schemas.microsoft.com/office/drawing/2014/main" id="{522FBF02-DBCF-4F09-B3F1-27760C1107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4D4770-954E-4E9B-A36F-060AB339BFBE}"/>
              </a:ext>
            </a:extLst>
          </p:cNvPr>
          <p:cNvSpPr>
            <a:spLocks noGrp="1"/>
          </p:cNvSpPr>
          <p:nvPr>
            <p:ph type="sldNum" sz="quarter" idx="12"/>
          </p:nvPr>
        </p:nvSpPr>
        <p:spPr/>
        <p:txBody>
          <a:bodyPr/>
          <a:lstStyle/>
          <a:p>
            <a:fld id="{25826E8C-2358-410C-9A4B-FCA058522A5A}" type="slidenum">
              <a:rPr lang="en-US" smtClean="0"/>
              <a:t>‹#›</a:t>
            </a:fld>
            <a:endParaRPr lang="en-US"/>
          </a:p>
        </p:txBody>
      </p:sp>
    </p:spTree>
    <p:extLst>
      <p:ext uri="{BB962C8B-B14F-4D97-AF65-F5344CB8AC3E}">
        <p14:creationId xmlns:p14="http://schemas.microsoft.com/office/powerpoint/2010/main" val="858617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43015D-DFC9-4624-9E3A-2C2B534344FF}"/>
              </a:ext>
            </a:extLst>
          </p:cNvPr>
          <p:cNvSpPr>
            <a:spLocks noGrp="1"/>
          </p:cNvSpPr>
          <p:nvPr>
            <p:ph type="dt" sz="half" idx="10"/>
          </p:nvPr>
        </p:nvSpPr>
        <p:spPr/>
        <p:txBody>
          <a:bodyPr/>
          <a:lstStyle/>
          <a:p>
            <a:fld id="{F755808C-C95F-41D1-900D-89BEFF2CD3AD}" type="datetimeFigureOut">
              <a:rPr lang="en-US" smtClean="0"/>
              <a:t>8/25/2026</a:t>
            </a:fld>
            <a:endParaRPr lang="en-US"/>
          </a:p>
        </p:txBody>
      </p:sp>
      <p:sp>
        <p:nvSpPr>
          <p:cNvPr id="3" name="Footer Placeholder 2">
            <a:extLst>
              <a:ext uri="{FF2B5EF4-FFF2-40B4-BE49-F238E27FC236}">
                <a16:creationId xmlns:a16="http://schemas.microsoft.com/office/drawing/2014/main" id="{40FA4E6F-C2F5-4AA2-8FF1-751FF5386A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CAB849-9ED1-4746-8F64-C595825506E7}"/>
              </a:ext>
            </a:extLst>
          </p:cNvPr>
          <p:cNvSpPr>
            <a:spLocks noGrp="1"/>
          </p:cNvSpPr>
          <p:nvPr>
            <p:ph type="sldNum" sz="quarter" idx="12"/>
          </p:nvPr>
        </p:nvSpPr>
        <p:spPr/>
        <p:txBody>
          <a:bodyPr/>
          <a:lstStyle/>
          <a:p>
            <a:fld id="{25826E8C-2358-410C-9A4B-FCA058522A5A}" type="slidenum">
              <a:rPr lang="en-US" smtClean="0"/>
              <a:t>‹#›</a:t>
            </a:fld>
            <a:endParaRPr lang="en-US"/>
          </a:p>
        </p:txBody>
      </p:sp>
    </p:spTree>
    <p:extLst>
      <p:ext uri="{BB962C8B-B14F-4D97-AF65-F5344CB8AC3E}">
        <p14:creationId xmlns:p14="http://schemas.microsoft.com/office/powerpoint/2010/main" val="3621762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209E-079E-4934-8BEF-44CD1B234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2F8B0C-9EC5-4732-941A-0B24831598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6D9069-910D-4631-87F7-3CF9F78E2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E70F76D-8A53-487A-A789-64FA625FFE73}"/>
              </a:ext>
            </a:extLst>
          </p:cNvPr>
          <p:cNvSpPr>
            <a:spLocks noGrp="1"/>
          </p:cNvSpPr>
          <p:nvPr>
            <p:ph type="dt" sz="half" idx="10"/>
          </p:nvPr>
        </p:nvSpPr>
        <p:spPr/>
        <p:txBody>
          <a:bodyPr/>
          <a:lstStyle/>
          <a:p>
            <a:fld id="{F755808C-C95F-41D1-900D-89BEFF2CD3AD}" type="datetimeFigureOut">
              <a:rPr lang="en-US" smtClean="0"/>
              <a:t>8/25/2026</a:t>
            </a:fld>
            <a:endParaRPr lang="en-US"/>
          </a:p>
        </p:txBody>
      </p:sp>
      <p:sp>
        <p:nvSpPr>
          <p:cNvPr id="6" name="Footer Placeholder 5">
            <a:extLst>
              <a:ext uri="{FF2B5EF4-FFF2-40B4-BE49-F238E27FC236}">
                <a16:creationId xmlns:a16="http://schemas.microsoft.com/office/drawing/2014/main" id="{8BAB78B9-636D-4535-8581-9BB0BD99BE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3AA6AB-7D9B-46A0-98F4-B25E98A990DA}"/>
              </a:ext>
            </a:extLst>
          </p:cNvPr>
          <p:cNvSpPr>
            <a:spLocks noGrp="1"/>
          </p:cNvSpPr>
          <p:nvPr>
            <p:ph type="sldNum" sz="quarter" idx="12"/>
          </p:nvPr>
        </p:nvSpPr>
        <p:spPr/>
        <p:txBody>
          <a:bodyPr/>
          <a:lstStyle/>
          <a:p>
            <a:fld id="{25826E8C-2358-410C-9A4B-FCA058522A5A}" type="slidenum">
              <a:rPr lang="en-US" smtClean="0"/>
              <a:t>‹#›</a:t>
            </a:fld>
            <a:endParaRPr lang="en-US"/>
          </a:p>
        </p:txBody>
      </p:sp>
    </p:spTree>
    <p:extLst>
      <p:ext uri="{BB962C8B-B14F-4D97-AF65-F5344CB8AC3E}">
        <p14:creationId xmlns:p14="http://schemas.microsoft.com/office/powerpoint/2010/main" val="1136668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17FC5-4BAE-4687-8151-48D04EBD82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EF3FD5-C118-42FF-877C-E890043519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B5CA5E-8252-413F-94EB-80267246D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721FDF-639A-405A-85D0-D99169C5F52A}"/>
              </a:ext>
            </a:extLst>
          </p:cNvPr>
          <p:cNvSpPr>
            <a:spLocks noGrp="1"/>
          </p:cNvSpPr>
          <p:nvPr>
            <p:ph type="dt" sz="half" idx="10"/>
          </p:nvPr>
        </p:nvSpPr>
        <p:spPr/>
        <p:txBody>
          <a:bodyPr/>
          <a:lstStyle/>
          <a:p>
            <a:fld id="{F755808C-C95F-41D1-900D-89BEFF2CD3AD}" type="datetimeFigureOut">
              <a:rPr lang="en-US" smtClean="0"/>
              <a:t>8/25/2026</a:t>
            </a:fld>
            <a:endParaRPr lang="en-US"/>
          </a:p>
        </p:txBody>
      </p:sp>
      <p:sp>
        <p:nvSpPr>
          <p:cNvPr id="6" name="Footer Placeholder 5">
            <a:extLst>
              <a:ext uri="{FF2B5EF4-FFF2-40B4-BE49-F238E27FC236}">
                <a16:creationId xmlns:a16="http://schemas.microsoft.com/office/drawing/2014/main" id="{C5CB464F-4EEA-44EE-8F01-58507B51FD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674BC4-BF30-4550-B432-EC33CDE2109A}"/>
              </a:ext>
            </a:extLst>
          </p:cNvPr>
          <p:cNvSpPr>
            <a:spLocks noGrp="1"/>
          </p:cNvSpPr>
          <p:nvPr>
            <p:ph type="sldNum" sz="quarter" idx="12"/>
          </p:nvPr>
        </p:nvSpPr>
        <p:spPr/>
        <p:txBody>
          <a:bodyPr/>
          <a:lstStyle/>
          <a:p>
            <a:fld id="{25826E8C-2358-410C-9A4B-FCA058522A5A}" type="slidenum">
              <a:rPr lang="en-US" smtClean="0"/>
              <a:t>‹#›</a:t>
            </a:fld>
            <a:endParaRPr lang="en-US"/>
          </a:p>
        </p:txBody>
      </p:sp>
    </p:spTree>
    <p:extLst>
      <p:ext uri="{BB962C8B-B14F-4D97-AF65-F5344CB8AC3E}">
        <p14:creationId xmlns:p14="http://schemas.microsoft.com/office/powerpoint/2010/main" val="2926939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EA528-52B9-432D-85D2-8B30702CEE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7E8BB6-6760-432A-B27E-9F3F64C66B4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63FB5A-5000-4D70-95B3-58E4CC31AA3A}"/>
              </a:ext>
            </a:extLst>
          </p:cNvPr>
          <p:cNvSpPr>
            <a:spLocks noGrp="1"/>
          </p:cNvSpPr>
          <p:nvPr>
            <p:ph type="dt" sz="half" idx="10"/>
          </p:nvPr>
        </p:nvSpPr>
        <p:spPr/>
        <p:txBody>
          <a:bodyPr/>
          <a:lstStyle/>
          <a:p>
            <a:fld id="{F755808C-C95F-41D1-900D-89BEFF2CD3AD}" type="datetimeFigureOut">
              <a:rPr lang="en-US" smtClean="0"/>
              <a:t>8/25/2026</a:t>
            </a:fld>
            <a:endParaRPr lang="en-US"/>
          </a:p>
        </p:txBody>
      </p:sp>
      <p:sp>
        <p:nvSpPr>
          <p:cNvPr id="5" name="Footer Placeholder 4">
            <a:extLst>
              <a:ext uri="{FF2B5EF4-FFF2-40B4-BE49-F238E27FC236}">
                <a16:creationId xmlns:a16="http://schemas.microsoft.com/office/drawing/2014/main" id="{0AC1C986-CD33-4934-9C31-A36ED98A74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D80870-4B7C-47CB-BC4C-0B0CA683C469}"/>
              </a:ext>
            </a:extLst>
          </p:cNvPr>
          <p:cNvSpPr>
            <a:spLocks noGrp="1"/>
          </p:cNvSpPr>
          <p:nvPr>
            <p:ph type="sldNum" sz="quarter" idx="12"/>
          </p:nvPr>
        </p:nvSpPr>
        <p:spPr/>
        <p:txBody>
          <a:bodyPr/>
          <a:lstStyle/>
          <a:p>
            <a:fld id="{25826E8C-2358-410C-9A4B-FCA058522A5A}" type="slidenum">
              <a:rPr lang="en-US" smtClean="0"/>
              <a:t>‹#›</a:t>
            </a:fld>
            <a:endParaRPr lang="en-US"/>
          </a:p>
        </p:txBody>
      </p:sp>
    </p:spTree>
    <p:extLst>
      <p:ext uri="{BB962C8B-B14F-4D97-AF65-F5344CB8AC3E}">
        <p14:creationId xmlns:p14="http://schemas.microsoft.com/office/powerpoint/2010/main" val="41034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40C5ED-F48C-4F92-84CE-CBF02490D6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D9EF1AA-3A7E-4823-87C0-678B02E3C7E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A070EB-658B-46E7-8927-DA3E471A6453}"/>
              </a:ext>
            </a:extLst>
          </p:cNvPr>
          <p:cNvSpPr>
            <a:spLocks noGrp="1"/>
          </p:cNvSpPr>
          <p:nvPr>
            <p:ph type="dt" sz="half" idx="10"/>
          </p:nvPr>
        </p:nvSpPr>
        <p:spPr/>
        <p:txBody>
          <a:bodyPr/>
          <a:lstStyle/>
          <a:p>
            <a:fld id="{F755808C-C95F-41D1-900D-89BEFF2CD3AD}" type="datetimeFigureOut">
              <a:rPr lang="en-US" smtClean="0"/>
              <a:t>8/25/2026</a:t>
            </a:fld>
            <a:endParaRPr lang="en-US"/>
          </a:p>
        </p:txBody>
      </p:sp>
      <p:sp>
        <p:nvSpPr>
          <p:cNvPr id="5" name="Footer Placeholder 4">
            <a:extLst>
              <a:ext uri="{FF2B5EF4-FFF2-40B4-BE49-F238E27FC236}">
                <a16:creationId xmlns:a16="http://schemas.microsoft.com/office/drawing/2014/main" id="{919815C0-4BA3-46DD-9412-6278053CED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11AAA-4BF9-41B2-A37B-A2680D666223}"/>
              </a:ext>
            </a:extLst>
          </p:cNvPr>
          <p:cNvSpPr>
            <a:spLocks noGrp="1"/>
          </p:cNvSpPr>
          <p:nvPr>
            <p:ph type="sldNum" sz="quarter" idx="12"/>
          </p:nvPr>
        </p:nvSpPr>
        <p:spPr/>
        <p:txBody>
          <a:bodyPr/>
          <a:lstStyle/>
          <a:p>
            <a:fld id="{25826E8C-2358-410C-9A4B-FCA058522A5A}" type="slidenum">
              <a:rPr lang="en-US" smtClean="0"/>
              <a:t>‹#›</a:t>
            </a:fld>
            <a:endParaRPr lang="en-US"/>
          </a:p>
        </p:txBody>
      </p:sp>
    </p:spTree>
    <p:extLst>
      <p:ext uri="{BB962C8B-B14F-4D97-AF65-F5344CB8AC3E}">
        <p14:creationId xmlns:p14="http://schemas.microsoft.com/office/powerpoint/2010/main" val="612189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865843-0EF4-4651-A040-EEE63FD54D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C3C7E1-672E-4962-97F0-A08BCA1F36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28DFC9-DBE0-4F14-BB4D-9A96124FF5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55808C-C95F-41D1-900D-89BEFF2CD3AD}" type="datetimeFigureOut">
              <a:rPr lang="en-US" smtClean="0"/>
              <a:t>8/25/2026</a:t>
            </a:fld>
            <a:endParaRPr lang="en-US"/>
          </a:p>
        </p:txBody>
      </p:sp>
      <p:sp>
        <p:nvSpPr>
          <p:cNvPr id="5" name="Footer Placeholder 4">
            <a:extLst>
              <a:ext uri="{FF2B5EF4-FFF2-40B4-BE49-F238E27FC236}">
                <a16:creationId xmlns:a16="http://schemas.microsoft.com/office/drawing/2014/main" id="{1673DDF2-05FE-413D-85BD-5711640EA6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04ED04-FFFE-4B7D-B71B-B1DEF41919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826E8C-2358-410C-9A4B-FCA058522A5A}" type="slidenum">
              <a:rPr lang="en-US" smtClean="0"/>
              <a:t>‹#›</a:t>
            </a:fld>
            <a:endParaRPr lang="en-US"/>
          </a:p>
        </p:txBody>
      </p:sp>
    </p:spTree>
    <p:extLst>
      <p:ext uri="{BB962C8B-B14F-4D97-AF65-F5344CB8AC3E}">
        <p14:creationId xmlns:p14="http://schemas.microsoft.com/office/powerpoint/2010/main" val="2988884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03;g3a6c8354d49_0_87">
            <a:extLst>
              <a:ext uri="{FF2B5EF4-FFF2-40B4-BE49-F238E27FC236}">
                <a16:creationId xmlns:a16="http://schemas.microsoft.com/office/drawing/2014/main" id="{A3EF5E5B-AA5A-477E-B485-A43D05DCBDDA}"/>
              </a:ext>
            </a:extLst>
          </p:cNvPr>
          <p:cNvSpPr txBox="1">
            <a:spLocks/>
          </p:cNvSpPr>
          <p:nvPr/>
        </p:nvSpPr>
        <p:spPr>
          <a:xfrm>
            <a:off x="2265338" y="4000550"/>
            <a:ext cx="6489300" cy="2117700"/>
          </a:xfrm>
          <a:prstGeom prst="rect">
            <a:avLst/>
          </a:prstGeom>
        </p:spPr>
        <p:txBody>
          <a:bodyPr spcFirstLastPara="1" vert="horz" wrap="square" lIns="121875" tIns="121875" rIns="121875" bIns="12187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60838">
              <a:lnSpc>
                <a:spcPct val="95000"/>
              </a:lnSpc>
              <a:buSzPts val="2083"/>
              <a:buFont typeface="Arial"/>
              <a:buChar char="-"/>
            </a:pPr>
            <a:r>
              <a:rPr lang="en-US" sz="2082" dirty="0" err="1">
                <a:latin typeface="Arial"/>
                <a:ea typeface="Arial"/>
                <a:cs typeface="Arial"/>
                <a:sym typeface="Arial"/>
              </a:rPr>
              <a:t>Tổng</a:t>
            </a:r>
            <a:r>
              <a:rPr lang="en-US" sz="2082" dirty="0">
                <a:latin typeface="Arial"/>
                <a:ea typeface="Arial"/>
                <a:cs typeface="Arial"/>
                <a:sym typeface="Arial"/>
              </a:rPr>
              <a:t> </a:t>
            </a:r>
            <a:r>
              <a:rPr lang="en-US" sz="2082" dirty="0" err="1">
                <a:latin typeface="Arial"/>
                <a:ea typeface="Arial"/>
                <a:cs typeface="Arial"/>
                <a:sym typeface="Arial"/>
              </a:rPr>
              <a:t>quan</a:t>
            </a:r>
            <a:r>
              <a:rPr lang="en-US" sz="2082" dirty="0">
                <a:latin typeface="Arial"/>
                <a:ea typeface="Arial"/>
                <a:cs typeface="Arial"/>
                <a:sym typeface="Arial"/>
              </a:rPr>
              <a:t> </a:t>
            </a:r>
            <a:r>
              <a:rPr lang="en-US" sz="2082" dirty="0" err="1">
                <a:latin typeface="Arial"/>
                <a:ea typeface="Arial"/>
                <a:cs typeface="Arial"/>
                <a:sym typeface="Arial"/>
              </a:rPr>
              <a:t>quy</a:t>
            </a:r>
            <a:r>
              <a:rPr lang="en-US" sz="2082" dirty="0">
                <a:latin typeface="Arial"/>
                <a:ea typeface="Arial"/>
                <a:cs typeface="Arial"/>
                <a:sym typeface="Arial"/>
              </a:rPr>
              <a:t> </a:t>
            </a:r>
            <a:r>
              <a:rPr lang="en-US" sz="2082" dirty="0" err="1">
                <a:latin typeface="Arial"/>
                <a:ea typeface="Arial"/>
                <a:cs typeface="Arial"/>
                <a:sym typeface="Arial"/>
              </a:rPr>
              <a:t>trình</a:t>
            </a:r>
            <a:endParaRPr lang="en-US" sz="2082" dirty="0">
              <a:latin typeface="Arial"/>
              <a:ea typeface="Arial"/>
              <a:cs typeface="Arial"/>
              <a:sym typeface="Arial"/>
            </a:endParaRPr>
          </a:p>
          <a:p>
            <a:pPr marL="457200" indent="-360838">
              <a:lnSpc>
                <a:spcPct val="95000"/>
              </a:lnSpc>
              <a:buSzPts val="2083"/>
              <a:buFont typeface="Arial"/>
              <a:buChar char="-"/>
            </a:pPr>
            <a:r>
              <a:rPr lang="en-US" sz="2082" dirty="0" err="1">
                <a:latin typeface="Arial"/>
                <a:ea typeface="Arial"/>
                <a:cs typeface="Arial"/>
                <a:sym typeface="Arial"/>
              </a:rPr>
              <a:t>Mô</a:t>
            </a:r>
            <a:r>
              <a:rPr lang="en-US" sz="2082" dirty="0">
                <a:latin typeface="Arial"/>
                <a:ea typeface="Arial"/>
                <a:cs typeface="Arial"/>
                <a:sym typeface="Arial"/>
              </a:rPr>
              <a:t> </a:t>
            </a:r>
            <a:r>
              <a:rPr lang="en-US" sz="2082" dirty="0" err="1">
                <a:latin typeface="Arial"/>
                <a:ea typeface="Arial"/>
                <a:cs typeface="Arial"/>
                <a:sym typeface="Arial"/>
              </a:rPr>
              <a:t>hình</a:t>
            </a:r>
            <a:r>
              <a:rPr lang="en-US" sz="2082" dirty="0">
                <a:latin typeface="Arial"/>
                <a:ea typeface="Arial"/>
                <a:cs typeface="Arial"/>
                <a:sym typeface="Arial"/>
              </a:rPr>
              <a:t> </a:t>
            </a:r>
            <a:r>
              <a:rPr lang="en-US" sz="2082" dirty="0" err="1">
                <a:latin typeface="Arial"/>
                <a:ea typeface="Arial"/>
                <a:cs typeface="Arial"/>
                <a:sym typeface="Arial"/>
              </a:rPr>
              <a:t>hóa</a:t>
            </a:r>
            <a:r>
              <a:rPr lang="en-US" sz="2082" dirty="0">
                <a:latin typeface="Arial"/>
                <a:ea typeface="Arial"/>
                <a:cs typeface="Arial"/>
                <a:sym typeface="Arial"/>
              </a:rPr>
              <a:t> </a:t>
            </a:r>
            <a:r>
              <a:rPr lang="en-US" sz="2082" dirty="0" err="1">
                <a:latin typeface="Arial"/>
                <a:ea typeface="Arial"/>
                <a:cs typeface="Arial"/>
                <a:sym typeface="Arial"/>
              </a:rPr>
              <a:t>quy</a:t>
            </a:r>
            <a:r>
              <a:rPr lang="en-US" sz="2082" dirty="0">
                <a:latin typeface="Arial"/>
                <a:ea typeface="Arial"/>
                <a:cs typeface="Arial"/>
                <a:sym typeface="Arial"/>
              </a:rPr>
              <a:t> </a:t>
            </a:r>
            <a:r>
              <a:rPr lang="en-US" sz="2082" dirty="0" err="1">
                <a:latin typeface="Arial"/>
                <a:ea typeface="Arial"/>
                <a:cs typeface="Arial"/>
                <a:sym typeface="Arial"/>
              </a:rPr>
              <a:t>trình</a:t>
            </a:r>
            <a:endParaRPr lang="en-US" sz="2082" dirty="0">
              <a:latin typeface="Arial"/>
              <a:ea typeface="Arial"/>
              <a:cs typeface="Arial"/>
              <a:sym typeface="Arial"/>
            </a:endParaRPr>
          </a:p>
          <a:p>
            <a:pPr marL="457200" indent="-360838">
              <a:lnSpc>
                <a:spcPct val="95000"/>
              </a:lnSpc>
              <a:buSzPts val="2083"/>
              <a:buFont typeface="Arial"/>
              <a:buChar char="-"/>
            </a:pPr>
            <a:r>
              <a:rPr lang="en-US" sz="2082" dirty="0">
                <a:latin typeface="Arial"/>
                <a:ea typeface="Arial"/>
                <a:cs typeface="Arial"/>
                <a:sym typeface="Arial"/>
              </a:rPr>
              <a:t>Ph</a:t>
            </a:r>
            <a:r>
              <a:rPr lang="vi-VN" sz="2082" dirty="0">
                <a:latin typeface="Arial"/>
                <a:ea typeface="Arial"/>
                <a:cs typeface="Arial"/>
                <a:sym typeface="Arial"/>
              </a:rPr>
              <a:t>ư</a:t>
            </a:r>
            <a:r>
              <a:rPr lang="en-US" sz="2082" dirty="0" err="1">
                <a:latin typeface="Arial"/>
                <a:ea typeface="Arial"/>
                <a:cs typeface="Arial"/>
                <a:sym typeface="Arial"/>
              </a:rPr>
              <a:t>ơng</a:t>
            </a:r>
            <a:r>
              <a:rPr lang="en-US" sz="2082" dirty="0">
                <a:latin typeface="Arial"/>
                <a:ea typeface="Arial"/>
                <a:cs typeface="Arial"/>
                <a:sym typeface="Arial"/>
              </a:rPr>
              <a:t> </a:t>
            </a:r>
            <a:r>
              <a:rPr lang="en-US" sz="2082" dirty="0" err="1">
                <a:latin typeface="Arial"/>
                <a:ea typeface="Arial"/>
                <a:cs typeface="Arial"/>
                <a:sym typeface="Arial"/>
              </a:rPr>
              <a:t>pháp</a:t>
            </a:r>
            <a:r>
              <a:rPr lang="en-US" sz="2082" dirty="0">
                <a:latin typeface="Arial"/>
                <a:ea typeface="Arial"/>
                <a:cs typeface="Arial"/>
                <a:sym typeface="Arial"/>
              </a:rPr>
              <a:t> </a:t>
            </a:r>
            <a:r>
              <a:rPr lang="en-US" sz="2082" dirty="0" err="1">
                <a:latin typeface="Arial"/>
                <a:ea typeface="Arial"/>
                <a:cs typeface="Arial"/>
                <a:sym typeface="Arial"/>
              </a:rPr>
              <a:t>thực</a:t>
            </a:r>
            <a:r>
              <a:rPr lang="en-US" sz="2082" dirty="0">
                <a:latin typeface="Arial"/>
                <a:ea typeface="Arial"/>
                <a:cs typeface="Arial"/>
                <a:sym typeface="Arial"/>
              </a:rPr>
              <a:t> </a:t>
            </a:r>
            <a:r>
              <a:rPr lang="en-US" sz="2082" dirty="0" err="1">
                <a:latin typeface="Arial"/>
                <a:ea typeface="Arial"/>
                <a:cs typeface="Arial"/>
                <a:sym typeface="Arial"/>
              </a:rPr>
              <a:t>hiện</a:t>
            </a:r>
            <a:endParaRPr lang="en-US" sz="2082" dirty="0">
              <a:latin typeface="Arial"/>
              <a:ea typeface="Arial"/>
              <a:cs typeface="Arial"/>
              <a:sym typeface="Arial"/>
            </a:endParaRPr>
          </a:p>
          <a:p>
            <a:pPr marL="457200" indent="-360838">
              <a:lnSpc>
                <a:spcPct val="95000"/>
              </a:lnSpc>
              <a:buSzPts val="2083"/>
              <a:buFont typeface="Arial"/>
              <a:buChar char="-"/>
            </a:pPr>
            <a:r>
              <a:rPr lang="en-US" sz="2082" dirty="0" err="1">
                <a:latin typeface="Arial"/>
                <a:ea typeface="Arial"/>
                <a:cs typeface="Arial"/>
                <a:sym typeface="Arial"/>
              </a:rPr>
              <a:t>Phân</a:t>
            </a:r>
            <a:r>
              <a:rPr lang="en-US" sz="2082" dirty="0">
                <a:latin typeface="Arial"/>
                <a:ea typeface="Arial"/>
                <a:cs typeface="Arial"/>
                <a:sym typeface="Arial"/>
              </a:rPr>
              <a:t> </a:t>
            </a:r>
            <a:r>
              <a:rPr lang="en-US" sz="2082" dirty="0" err="1">
                <a:latin typeface="Arial"/>
                <a:ea typeface="Arial"/>
                <a:cs typeface="Arial"/>
                <a:sym typeface="Arial"/>
              </a:rPr>
              <a:t>tích</a:t>
            </a:r>
            <a:r>
              <a:rPr lang="en-US" sz="2082" dirty="0">
                <a:latin typeface="Arial"/>
                <a:ea typeface="Arial"/>
                <a:cs typeface="Arial"/>
                <a:sym typeface="Arial"/>
              </a:rPr>
              <a:t> </a:t>
            </a:r>
            <a:r>
              <a:rPr lang="en-US" sz="2082" dirty="0" err="1">
                <a:latin typeface="Arial"/>
                <a:ea typeface="Arial"/>
                <a:cs typeface="Arial"/>
                <a:sym typeface="Arial"/>
              </a:rPr>
              <a:t>quy</a:t>
            </a:r>
            <a:r>
              <a:rPr lang="en-US" sz="2082" dirty="0">
                <a:latin typeface="Arial"/>
                <a:ea typeface="Arial"/>
                <a:cs typeface="Arial"/>
                <a:sym typeface="Arial"/>
              </a:rPr>
              <a:t> </a:t>
            </a:r>
            <a:r>
              <a:rPr lang="en-US" sz="2082" dirty="0" err="1">
                <a:latin typeface="Arial"/>
                <a:ea typeface="Arial"/>
                <a:cs typeface="Arial"/>
                <a:sym typeface="Arial"/>
              </a:rPr>
              <a:t>trình</a:t>
            </a:r>
            <a:endParaRPr lang="en-US" sz="2082" dirty="0">
              <a:latin typeface="Arial"/>
              <a:ea typeface="Arial"/>
              <a:cs typeface="Arial"/>
              <a:sym typeface="Arial"/>
            </a:endParaRPr>
          </a:p>
        </p:txBody>
      </p:sp>
      <p:sp>
        <p:nvSpPr>
          <p:cNvPr id="3" name="Google Shape;504;g3a6c8354d49_0_87">
            <a:extLst>
              <a:ext uri="{FF2B5EF4-FFF2-40B4-BE49-F238E27FC236}">
                <a16:creationId xmlns:a16="http://schemas.microsoft.com/office/drawing/2014/main" id="{36A77FA7-81C7-491C-8DF1-8F655EB7E430}"/>
              </a:ext>
            </a:extLst>
          </p:cNvPr>
          <p:cNvSpPr txBox="1">
            <a:spLocks/>
          </p:cNvSpPr>
          <p:nvPr/>
        </p:nvSpPr>
        <p:spPr>
          <a:xfrm>
            <a:off x="1152525" y="2149137"/>
            <a:ext cx="9886950" cy="431175"/>
          </a:xfrm>
          <a:prstGeom prst="rect">
            <a:avLst/>
          </a:prstGeom>
        </p:spPr>
        <p:txBody>
          <a:bodyPr spcFirstLastPara="1" vert="horz" wrap="square" lIns="91425" tIns="91425" rIns="0" bIns="91425"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uSzPts val="990"/>
            </a:pPr>
            <a:r>
              <a:rPr lang="en-US" sz="4000" dirty="0" err="1">
                <a:latin typeface="Arial"/>
                <a:ea typeface="Arial"/>
                <a:cs typeface="Arial"/>
                <a:sym typeface="Arial"/>
              </a:rPr>
              <a:t>Quy</a:t>
            </a:r>
            <a:r>
              <a:rPr lang="en-US" sz="4000" dirty="0">
                <a:latin typeface="Arial"/>
                <a:ea typeface="Arial"/>
                <a:cs typeface="Arial"/>
                <a:sym typeface="Arial"/>
              </a:rPr>
              <a:t> </a:t>
            </a:r>
            <a:r>
              <a:rPr lang="en-US" sz="4000" dirty="0" err="1">
                <a:latin typeface="Arial"/>
                <a:ea typeface="Arial"/>
                <a:cs typeface="Arial"/>
                <a:sym typeface="Arial"/>
              </a:rPr>
              <a:t>trình</a:t>
            </a:r>
            <a:r>
              <a:rPr lang="en-US" sz="4000" dirty="0">
                <a:latin typeface="Arial"/>
                <a:ea typeface="Arial"/>
                <a:cs typeface="Arial"/>
                <a:sym typeface="Arial"/>
              </a:rPr>
              <a:t> </a:t>
            </a:r>
            <a:r>
              <a:rPr lang="en-US" sz="4000" dirty="0" err="1">
                <a:latin typeface="Arial"/>
                <a:ea typeface="Arial"/>
                <a:cs typeface="Arial"/>
                <a:sym typeface="Arial"/>
              </a:rPr>
              <a:t>Tuyển</a:t>
            </a:r>
            <a:r>
              <a:rPr lang="en-US" sz="4000" dirty="0">
                <a:latin typeface="Arial"/>
                <a:ea typeface="Arial"/>
                <a:cs typeface="Arial"/>
                <a:sym typeface="Arial"/>
              </a:rPr>
              <a:t> </a:t>
            </a:r>
            <a:r>
              <a:rPr lang="en-US" sz="4000" dirty="0" err="1">
                <a:latin typeface="Arial"/>
                <a:ea typeface="Arial"/>
                <a:cs typeface="Arial"/>
                <a:sym typeface="Arial"/>
              </a:rPr>
              <a:t>dụng</a:t>
            </a:r>
            <a:r>
              <a:rPr lang="en-US" sz="4000" dirty="0">
                <a:latin typeface="Arial"/>
                <a:ea typeface="Arial"/>
                <a:cs typeface="Arial"/>
                <a:sym typeface="Arial"/>
              </a:rPr>
              <a:t> </a:t>
            </a:r>
            <a:r>
              <a:rPr lang="en-US" sz="4000" dirty="0" err="1">
                <a:latin typeface="Arial"/>
                <a:ea typeface="Arial"/>
                <a:cs typeface="Arial"/>
                <a:sym typeface="Arial"/>
              </a:rPr>
              <a:t>và</a:t>
            </a:r>
            <a:r>
              <a:rPr lang="en-US" sz="4000" dirty="0">
                <a:latin typeface="Arial"/>
                <a:ea typeface="Arial"/>
                <a:cs typeface="Arial"/>
                <a:sym typeface="Arial"/>
              </a:rPr>
              <a:t> </a:t>
            </a:r>
            <a:r>
              <a:rPr lang="en-US" sz="4000" dirty="0" err="1">
                <a:latin typeface="Arial"/>
                <a:ea typeface="Arial"/>
                <a:cs typeface="Arial"/>
                <a:sym typeface="Arial"/>
              </a:rPr>
              <a:t>phân</a:t>
            </a:r>
            <a:r>
              <a:rPr lang="en-US" sz="4000" dirty="0">
                <a:latin typeface="Arial"/>
                <a:ea typeface="Arial"/>
                <a:cs typeface="Arial"/>
                <a:sym typeface="Arial"/>
              </a:rPr>
              <a:t> </a:t>
            </a:r>
            <a:r>
              <a:rPr lang="en-US" sz="4000" dirty="0" err="1">
                <a:latin typeface="Arial"/>
                <a:ea typeface="Arial"/>
                <a:cs typeface="Arial"/>
                <a:sym typeface="Arial"/>
              </a:rPr>
              <a:t>bổ</a:t>
            </a:r>
            <a:r>
              <a:rPr lang="en-US" sz="4000" dirty="0">
                <a:latin typeface="Arial"/>
                <a:ea typeface="Arial"/>
                <a:cs typeface="Arial"/>
                <a:sym typeface="Arial"/>
              </a:rPr>
              <a:t> </a:t>
            </a:r>
            <a:r>
              <a:rPr lang="en-US" sz="4000" dirty="0" err="1">
                <a:latin typeface="Arial"/>
                <a:ea typeface="Arial"/>
                <a:cs typeface="Arial"/>
                <a:sym typeface="Arial"/>
              </a:rPr>
              <a:t>nhân</a:t>
            </a:r>
            <a:r>
              <a:rPr lang="en-US" sz="4000" dirty="0">
                <a:latin typeface="Arial"/>
                <a:ea typeface="Arial"/>
                <a:cs typeface="Arial"/>
                <a:sym typeface="Arial"/>
              </a:rPr>
              <a:t> </a:t>
            </a:r>
            <a:r>
              <a:rPr lang="en-US" sz="4000" dirty="0" err="1">
                <a:latin typeface="Arial"/>
                <a:ea typeface="Arial"/>
                <a:cs typeface="Arial"/>
                <a:sym typeface="Arial"/>
              </a:rPr>
              <a:t>sự</a:t>
            </a:r>
            <a:endParaRPr lang="en-US" sz="4000" dirty="0">
              <a:latin typeface="Arial"/>
              <a:ea typeface="Arial"/>
              <a:cs typeface="Arial"/>
              <a:sym typeface="Arial"/>
            </a:endParaRPr>
          </a:p>
          <a:p>
            <a:pPr>
              <a:buSzPts val="990"/>
            </a:pPr>
            <a:r>
              <a:rPr lang="en-US" sz="2490" dirty="0" err="1">
                <a:solidFill>
                  <a:srgbClr val="9E9E9E"/>
                </a:solidFill>
                <a:latin typeface="Arial"/>
                <a:ea typeface="Arial"/>
                <a:cs typeface="Arial"/>
                <a:sym typeface="Arial"/>
              </a:rPr>
              <a:t>Nhóm</a:t>
            </a:r>
            <a:r>
              <a:rPr lang="en-US" sz="2490" dirty="0">
                <a:solidFill>
                  <a:srgbClr val="9E9E9E"/>
                </a:solidFill>
                <a:latin typeface="Arial"/>
                <a:ea typeface="Arial"/>
                <a:cs typeface="Arial"/>
                <a:sym typeface="Arial"/>
              </a:rPr>
              <a:t> </a:t>
            </a:r>
            <a:r>
              <a:rPr lang="en-US" sz="2490" dirty="0" err="1">
                <a:solidFill>
                  <a:srgbClr val="9E9E9E"/>
                </a:solidFill>
                <a:latin typeface="Arial"/>
                <a:ea typeface="Arial"/>
                <a:cs typeface="Arial"/>
                <a:sym typeface="Arial"/>
              </a:rPr>
              <a:t>quy</a:t>
            </a:r>
            <a:r>
              <a:rPr lang="en-US" sz="2490" dirty="0">
                <a:solidFill>
                  <a:srgbClr val="9E9E9E"/>
                </a:solidFill>
                <a:latin typeface="Arial"/>
                <a:ea typeface="Arial"/>
                <a:cs typeface="Arial"/>
                <a:sym typeface="Arial"/>
              </a:rPr>
              <a:t> </a:t>
            </a:r>
            <a:r>
              <a:rPr lang="en-US" sz="2490" dirty="0" err="1">
                <a:solidFill>
                  <a:srgbClr val="9E9E9E"/>
                </a:solidFill>
                <a:latin typeface="Arial"/>
                <a:ea typeface="Arial"/>
                <a:cs typeface="Arial"/>
                <a:sym typeface="Arial"/>
              </a:rPr>
              <a:t>trình</a:t>
            </a:r>
            <a:r>
              <a:rPr lang="en-US" sz="2490" dirty="0">
                <a:solidFill>
                  <a:srgbClr val="9E9E9E"/>
                </a:solidFill>
                <a:latin typeface="Arial"/>
                <a:ea typeface="Arial"/>
                <a:cs typeface="Arial"/>
                <a:sym typeface="Arial"/>
              </a:rPr>
              <a:t> </a:t>
            </a:r>
            <a:r>
              <a:rPr lang="en-US" sz="2490" dirty="0" err="1">
                <a:solidFill>
                  <a:srgbClr val="9E9E9E"/>
                </a:solidFill>
                <a:latin typeface="Arial"/>
                <a:ea typeface="Arial"/>
                <a:cs typeface="Arial"/>
                <a:sym typeface="Arial"/>
              </a:rPr>
              <a:t>hỗ</a:t>
            </a:r>
            <a:r>
              <a:rPr lang="en-US" sz="2490" dirty="0">
                <a:solidFill>
                  <a:srgbClr val="9E9E9E"/>
                </a:solidFill>
                <a:latin typeface="Arial"/>
                <a:ea typeface="Arial"/>
                <a:cs typeface="Arial"/>
                <a:sym typeface="Arial"/>
              </a:rPr>
              <a:t> </a:t>
            </a:r>
            <a:r>
              <a:rPr lang="en-US" sz="2490" dirty="0" err="1">
                <a:solidFill>
                  <a:srgbClr val="9E9E9E"/>
                </a:solidFill>
                <a:latin typeface="Arial"/>
                <a:ea typeface="Arial"/>
                <a:cs typeface="Arial"/>
                <a:sym typeface="Arial"/>
              </a:rPr>
              <a:t>trợ</a:t>
            </a:r>
            <a:endParaRPr lang="en-US" sz="2490" dirty="0">
              <a:solidFill>
                <a:srgbClr val="9E9E9E"/>
              </a:solidFill>
              <a:latin typeface="Arial"/>
              <a:ea typeface="Arial"/>
              <a:cs typeface="Arial"/>
              <a:sym typeface="Arial"/>
            </a:endParaRPr>
          </a:p>
        </p:txBody>
      </p:sp>
      <p:sp>
        <p:nvSpPr>
          <p:cNvPr id="4" name="Google Shape;505;g3a6c8354d49_0_87">
            <a:extLst>
              <a:ext uri="{FF2B5EF4-FFF2-40B4-BE49-F238E27FC236}">
                <a16:creationId xmlns:a16="http://schemas.microsoft.com/office/drawing/2014/main" id="{1BB33682-0858-46B0-BE84-0D07B5CFC09F}"/>
              </a:ext>
            </a:extLst>
          </p:cNvPr>
          <p:cNvSpPr txBox="1">
            <a:spLocks/>
          </p:cNvSpPr>
          <p:nvPr/>
        </p:nvSpPr>
        <p:spPr>
          <a:xfrm>
            <a:off x="2174416" y="1033550"/>
            <a:ext cx="2806500" cy="1004700"/>
          </a:xfrm>
          <a:prstGeom prst="rect">
            <a:avLst/>
          </a:prstGeom>
        </p:spPr>
        <p:txBody>
          <a:bodyPr spcFirstLastPara="1" vert="horz" wrap="square" lIns="121875" tIns="121875" rIns="121875" bIns="121875" rtlCol="0" anchor="t"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dirty="0"/>
              <a:t>04</a:t>
            </a:r>
          </a:p>
        </p:txBody>
      </p:sp>
    </p:spTree>
    <p:extLst>
      <p:ext uri="{BB962C8B-B14F-4D97-AF65-F5344CB8AC3E}">
        <p14:creationId xmlns:p14="http://schemas.microsoft.com/office/powerpoint/2010/main" val="2092496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12;g3a6c8354d49_0_95">
            <a:extLst>
              <a:ext uri="{FF2B5EF4-FFF2-40B4-BE49-F238E27FC236}">
                <a16:creationId xmlns:a16="http://schemas.microsoft.com/office/drawing/2014/main" id="{43AE41DC-9327-48B7-A98B-49460C584F0C}"/>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3" name="Google Shape;515;g3a6c8354d49_0_95">
            <a:extLst>
              <a:ext uri="{FF2B5EF4-FFF2-40B4-BE49-F238E27FC236}">
                <a16:creationId xmlns:a16="http://schemas.microsoft.com/office/drawing/2014/main" id="{497253F4-303B-4004-B7BF-F37C5825FC95}"/>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sp>
        <p:nvSpPr>
          <p:cNvPr id="7" name="Google Shape;513;g3a6c8354d49_0_95">
            <a:extLst>
              <a:ext uri="{FF2B5EF4-FFF2-40B4-BE49-F238E27FC236}">
                <a16:creationId xmlns:a16="http://schemas.microsoft.com/office/drawing/2014/main" id="{3350F770-C777-496F-A26E-5B8E3CA1BA23}"/>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Font typeface="Arial" panose="020B0604020202020204" pitchFamily="34" charset="0"/>
              <a:buNone/>
            </a:pPr>
            <a:r>
              <a:rPr lang="en-US" sz="1900" dirty="0" err="1"/>
              <a:t>Tổng</a:t>
            </a:r>
            <a:r>
              <a:rPr lang="en-US" sz="1900" dirty="0"/>
              <a:t> </a:t>
            </a:r>
            <a:r>
              <a:rPr lang="en-US" sz="1900" dirty="0" err="1"/>
              <a:t>quan</a:t>
            </a:r>
            <a:r>
              <a:rPr lang="en-US" sz="1900" dirty="0"/>
              <a:t> </a:t>
            </a:r>
            <a:r>
              <a:rPr lang="en-US" sz="1900" dirty="0" err="1"/>
              <a:t>quy</a:t>
            </a:r>
            <a:r>
              <a:rPr lang="en-US" sz="1900" dirty="0"/>
              <a:t> </a:t>
            </a:r>
            <a:r>
              <a:rPr lang="en-US" sz="1900" dirty="0" err="1"/>
              <a:t>trình</a:t>
            </a:r>
            <a:endParaRPr lang="en-US" sz="1900" dirty="0"/>
          </a:p>
        </p:txBody>
      </p:sp>
      <p:pic>
        <p:nvPicPr>
          <p:cNvPr id="23" name="Picture 22">
            <a:extLst>
              <a:ext uri="{FF2B5EF4-FFF2-40B4-BE49-F238E27FC236}">
                <a16:creationId xmlns:a16="http://schemas.microsoft.com/office/drawing/2014/main" id="{7EBC36DD-B96B-47C5-BF1C-56478E6AFFAA}"/>
              </a:ext>
            </a:extLst>
          </p:cNvPr>
          <p:cNvPicPr>
            <a:picLocks noChangeAspect="1"/>
          </p:cNvPicPr>
          <p:nvPr/>
        </p:nvPicPr>
        <p:blipFill rotWithShape="1">
          <a:blip r:embed="rId2"/>
          <a:srcRect l="4481" t="26870" r="3586" b="41214"/>
          <a:stretch/>
        </p:blipFill>
        <p:spPr>
          <a:xfrm>
            <a:off x="527697" y="5087542"/>
            <a:ext cx="11136606" cy="1062959"/>
          </a:xfrm>
          <a:prstGeom prst="rect">
            <a:avLst/>
          </a:prstGeom>
        </p:spPr>
      </p:pic>
      <p:grpSp>
        <p:nvGrpSpPr>
          <p:cNvPr id="14" name="Group 13">
            <a:extLst>
              <a:ext uri="{FF2B5EF4-FFF2-40B4-BE49-F238E27FC236}">
                <a16:creationId xmlns:a16="http://schemas.microsoft.com/office/drawing/2014/main" id="{846265BC-C298-4F7D-83A0-59FA0AE9B986}"/>
              </a:ext>
            </a:extLst>
          </p:cNvPr>
          <p:cNvGrpSpPr/>
          <p:nvPr/>
        </p:nvGrpSpPr>
        <p:grpSpPr>
          <a:xfrm>
            <a:off x="1989514" y="1050711"/>
            <a:ext cx="8212972" cy="3934605"/>
            <a:chOff x="1388811" y="1215558"/>
            <a:chExt cx="8931853" cy="3934605"/>
          </a:xfrm>
        </p:grpSpPr>
        <p:grpSp>
          <p:nvGrpSpPr>
            <p:cNvPr id="22" name="Group 21">
              <a:extLst>
                <a:ext uri="{FF2B5EF4-FFF2-40B4-BE49-F238E27FC236}">
                  <a16:creationId xmlns:a16="http://schemas.microsoft.com/office/drawing/2014/main" id="{3C287D8B-AEE1-400C-9ECA-1D04B39E6A18}"/>
                </a:ext>
              </a:extLst>
            </p:cNvPr>
            <p:cNvGrpSpPr/>
            <p:nvPr/>
          </p:nvGrpSpPr>
          <p:grpSpPr>
            <a:xfrm>
              <a:off x="1388811" y="1215558"/>
              <a:ext cx="8704609" cy="3934605"/>
              <a:chOff x="1492951" y="1836794"/>
              <a:chExt cx="9190580" cy="3934605"/>
            </a:xfrm>
          </p:grpSpPr>
          <p:sp>
            <p:nvSpPr>
              <p:cNvPr id="9" name="Rectangle 8">
                <a:extLst>
                  <a:ext uri="{FF2B5EF4-FFF2-40B4-BE49-F238E27FC236}">
                    <a16:creationId xmlns:a16="http://schemas.microsoft.com/office/drawing/2014/main" id="{0B0261B9-C276-4003-ADB1-874CA7A05167}"/>
                  </a:ext>
                </a:extLst>
              </p:cNvPr>
              <p:cNvSpPr/>
              <p:nvPr/>
            </p:nvSpPr>
            <p:spPr>
              <a:xfrm>
                <a:off x="1492951" y="1836794"/>
                <a:ext cx="4297680" cy="2308324"/>
              </a:xfrm>
              <a:prstGeom prst="rect">
                <a:avLst/>
              </a:prstGeom>
              <a:ln cmpd="dbl">
                <a:solidFill>
                  <a:schemeClr val="bg1"/>
                </a:solidFill>
              </a:ln>
            </p:spPr>
            <p:txBody>
              <a:bodyPr wrap="square">
                <a:spAutoFit/>
              </a:bodyPr>
              <a:lstStyle/>
              <a:p>
                <a:pPr algn="just"/>
                <a:r>
                  <a:rPr lang="en-US" dirty="0" err="1">
                    <a:latin typeface="Bahnschrift Light Condensed" panose="020B0502040204020203" pitchFamily="34" charset="0"/>
                  </a:rPr>
                  <a:t>Tác</a:t>
                </a:r>
                <a:r>
                  <a:rPr lang="en-US" dirty="0">
                    <a:latin typeface="Bahnschrift Light Condensed" panose="020B0502040204020203" pitchFamily="34" charset="0"/>
                  </a:rPr>
                  <a:t> </a:t>
                </a:r>
                <a:r>
                  <a:rPr lang="en-US" dirty="0" err="1">
                    <a:latin typeface="Bahnschrift Light Condensed" panose="020B0502040204020203" pitchFamily="34" charset="0"/>
                  </a:rPr>
                  <a:t>nhân</a:t>
                </a:r>
                <a:r>
                  <a:rPr lang="en-US" dirty="0">
                    <a:latin typeface="Bahnschrift Light Condensed" panose="020B0502040204020203" pitchFamily="34" charset="0"/>
                  </a:rPr>
                  <a:t> </a:t>
                </a:r>
                <a:r>
                  <a:rPr lang="en-US" dirty="0" err="1">
                    <a:latin typeface="Bahnschrift Light Condensed" panose="020B0502040204020203" pitchFamily="34" charset="0"/>
                  </a:rPr>
                  <a:t>chính</a:t>
                </a:r>
                <a:r>
                  <a:rPr lang="en-US" dirty="0">
                    <a:latin typeface="Bahnschrift Light Condensed" panose="020B0502040204020203" pitchFamily="34" charset="0"/>
                  </a:rPr>
                  <a:t>: </a:t>
                </a:r>
              </a:p>
              <a:p>
                <a:pPr marL="285750" indent="-285750" algn="just">
                  <a:buFontTx/>
                  <a:buChar char="-"/>
                </a:pPr>
                <a:r>
                  <a:rPr lang="en-US" dirty="0" err="1">
                    <a:latin typeface="Bahnschrift Light Condensed" panose="020B0502040204020203" pitchFamily="34" charset="0"/>
                  </a:rPr>
                  <a:t>Quản</a:t>
                </a:r>
                <a:r>
                  <a:rPr lang="en-US" dirty="0">
                    <a:latin typeface="Bahnschrift Light Condensed" panose="020B0502040204020203" pitchFamily="34" charset="0"/>
                  </a:rPr>
                  <a:t> </a:t>
                </a:r>
                <a:r>
                  <a:rPr lang="en-US" dirty="0" err="1">
                    <a:latin typeface="Bahnschrift Light Condensed" panose="020B0502040204020203" pitchFamily="34" charset="0"/>
                  </a:rPr>
                  <a:t>lý</a:t>
                </a:r>
                <a:r>
                  <a:rPr lang="en-US" dirty="0">
                    <a:latin typeface="Bahnschrift Light Condensed" panose="020B0502040204020203" pitchFamily="34" charset="0"/>
                  </a:rPr>
                  <a:t> </a:t>
                </a:r>
                <a:r>
                  <a:rPr lang="en-US" dirty="0" err="1">
                    <a:latin typeface="Bahnschrift Light Condensed" panose="020B0502040204020203" pitchFamily="34" charset="0"/>
                  </a:rPr>
                  <a:t>dự</a:t>
                </a:r>
                <a:r>
                  <a:rPr lang="en-US" dirty="0">
                    <a:latin typeface="Bahnschrift Light Condensed" panose="020B0502040204020203" pitchFamily="34" charset="0"/>
                  </a:rPr>
                  <a:t> </a:t>
                </a:r>
                <a:r>
                  <a:rPr lang="en-US" dirty="0" err="1">
                    <a:latin typeface="Bahnschrift Light Condensed" panose="020B0502040204020203" pitchFamily="34" charset="0"/>
                  </a:rPr>
                  <a:t>án</a:t>
                </a:r>
                <a:r>
                  <a:rPr lang="en-US" dirty="0">
                    <a:latin typeface="Bahnschrift Light Condensed" panose="020B0502040204020203" pitchFamily="34" charset="0"/>
                  </a:rPr>
                  <a:t>/ Tr</a:t>
                </a:r>
                <a:r>
                  <a:rPr lang="vi-VN" dirty="0">
                    <a:latin typeface="Bahnschrift Light Condensed" panose="020B0502040204020203" pitchFamily="34" charset="0"/>
                  </a:rPr>
                  <a:t>ư</a:t>
                </a:r>
                <a:r>
                  <a:rPr lang="en-US" dirty="0" err="1">
                    <a:latin typeface="Bahnschrift Light Condensed" panose="020B0502040204020203" pitchFamily="34" charset="0"/>
                  </a:rPr>
                  <a:t>ởng</a:t>
                </a:r>
                <a:r>
                  <a:rPr lang="en-US" dirty="0">
                    <a:latin typeface="Bahnschrift Light Condensed" panose="020B0502040204020203" pitchFamily="34" charset="0"/>
                  </a:rPr>
                  <a:t> </a:t>
                </a:r>
                <a:r>
                  <a:rPr lang="en-US" dirty="0" err="1">
                    <a:latin typeface="Bahnschrift Light Condensed" panose="020B0502040204020203" pitchFamily="34" charset="0"/>
                  </a:rPr>
                  <a:t>bộ</a:t>
                </a:r>
                <a:r>
                  <a:rPr lang="en-US" dirty="0">
                    <a:latin typeface="Bahnschrift Light Condensed" panose="020B0502040204020203" pitchFamily="34" charset="0"/>
                  </a:rPr>
                  <a:t> </a:t>
                </a:r>
                <a:r>
                  <a:rPr lang="en-US" dirty="0" err="1">
                    <a:latin typeface="Bahnschrift Light Condensed" panose="020B0502040204020203" pitchFamily="34" charset="0"/>
                  </a:rPr>
                  <a:t>phận</a:t>
                </a:r>
                <a:endParaRPr lang="en-US" dirty="0">
                  <a:latin typeface="Bahnschrift Light Condensed" panose="020B0502040204020203" pitchFamily="34" charset="0"/>
                </a:endParaRPr>
              </a:p>
              <a:p>
                <a:pPr marL="285750" indent="-285750" algn="just">
                  <a:buFontTx/>
                  <a:buChar char="-"/>
                </a:pPr>
                <a:r>
                  <a:rPr lang="en-US" dirty="0" err="1">
                    <a:latin typeface="Bahnschrift Light Condensed" panose="020B0502040204020203" pitchFamily="34" charset="0"/>
                  </a:rPr>
                  <a:t>Bộ</a:t>
                </a:r>
                <a:r>
                  <a:rPr lang="en-US" dirty="0">
                    <a:latin typeface="Bahnschrift Light Condensed" panose="020B0502040204020203" pitchFamily="34" charset="0"/>
                  </a:rPr>
                  <a:t> </a:t>
                </a:r>
                <a:r>
                  <a:rPr lang="en-US" dirty="0" err="1">
                    <a:latin typeface="Bahnschrift Light Condensed" panose="020B0502040204020203" pitchFamily="34" charset="0"/>
                  </a:rPr>
                  <a:t>phận</a:t>
                </a:r>
                <a:r>
                  <a:rPr lang="en-US" dirty="0">
                    <a:latin typeface="Bahnschrift Light Condensed" panose="020B0502040204020203" pitchFamily="34" charset="0"/>
                  </a:rPr>
                  <a:t> </a:t>
                </a:r>
                <a:r>
                  <a:rPr lang="en-US" dirty="0" err="1">
                    <a:latin typeface="Bahnschrift Light Condensed" panose="020B0502040204020203" pitchFamily="34" charset="0"/>
                  </a:rPr>
                  <a:t>nhân</a:t>
                </a:r>
                <a:r>
                  <a:rPr lang="en-US" dirty="0">
                    <a:latin typeface="Bahnschrift Light Condensed" panose="020B0502040204020203" pitchFamily="34" charset="0"/>
                  </a:rPr>
                  <a:t> </a:t>
                </a:r>
                <a:r>
                  <a:rPr lang="en-US" dirty="0" err="1">
                    <a:latin typeface="Bahnschrift Light Condensed" panose="020B0502040204020203" pitchFamily="34" charset="0"/>
                  </a:rPr>
                  <a:t>sự</a:t>
                </a:r>
                <a:r>
                  <a:rPr lang="en-US" dirty="0">
                    <a:latin typeface="Bahnschrift Light Condensed" panose="020B0502040204020203" pitchFamily="34" charset="0"/>
                  </a:rPr>
                  <a:t>/ </a:t>
                </a:r>
                <a:r>
                  <a:rPr lang="en-US" dirty="0" err="1">
                    <a:latin typeface="Bahnschrift Light Condensed" panose="020B0502040204020203" pitchFamily="34" charset="0"/>
                  </a:rPr>
                  <a:t>Nhân</a:t>
                </a:r>
                <a:r>
                  <a:rPr lang="en-US" dirty="0">
                    <a:latin typeface="Bahnschrift Light Condensed" panose="020B0502040204020203" pitchFamily="34" charset="0"/>
                  </a:rPr>
                  <a:t> </a:t>
                </a:r>
                <a:r>
                  <a:rPr lang="en-US" dirty="0" err="1">
                    <a:latin typeface="Bahnschrift Light Condensed" panose="020B0502040204020203" pitchFamily="34" charset="0"/>
                  </a:rPr>
                  <a:t>viên</a:t>
                </a:r>
                <a:r>
                  <a:rPr lang="en-US" dirty="0">
                    <a:latin typeface="Bahnschrift Light Condensed" panose="020B0502040204020203" pitchFamily="34" charset="0"/>
                  </a:rPr>
                  <a:t> </a:t>
                </a:r>
                <a:r>
                  <a:rPr lang="en-US" dirty="0" err="1">
                    <a:latin typeface="Bahnschrift Light Condensed" panose="020B0502040204020203" pitchFamily="34" charset="0"/>
                  </a:rPr>
                  <a:t>tuyển</a:t>
                </a:r>
                <a:r>
                  <a:rPr lang="en-US" dirty="0">
                    <a:latin typeface="Bahnschrift Light Condensed" panose="020B0502040204020203" pitchFamily="34" charset="0"/>
                  </a:rPr>
                  <a:t> </a:t>
                </a:r>
                <a:r>
                  <a:rPr lang="en-US" dirty="0" err="1">
                    <a:latin typeface="Bahnschrift Light Condensed" panose="020B0502040204020203" pitchFamily="34" charset="0"/>
                  </a:rPr>
                  <a:t>dụng</a:t>
                </a:r>
                <a:endParaRPr lang="en-US" dirty="0">
                  <a:latin typeface="Bahnschrift Light Condensed" panose="020B0502040204020203" pitchFamily="34" charset="0"/>
                </a:endParaRPr>
              </a:p>
              <a:p>
                <a:pPr marL="285750" indent="-285750" algn="just">
                  <a:buFontTx/>
                  <a:buChar char="-"/>
                </a:pPr>
                <a:r>
                  <a:rPr lang="en-US" dirty="0" err="1">
                    <a:latin typeface="Bahnschrift Light Condensed" panose="020B0502040204020203" pitchFamily="34" charset="0"/>
                  </a:rPr>
                  <a:t>Quản</a:t>
                </a:r>
                <a:r>
                  <a:rPr lang="en-US" dirty="0">
                    <a:latin typeface="Bahnschrift Light Condensed" panose="020B0502040204020203" pitchFamily="34" charset="0"/>
                  </a:rPr>
                  <a:t> </a:t>
                </a:r>
                <a:r>
                  <a:rPr lang="en-US" dirty="0" err="1">
                    <a:latin typeface="Bahnschrift Light Condensed" panose="020B0502040204020203" pitchFamily="34" charset="0"/>
                  </a:rPr>
                  <a:t>lý</a:t>
                </a:r>
                <a:r>
                  <a:rPr lang="en-US" dirty="0">
                    <a:latin typeface="Bahnschrift Light Condensed" panose="020B0502040204020203" pitchFamily="34" charset="0"/>
                  </a:rPr>
                  <a:t> </a:t>
                </a:r>
                <a:r>
                  <a:rPr lang="en-US" dirty="0" err="1">
                    <a:latin typeface="Bahnschrift Light Condensed" panose="020B0502040204020203" pitchFamily="34" charset="0"/>
                  </a:rPr>
                  <a:t>nhân</a:t>
                </a:r>
                <a:r>
                  <a:rPr lang="en-US" dirty="0">
                    <a:latin typeface="Bahnschrift Light Condensed" panose="020B0502040204020203" pitchFamily="34" charset="0"/>
                  </a:rPr>
                  <a:t> </a:t>
                </a:r>
                <a:r>
                  <a:rPr lang="en-US" dirty="0" err="1">
                    <a:latin typeface="Bahnschrift Light Condensed" panose="020B0502040204020203" pitchFamily="34" charset="0"/>
                  </a:rPr>
                  <a:t>sự</a:t>
                </a:r>
                <a:r>
                  <a:rPr lang="en-US" dirty="0">
                    <a:latin typeface="Bahnschrift Light Condensed" panose="020B0502040204020203" pitchFamily="34" charset="0"/>
                  </a:rPr>
                  <a:t>/ Ban </a:t>
                </a:r>
                <a:r>
                  <a:rPr lang="en-US" dirty="0" err="1">
                    <a:latin typeface="Bahnschrift Light Condensed" panose="020B0502040204020203" pitchFamily="34" charset="0"/>
                  </a:rPr>
                  <a:t>giám</a:t>
                </a:r>
                <a:r>
                  <a:rPr lang="en-US" dirty="0">
                    <a:latin typeface="Bahnschrift Light Condensed" panose="020B0502040204020203" pitchFamily="34" charset="0"/>
                  </a:rPr>
                  <a:t> </a:t>
                </a:r>
                <a:r>
                  <a:rPr lang="en-US" dirty="0" err="1">
                    <a:latin typeface="Bahnschrift Light Condensed" panose="020B0502040204020203" pitchFamily="34" charset="0"/>
                  </a:rPr>
                  <a:t>đốc</a:t>
                </a:r>
                <a:endParaRPr lang="en-US" dirty="0">
                  <a:latin typeface="Bahnschrift Light Condensed" panose="020B0502040204020203" pitchFamily="34" charset="0"/>
                </a:endParaRPr>
              </a:p>
              <a:p>
                <a:pPr marL="285750" indent="-285750" algn="just">
                  <a:buFontTx/>
                  <a:buChar char="-"/>
                </a:pPr>
                <a:r>
                  <a:rPr lang="en-US" dirty="0" err="1">
                    <a:latin typeface="Bahnschrift Light Condensed" panose="020B0502040204020203" pitchFamily="34" charset="0"/>
                  </a:rPr>
                  <a:t>Bộ</a:t>
                </a:r>
                <a:r>
                  <a:rPr lang="en-US" dirty="0">
                    <a:latin typeface="Bahnschrift Light Condensed" panose="020B0502040204020203" pitchFamily="34" charset="0"/>
                  </a:rPr>
                  <a:t> </a:t>
                </a:r>
                <a:r>
                  <a:rPr lang="en-US" dirty="0" err="1">
                    <a:latin typeface="Bahnschrift Light Condensed" panose="020B0502040204020203" pitchFamily="34" charset="0"/>
                  </a:rPr>
                  <a:t>phận</a:t>
                </a:r>
                <a:r>
                  <a:rPr lang="en-US" dirty="0">
                    <a:latin typeface="Bahnschrift Light Condensed" panose="020B0502040204020203" pitchFamily="34" charset="0"/>
                  </a:rPr>
                  <a:t> IT/ </a:t>
                </a:r>
                <a:r>
                  <a:rPr lang="en-US" dirty="0" err="1">
                    <a:latin typeface="Bahnschrift Light Condensed" panose="020B0502040204020203" pitchFamily="34" charset="0"/>
                  </a:rPr>
                  <a:t>Hành</a:t>
                </a:r>
                <a:r>
                  <a:rPr lang="en-US" dirty="0">
                    <a:latin typeface="Bahnschrift Light Condensed" panose="020B0502040204020203" pitchFamily="34" charset="0"/>
                  </a:rPr>
                  <a:t> </a:t>
                </a:r>
                <a:r>
                  <a:rPr lang="en-US" dirty="0" err="1">
                    <a:latin typeface="Bahnschrift Light Condensed" panose="020B0502040204020203" pitchFamily="34" charset="0"/>
                  </a:rPr>
                  <a:t>chính</a:t>
                </a:r>
                <a:endParaRPr lang="en-US" dirty="0">
                  <a:latin typeface="Bahnschrift Light Condensed" panose="020B0502040204020203" pitchFamily="34" charset="0"/>
                </a:endParaRPr>
              </a:p>
              <a:p>
                <a:pPr marL="285750" indent="-285750" algn="just">
                  <a:buFontTx/>
                  <a:buChar char="-"/>
                </a:pPr>
                <a:r>
                  <a:rPr lang="en-US" dirty="0" err="1">
                    <a:latin typeface="Bahnschrift Light Condensed" panose="020B0502040204020203" pitchFamily="34" charset="0"/>
                  </a:rPr>
                  <a:t>Ứng</a:t>
                </a:r>
                <a:r>
                  <a:rPr lang="en-US" dirty="0">
                    <a:latin typeface="Bahnschrift Light Condensed" panose="020B0502040204020203" pitchFamily="34" charset="0"/>
                  </a:rPr>
                  <a:t> </a:t>
                </a:r>
                <a:r>
                  <a:rPr lang="en-US" dirty="0" err="1">
                    <a:latin typeface="Bahnschrift Light Condensed" panose="020B0502040204020203" pitchFamily="34" charset="0"/>
                  </a:rPr>
                  <a:t>viên</a:t>
                </a:r>
                <a:endParaRPr lang="en-US" dirty="0">
                  <a:latin typeface="Bahnschrift Light Condensed" panose="020B0502040204020203" pitchFamily="34" charset="0"/>
                </a:endParaRPr>
              </a:p>
              <a:p>
                <a:pPr marL="285750" indent="-285750" algn="just">
                  <a:buFontTx/>
                  <a:buChar char="-"/>
                </a:pPr>
                <a:r>
                  <a:rPr lang="en-US" dirty="0" err="1">
                    <a:latin typeface="Bahnschrift Light Condensed" panose="020B0502040204020203" pitchFamily="34" charset="0"/>
                  </a:rPr>
                  <a:t>Hệ</a:t>
                </a:r>
                <a:r>
                  <a:rPr lang="en-US" dirty="0">
                    <a:latin typeface="Bahnschrift Light Condensed" panose="020B0502040204020203" pitchFamily="34" charset="0"/>
                  </a:rPr>
                  <a:t> </a:t>
                </a:r>
                <a:r>
                  <a:rPr lang="en-US" dirty="0" err="1">
                    <a:latin typeface="Bahnschrift Light Condensed" panose="020B0502040204020203" pitchFamily="34" charset="0"/>
                  </a:rPr>
                  <a:t>thống</a:t>
                </a:r>
                <a:r>
                  <a:rPr lang="en-US" dirty="0">
                    <a:latin typeface="Bahnschrift Light Condensed" panose="020B0502040204020203" pitchFamily="34" charset="0"/>
                  </a:rPr>
                  <a:t> ATS/ HRM</a:t>
                </a:r>
              </a:p>
            </p:txBody>
          </p:sp>
          <p:sp>
            <p:nvSpPr>
              <p:cNvPr id="19" name="Rectangle 18">
                <a:extLst>
                  <a:ext uri="{FF2B5EF4-FFF2-40B4-BE49-F238E27FC236}">
                    <a16:creationId xmlns:a16="http://schemas.microsoft.com/office/drawing/2014/main" id="{3C4A7BEC-4B74-462D-927C-7DB195DF129F}"/>
                  </a:ext>
                </a:extLst>
              </p:cNvPr>
              <p:cNvSpPr/>
              <p:nvPr/>
            </p:nvSpPr>
            <p:spPr>
              <a:xfrm>
                <a:off x="1492951" y="4294071"/>
                <a:ext cx="4297680" cy="1477328"/>
              </a:xfrm>
              <a:prstGeom prst="rect">
                <a:avLst/>
              </a:prstGeom>
              <a:ln cmpd="dbl">
                <a:solidFill>
                  <a:schemeClr val="bg1"/>
                </a:solidFill>
              </a:ln>
            </p:spPr>
            <p:txBody>
              <a:bodyPr wrap="square">
                <a:spAutoFit/>
              </a:bodyPr>
              <a:lstStyle/>
              <a:p>
                <a:pPr algn="just"/>
                <a:r>
                  <a:rPr lang="en-US" dirty="0" err="1">
                    <a:latin typeface="Bahnschrift Light Condensed" panose="020B0502040204020203" pitchFamily="34" charset="0"/>
                  </a:rPr>
                  <a:t>Giá</a:t>
                </a:r>
                <a:r>
                  <a:rPr lang="en-US" dirty="0">
                    <a:latin typeface="Bahnschrift Light Condensed" panose="020B0502040204020203" pitchFamily="34" charset="0"/>
                  </a:rPr>
                  <a:t> </a:t>
                </a:r>
                <a:r>
                  <a:rPr lang="en-US" dirty="0" err="1">
                    <a:latin typeface="Bahnschrift Light Condensed" panose="020B0502040204020203" pitchFamily="34" charset="0"/>
                  </a:rPr>
                  <a:t>trị</a:t>
                </a:r>
                <a:r>
                  <a:rPr lang="en-US" dirty="0">
                    <a:latin typeface="Bahnschrift Light Condensed" panose="020B0502040204020203" pitchFamily="34" charset="0"/>
                  </a:rPr>
                  <a:t> </a:t>
                </a:r>
                <a:r>
                  <a:rPr lang="en-US" dirty="0" err="1">
                    <a:latin typeface="Bahnschrift Light Condensed" panose="020B0502040204020203" pitchFamily="34" charset="0"/>
                  </a:rPr>
                  <a:t>mang</a:t>
                </a:r>
                <a:r>
                  <a:rPr lang="en-US" dirty="0">
                    <a:latin typeface="Bahnschrift Light Condensed" panose="020B0502040204020203" pitchFamily="34" charset="0"/>
                  </a:rPr>
                  <a:t> </a:t>
                </a:r>
                <a:r>
                  <a:rPr lang="en-US" dirty="0" err="1">
                    <a:latin typeface="Bahnschrift Light Condensed" panose="020B0502040204020203" pitchFamily="34" charset="0"/>
                  </a:rPr>
                  <a:t>lại</a:t>
                </a:r>
                <a:r>
                  <a:rPr lang="en-US" dirty="0">
                    <a:latin typeface="Bahnschrift Light Condensed" panose="020B0502040204020203" pitchFamily="34" charset="0"/>
                  </a:rPr>
                  <a:t>: </a:t>
                </a:r>
              </a:p>
              <a:p>
                <a:pPr marL="285750" indent="-285750" algn="just">
                  <a:buFontTx/>
                  <a:buChar char="-"/>
                </a:pPr>
                <a:r>
                  <a:rPr lang="vi-VN" dirty="0">
                    <a:latin typeface="Bahnschrift Light Condensed" panose="020B0502040204020203" pitchFamily="34" charset="0"/>
                  </a:rPr>
                  <a:t>Đáp ứng nhu cầu nhân sự</a:t>
                </a:r>
                <a:endParaRPr lang="en-US" dirty="0">
                  <a:latin typeface="Bahnschrift Light Condensed" panose="020B0502040204020203" pitchFamily="34" charset="0"/>
                </a:endParaRPr>
              </a:p>
              <a:p>
                <a:pPr marL="285750" indent="-285750" algn="just">
                  <a:buFontTx/>
                  <a:buChar char="-"/>
                </a:pPr>
                <a:r>
                  <a:rPr lang="en-US" dirty="0" err="1">
                    <a:latin typeface="Bahnschrift Light Condensed" panose="020B0502040204020203" pitchFamily="34" charset="0"/>
                  </a:rPr>
                  <a:t>Đúng</a:t>
                </a:r>
                <a:r>
                  <a:rPr lang="en-US" dirty="0">
                    <a:latin typeface="Bahnschrift Light Condensed" panose="020B0502040204020203" pitchFamily="34" charset="0"/>
                  </a:rPr>
                  <a:t> ng</a:t>
                </a:r>
                <a:r>
                  <a:rPr lang="vi-VN" dirty="0">
                    <a:latin typeface="Bahnschrift Light Condensed" panose="020B0502040204020203" pitchFamily="34" charset="0"/>
                  </a:rPr>
                  <a:t>ư</a:t>
                </a:r>
                <a:r>
                  <a:rPr lang="en-US" dirty="0" err="1">
                    <a:latin typeface="Bahnschrift Light Condensed" panose="020B0502040204020203" pitchFamily="34" charset="0"/>
                  </a:rPr>
                  <a:t>ời</a:t>
                </a:r>
                <a:r>
                  <a:rPr lang="en-US" dirty="0">
                    <a:latin typeface="Bahnschrift Light Condensed" panose="020B0502040204020203" pitchFamily="34" charset="0"/>
                  </a:rPr>
                  <a:t> – </a:t>
                </a:r>
                <a:r>
                  <a:rPr lang="en-US" dirty="0" err="1">
                    <a:latin typeface="Bahnschrift Light Condensed" panose="020B0502040204020203" pitchFamily="34" charset="0"/>
                  </a:rPr>
                  <a:t>đúng</a:t>
                </a:r>
                <a:r>
                  <a:rPr lang="en-US" dirty="0">
                    <a:latin typeface="Bahnschrift Light Condensed" panose="020B0502040204020203" pitchFamily="34" charset="0"/>
                  </a:rPr>
                  <a:t> </a:t>
                </a:r>
                <a:r>
                  <a:rPr lang="en-US" dirty="0" err="1">
                    <a:latin typeface="Bahnschrift Light Condensed" panose="020B0502040204020203" pitchFamily="34" charset="0"/>
                  </a:rPr>
                  <a:t>vị</a:t>
                </a:r>
                <a:r>
                  <a:rPr lang="en-US" dirty="0">
                    <a:latin typeface="Bahnschrift Light Condensed" panose="020B0502040204020203" pitchFamily="34" charset="0"/>
                  </a:rPr>
                  <a:t> </a:t>
                </a:r>
                <a:r>
                  <a:rPr lang="en-US" dirty="0" err="1">
                    <a:latin typeface="Bahnschrift Light Condensed" panose="020B0502040204020203" pitchFamily="34" charset="0"/>
                  </a:rPr>
                  <a:t>trí</a:t>
                </a:r>
                <a:endParaRPr lang="en-US" dirty="0">
                  <a:latin typeface="Bahnschrift Light Condensed" panose="020B0502040204020203" pitchFamily="34" charset="0"/>
                </a:endParaRPr>
              </a:p>
              <a:p>
                <a:pPr marL="285750" indent="-285750" algn="just">
                  <a:buFontTx/>
                  <a:buChar char="-"/>
                </a:pPr>
                <a:r>
                  <a:rPr lang="en-US" dirty="0" err="1">
                    <a:latin typeface="Bahnschrift Light Condensed" panose="020B0502040204020203" pitchFamily="34" charset="0"/>
                  </a:rPr>
                  <a:t>Hỗ</a:t>
                </a:r>
                <a:r>
                  <a:rPr lang="en-US" dirty="0">
                    <a:latin typeface="Bahnschrift Light Condensed" panose="020B0502040204020203" pitchFamily="34" charset="0"/>
                  </a:rPr>
                  <a:t> </a:t>
                </a:r>
                <a:r>
                  <a:rPr lang="en-US" dirty="0" err="1">
                    <a:latin typeface="Bahnschrift Light Condensed" panose="020B0502040204020203" pitchFamily="34" charset="0"/>
                  </a:rPr>
                  <a:t>trợ</a:t>
                </a:r>
                <a:r>
                  <a:rPr lang="en-US" dirty="0">
                    <a:latin typeface="Bahnschrift Light Condensed" panose="020B0502040204020203" pitchFamily="34" charset="0"/>
                  </a:rPr>
                  <a:t> </a:t>
                </a:r>
                <a:r>
                  <a:rPr lang="en-US" dirty="0" err="1">
                    <a:latin typeface="Bahnschrift Light Condensed" panose="020B0502040204020203" pitchFamily="34" charset="0"/>
                  </a:rPr>
                  <a:t>tiến</a:t>
                </a:r>
                <a:r>
                  <a:rPr lang="en-US" dirty="0">
                    <a:latin typeface="Bahnschrift Light Condensed" panose="020B0502040204020203" pitchFamily="34" charset="0"/>
                  </a:rPr>
                  <a:t> </a:t>
                </a:r>
                <a:r>
                  <a:rPr lang="en-US" dirty="0" err="1">
                    <a:latin typeface="Bahnschrift Light Condensed" panose="020B0502040204020203" pitchFamily="34" charset="0"/>
                  </a:rPr>
                  <a:t>độ</a:t>
                </a:r>
                <a:r>
                  <a:rPr lang="en-US" dirty="0">
                    <a:latin typeface="Bahnschrift Light Condensed" panose="020B0502040204020203" pitchFamily="34" charset="0"/>
                  </a:rPr>
                  <a:t> </a:t>
                </a:r>
                <a:r>
                  <a:rPr lang="en-US" dirty="0" err="1">
                    <a:latin typeface="Bahnschrift Light Condensed" panose="020B0502040204020203" pitchFamily="34" charset="0"/>
                  </a:rPr>
                  <a:t>dự</a:t>
                </a:r>
                <a:r>
                  <a:rPr lang="en-US" dirty="0">
                    <a:latin typeface="Bahnschrift Light Condensed" panose="020B0502040204020203" pitchFamily="34" charset="0"/>
                  </a:rPr>
                  <a:t> </a:t>
                </a:r>
                <a:r>
                  <a:rPr lang="en-US" dirty="0" err="1">
                    <a:latin typeface="Bahnschrift Light Condensed" panose="020B0502040204020203" pitchFamily="34" charset="0"/>
                  </a:rPr>
                  <a:t>án</a:t>
                </a:r>
                <a:endParaRPr lang="en-US" dirty="0">
                  <a:latin typeface="Bahnschrift Light Condensed" panose="020B0502040204020203" pitchFamily="34" charset="0"/>
                </a:endParaRPr>
              </a:p>
              <a:p>
                <a:pPr marL="285750" indent="-285750" algn="just">
                  <a:buFontTx/>
                  <a:buChar char="-"/>
                </a:pPr>
                <a:r>
                  <a:rPr lang="en-US" dirty="0" err="1">
                    <a:latin typeface="Bahnschrift Light Condensed" panose="020B0502040204020203" pitchFamily="34" charset="0"/>
                  </a:rPr>
                  <a:t>Nâng</a:t>
                </a:r>
                <a:r>
                  <a:rPr lang="en-US" dirty="0">
                    <a:latin typeface="Bahnschrift Light Condensed" panose="020B0502040204020203" pitchFamily="34" charset="0"/>
                  </a:rPr>
                  <a:t> </a:t>
                </a:r>
                <a:r>
                  <a:rPr lang="en-US" dirty="0" err="1">
                    <a:latin typeface="Bahnschrift Light Condensed" panose="020B0502040204020203" pitchFamily="34" charset="0"/>
                  </a:rPr>
                  <a:t>cao</a:t>
                </a:r>
                <a:r>
                  <a:rPr lang="en-US" dirty="0">
                    <a:latin typeface="Bahnschrift Light Condensed" panose="020B0502040204020203" pitchFamily="34" charset="0"/>
                  </a:rPr>
                  <a:t> </a:t>
                </a:r>
                <a:r>
                  <a:rPr lang="en-US" dirty="0" err="1">
                    <a:latin typeface="Bahnschrift Light Condensed" panose="020B0502040204020203" pitchFamily="34" charset="0"/>
                  </a:rPr>
                  <a:t>chất</a:t>
                </a:r>
                <a:r>
                  <a:rPr lang="en-US" dirty="0">
                    <a:latin typeface="Bahnschrift Light Condensed" panose="020B0502040204020203" pitchFamily="34" charset="0"/>
                  </a:rPr>
                  <a:t> l</a:t>
                </a:r>
                <a:r>
                  <a:rPr lang="vi-VN" dirty="0">
                    <a:latin typeface="Bahnschrift Light Condensed" panose="020B0502040204020203" pitchFamily="34" charset="0"/>
                  </a:rPr>
                  <a:t>ư</a:t>
                </a:r>
                <a:r>
                  <a:rPr lang="en-US" dirty="0" err="1">
                    <a:latin typeface="Bahnschrift Light Condensed" panose="020B0502040204020203" pitchFamily="34" charset="0"/>
                  </a:rPr>
                  <a:t>ợng</a:t>
                </a:r>
                <a:r>
                  <a:rPr lang="en-US" dirty="0">
                    <a:latin typeface="Bahnschrift Light Condensed" panose="020B0502040204020203" pitchFamily="34" charset="0"/>
                  </a:rPr>
                  <a:t> </a:t>
                </a:r>
                <a:r>
                  <a:rPr lang="en-US" dirty="0" err="1">
                    <a:latin typeface="Bahnschrift Light Condensed" panose="020B0502040204020203" pitchFamily="34" charset="0"/>
                  </a:rPr>
                  <a:t>nguồn</a:t>
                </a:r>
                <a:r>
                  <a:rPr lang="en-US" dirty="0">
                    <a:latin typeface="Bahnschrift Light Condensed" panose="020B0502040204020203" pitchFamily="34" charset="0"/>
                  </a:rPr>
                  <a:t> </a:t>
                </a:r>
                <a:r>
                  <a:rPr lang="en-US" dirty="0" err="1">
                    <a:latin typeface="Bahnschrift Light Condensed" panose="020B0502040204020203" pitchFamily="34" charset="0"/>
                  </a:rPr>
                  <a:t>nhân</a:t>
                </a:r>
                <a:r>
                  <a:rPr lang="en-US" dirty="0">
                    <a:latin typeface="Bahnschrift Light Condensed" panose="020B0502040204020203" pitchFamily="34" charset="0"/>
                  </a:rPr>
                  <a:t> </a:t>
                </a:r>
                <a:r>
                  <a:rPr lang="en-US" dirty="0" err="1">
                    <a:latin typeface="Bahnschrift Light Condensed" panose="020B0502040204020203" pitchFamily="34" charset="0"/>
                  </a:rPr>
                  <a:t>lực</a:t>
                </a:r>
                <a:r>
                  <a:rPr lang="en-US" dirty="0">
                    <a:latin typeface="Bahnschrift Light Condensed" panose="020B0502040204020203" pitchFamily="34" charset="0"/>
                  </a:rPr>
                  <a:t> </a:t>
                </a:r>
              </a:p>
            </p:txBody>
          </p:sp>
          <p:sp>
            <p:nvSpPr>
              <p:cNvPr id="21" name="Rectangle 20">
                <a:extLst>
                  <a:ext uri="{FF2B5EF4-FFF2-40B4-BE49-F238E27FC236}">
                    <a16:creationId xmlns:a16="http://schemas.microsoft.com/office/drawing/2014/main" id="{D4C6A222-6C02-4D6F-B243-3F25931AD1DE}"/>
                  </a:ext>
                </a:extLst>
              </p:cNvPr>
              <p:cNvSpPr/>
              <p:nvPr/>
            </p:nvSpPr>
            <p:spPr>
              <a:xfrm>
                <a:off x="6385849" y="4294071"/>
                <a:ext cx="4297682" cy="1477328"/>
              </a:xfrm>
              <a:prstGeom prst="rect">
                <a:avLst/>
              </a:prstGeom>
              <a:ln>
                <a:solidFill>
                  <a:schemeClr val="bg1"/>
                </a:solidFill>
              </a:ln>
            </p:spPr>
            <p:txBody>
              <a:bodyPr wrap="square">
                <a:spAutoFit/>
              </a:bodyPr>
              <a:lstStyle/>
              <a:p>
                <a:pPr algn="just"/>
                <a:r>
                  <a:rPr lang="en-US" dirty="0" err="1">
                    <a:latin typeface="Bahnschrift Light Condensed" panose="020B0502040204020203" pitchFamily="34" charset="0"/>
                  </a:rPr>
                  <a:t>Kết</a:t>
                </a:r>
                <a:r>
                  <a:rPr lang="en-US" dirty="0">
                    <a:latin typeface="Bahnschrift Light Condensed" panose="020B0502040204020203" pitchFamily="34" charset="0"/>
                  </a:rPr>
                  <a:t> </a:t>
                </a:r>
                <a:r>
                  <a:rPr lang="en-US" dirty="0" err="1">
                    <a:latin typeface="Bahnschrift Light Condensed" panose="020B0502040204020203" pitchFamily="34" charset="0"/>
                  </a:rPr>
                  <a:t>quả</a:t>
                </a:r>
                <a:r>
                  <a:rPr lang="en-US" dirty="0">
                    <a:latin typeface="Bahnschrift Light Condensed" panose="020B0502040204020203" pitchFamily="34" charset="0"/>
                  </a:rPr>
                  <a:t>: </a:t>
                </a:r>
              </a:p>
              <a:p>
                <a:pPr marL="285750" indent="-285750" algn="just">
                  <a:buFontTx/>
                  <a:buChar char="-"/>
                </a:pPr>
                <a:r>
                  <a:rPr lang="vi-VN" dirty="0">
                    <a:latin typeface="Bahnschrift Light Condensed" panose="020B0502040204020203" pitchFamily="34" charset="0"/>
                  </a:rPr>
                  <a:t>Ứng viên phù hợp được </a:t>
                </a:r>
                <a:r>
                  <a:rPr lang="en-US" dirty="0" err="1">
                    <a:latin typeface="Bahnschrift Light Condensed" panose="020B0502040204020203" pitchFamily="34" charset="0"/>
                  </a:rPr>
                  <a:t>tuyển</a:t>
                </a:r>
                <a:r>
                  <a:rPr lang="en-US" dirty="0">
                    <a:latin typeface="Bahnschrift Light Condensed" panose="020B0502040204020203" pitchFamily="34" charset="0"/>
                  </a:rPr>
                  <a:t> </a:t>
                </a:r>
                <a:r>
                  <a:rPr lang="en-US" dirty="0" err="1">
                    <a:latin typeface="Bahnschrift Light Condensed" panose="020B0502040204020203" pitchFamily="34" charset="0"/>
                  </a:rPr>
                  <a:t>dụng</a:t>
                </a:r>
                <a:r>
                  <a:rPr lang="en-US" dirty="0">
                    <a:latin typeface="Bahnschrift Light Condensed" panose="020B0502040204020203" pitchFamily="34" charset="0"/>
                  </a:rPr>
                  <a:t> </a:t>
                </a:r>
                <a:r>
                  <a:rPr lang="en-US" dirty="0" err="1">
                    <a:latin typeface="Bahnschrift Light Condensed" panose="020B0502040204020203" pitchFamily="34" charset="0"/>
                  </a:rPr>
                  <a:t>và</a:t>
                </a:r>
                <a:r>
                  <a:rPr lang="en-US" dirty="0">
                    <a:latin typeface="Bahnschrift Light Condensed" panose="020B0502040204020203" pitchFamily="34" charset="0"/>
                  </a:rPr>
                  <a:t> </a:t>
                </a:r>
                <a:r>
                  <a:rPr lang="vi-VN" dirty="0">
                    <a:latin typeface="Bahnschrift Light Condensed" panose="020B0502040204020203" pitchFamily="34" charset="0"/>
                  </a:rPr>
                  <a:t>tiếp nhận.</a:t>
                </a:r>
                <a:endParaRPr lang="en-US" dirty="0">
                  <a:latin typeface="Bahnschrift Light Condensed" panose="020B0502040204020203" pitchFamily="34" charset="0"/>
                </a:endParaRPr>
              </a:p>
              <a:p>
                <a:pPr marL="285750" indent="-285750" algn="just">
                  <a:buFontTx/>
                  <a:buChar char="-"/>
                </a:pPr>
                <a:r>
                  <a:rPr lang="vi-VN" dirty="0">
                    <a:latin typeface="Bahnschrift Light Condensed" panose="020B0502040204020203" pitchFamily="34" charset="0"/>
                  </a:rPr>
                  <a:t>Nhân sự được phân bổ vào phòng ban/dự án phù hợp.</a:t>
                </a:r>
                <a:endParaRPr lang="en-US" dirty="0">
                  <a:latin typeface="Bahnschrift Light Condensed" panose="020B0502040204020203" pitchFamily="34" charset="0"/>
                </a:endParaRPr>
              </a:p>
            </p:txBody>
          </p:sp>
        </p:grpSp>
        <p:sp>
          <p:nvSpPr>
            <p:cNvPr id="24" name="Rectangle 23">
              <a:extLst>
                <a:ext uri="{FF2B5EF4-FFF2-40B4-BE49-F238E27FC236}">
                  <a16:creationId xmlns:a16="http://schemas.microsoft.com/office/drawing/2014/main" id="{853D9E9F-CADD-4D7B-9FF8-D9233A82CA13}"/>
                </a:ext>
              </a:extLst>
            </p:cNvPr>
            <p:cNvSpPr/>
            <p:nvPr/>
          </p:nvSpPr>
          <p:spPr>
            <a:xfrm>
              <a:off x="6022985" y="1215558"/>
              <a:ext cx="4297679" cy="1477328"/>
            </a:xfrm>
            <a:prstGeom prst="rect">
              <a:avLst/>
            </a:prstGeom>
            <a:ln>
              <a:solidFill>
                <a:schemeClr val="bg1"/>
              </a:solidFill>
            </a:ln>
          </p:spPr>
          <p:txBody>
            <a:bodyPr wrap="square">
              <a:spAutoFit/>
            </a:bodyPr>
            <a:lstStyle/>
            <a:p>
              <a:pPr algn="just"/>
              <a:r>
                <a:rPr lang="en-US" dirty="0" err="1">
                  <a:latin typeface="Bahnschrift Light Condensed" panose="020B0502040204020203" pitchFamily="34" charset="0"/>
                </a:rPr>
                <a:t>Khách</a:t>
              </a:r>
              <a:r>
                <a:rPr lang="en-US" dirty="0">
                  <a:latin typeface="Bahnschrift Light Condensed" panose="020B0502040204020203" pitchFamily="34" charset="0"/>
                </a:rPr>
                <a:t> </a:t>
              </a:r>
              <a:r>
                <a:rPr lang="en-US" dirty="0" err="1">
                  <a:latin typeface="Bahnschrift Light Condensed" panose="020B0502040204020203" pitchFamily="34" charset="0"/>
                </a:rPr>
                <a:t>hàng</a:t>
              </a:r>
              <a:r>
                <a:rPr lang="en-US" dirty="0">
                  <a:latin typeface="Bahnschrift Light Condensed" panose="020B0502040204020203" pitchFamily="34" charset="0"/>
                </a:rPr>
                <a:t>: </a:t>
              </a:r>
            </a:p>
            <a:p>
              <a:pPr marL="285750" indent="-285750" algn="just">
                <a:buFontTx/>
                <a:buChar char="-"/>
              </a:pPr>
              <a:r>
                <a:rPr lang="en-US" dirty="0" err="1">
                  <a:latin typeface="Bahnschrift Light Condensed" panose="020B0502040204020203" pitchFamily="34" charset="0"/>
                </a:rPr>
                <a:t>Quản</a:t>
              </a:r>
              <a:r>
                <a:rPr lang="en-US" dirty="0">
                  <a:latin typeface="Bahnschrift Light Condensed" panose="020B0502040204020203" pitchFamily="34" charset="0"/>
                </a:rPr>
                <a:t> </a:t>
              </a:r>
              <a:r>
                <a:rPr lang="en-US" dirty="0" err="1">
                  <a:latin typeface="Bahnschrift Light Condensed" panose="020B0502040204020203" pitchFamily="34" charset="0"/>
                </a:rPr>
                <a:t>lý</a:t>
              </a:r>
              <a:r>
                <a:rPr lang="en-US" dirty="0">
                  <a:latin typeface="Bahnschrift Light Condensed" panose="020B0502040204020203" pitchFamily="34" charset="0"/>
                </a:rPr>
                <a:t> </a:t>
              </a:r>
              <a:r>
                <a:rPr lang="en-US" dirty="0" err="1">
                  <a:latin typeface="Bahnschrift Light Condensed" panose="020B0502040204020203" pitchFamily="34" charset="0"/>
                </a:rPr>
                <a:t>dự</a:t>
              </a:r>
              <a:r>
                <a:rPr lang="en-US" dirty="0">
                  <a:latin typeface="Bahnschrift Light Condensed" panose="020B0502040204020203" pitchFamily="34" charset="0"/>
                </a:rPr>
                <a:t> </a:t>
              </a:r>
              <a:r>
                <a:rPr lang="en-US" dirty="0" err="1">
                  <a:latin typeface="Bahnschrift Light Condensed" panose="020B0502040204020203" pitchFamily="34" charset="0"/>
                </a:rPr>
                <a:t>án</a:t>
              </a:r>
              <a:r>
                <a:rPr lang="en-US" dirty="0">
                  <a:latin typeface="Bahnschrift Light Condensed" panose="020B0502040204020203" pitchFamily="34" charset="0"/>
                </a:rPr>
                <a:t>/ Tr</a:t>
              </a:r>
              <a:r>
                <a:rPr lang="vi-VN" dirty="0">
                  <a:latin typeface="Bahnschrift Light Condensed" panose="020B0502040204020203" pitchFamily="34" charset="0"/>
                </a:rPr>
                <a:t>ư</a:t>
              </a:r>
              <a:r>
                <a:rPr lang="en-US" dirty="0" err="1">
                  <a:latin typeface="Bahnschrift Light Condensed" panose="020B0502040204020203" pitchFamily="34" charset="0"/>
                </a:rPr>
                <a:t>ởng</a:t>
              </a:r>
              <a:r>
                <a:rPr lang="en-US" dirty="0">
                  <a:latin typeface="Bahnschrift Light Condensed" panose="020B0502040204020203" pitchFamily="34" charset="0"/>
                </a:rPr>
                <a:t> </a:t>
              </a:r>
              <a:r>
                <a:rPr lang="en-US" dirty="0" err="1">
                  <a:latin typeface="Bahnschrift Light Condensed" panose="020B0502040204020203" pitchFamily="34" charset="0"/>
                </a:rPr>
                <a:t>bộ</a:t>
              </a:r>
              <a:r>
                <a:rPr lang="en-US" dirty="0">
                  <a:latin typeface="Bahnschrift Light Condensed" panose="020B0502040204020203" pitchFamily="34" charset="0"/>
                </a:rPr>
                <a:t> </a:t>
              </a:r>
              <a:r>
                <a:rPr lang="en-US" dirty="0" err="1">
                  <a:latin typeface="Bahnschrift Light Condensed" panose="020B0502040204020203" pitchFamily="34" charset="0"/>
                </a:rPr>
                <a:t>phận</a:t>
              </a:r>
              <a:endParaRPr lang="en-US" dirty="0">
                <a:latin typeface="Bahnschrift Light Condensed" panose="020B0502040204020203" pitchFamily="34" charset="0"/>
              </a:endParaRPr>
            </a:p>
            <a:p>
              <a:pPr marL="285750" indent="-285750" algn="just">
                <a:buFontTx/>
                <a:buChar char="-"/>
              </a:pPr>
              <a:r>
                <a:rPr lang="en-US" dirty="0" err="1">
                  <a:latin typeface="Bahnschrift Light Condensed" panose="020B0502040204020203" pitchFamily="34" charset="0"/>
                </a:rPr>
                <a:t>Ứng</a:t>
              </a:r>
              <a:r>
                <a:rPr lang="en-US" dirty="0">
                  <a:latin typeface="Bahnschrift Light Condensed" panose="020B0502040204020203" pitchFamily="34" charset="0"/>
                </a:rPr>
                <a:t> </a:t>
              </a:r>
              <a:r>
                <a:rPr lang="en-US" dirty="0" err="1">
                  <a:latin typeface="Bahnschrift Light Condensed" panose="020B0502040204020203" pitchFamily="34" charset="0"/>
                </a:rPr>
                <a:t>viên</a:t>
              </a:r>
              <a:endParaRPr lang="en-US" dirty="0">
                <a:latin typeface="Bahnschrift Light Condensed" panose="020B0502040204020203" pitchFamily="34" charset="0"/>
              </a:endParaRPr>
            </a:p>
            <a:p>
              <a:pPr marL="285750" indent="-285750" algn="just">
                <a:buFontTx/>
                <a:buChar char="-"/>
              </a:pPr>
              <a:r>
                <a:rPr lang="en-US" dirty="0" err="1">
                  <a:latin typeface="Bahnschrift Light Condensed" panose="020B0502040204020203" pitchFamily="34" charset="0"/>
                </a:rPr>
                <a:t>Doanh</a:t>
              </a:r>
              <a:r>
                <a:rPr lang="en-US" dirty="0">
                  <a:latin typeface="Bahnschrift Light Condensed" panose="020B0502040204020203" pitchFamily="34" charset="0"/>
                </a:rPr>
                <a:t> </a:t>
              </a:r>
              <a:r>
                <a:rPr lang="en-US" dirty="0" err="1">
                  <a:latin typeface="Bahnschrift Light Condensed" panose="020B0502040204020203" pitchFamily="34" charset="0"/>
                </a:rPr>
                <a:t>nghiệp</a:t>
              </a:r>
              <a:endParaRPr lang="en-US" dirty="0">
                <a:latin typeface="Bahnschrift Light Condensed" panose="020B0502040204020203" pitchFamily="34" charset="0"/>
              </a:endParaRPr>
            </a:p>
            <a:p>
              <a:pPr marL="285750" indent="-285750" algn="just">
                <a:buFontTx/>
                <a:buChar char="-"/>
              </a:pPr>
              <a:r>
                <a:rPr lang="en-US" dirty="0" err="1">
                  <a:latin typeface="Bahnschrift Light Condensed" panose="020B0502040204020203" pitchFamily="34" charset="0"/>
                </a:rPr>
                <a:t>Khách</a:t>
              </a:r>
              <a:r>
                <a:rPr lang="en-US" dirty="0">
                  <a:latin typeface="Bahnschrift Light Condensed" panose="020B0502040204020203" pitchFamily="34" charset="0"/>
                </a:rPr>
                <a:t> </a:t>
              </a:r>
              <a:r>
                <a:rPr lang="en-US" dirty="0" err="1">
                  <a:latin typeface="Bahnschrift Light Condensed" panose="020B0502040204020203" pitchFamily="34" charset="0"/>
                </a:rPr>
                <a:t>hàng</a:t>
              </a:r>
              <a:r>
                <a:rPr lang="en-US" dirty="0">
                  <a:latin typeface="Bahnschrift Light Condensed" panose="020B0502040204020203" pitchFamily="34" charset="0"/>
                </a:rPr>
                <a:t> </a:t>
              </a:r>
              <a:r>
                <a:rPr lang="en-US" dirty="0" err="1">
                  <a:latin typeface="Bahnschrift Light Condensed" panose="020B0502040204020203" pitchFamily="34" charset="0"/>
                </a:rPr>
                <a:t>bên</a:t>
              </a:r>
              <a:r>
                <a:rPr lang="en-US" dirty="0">
                  <a:latin typeface="Bahnschrift Light Condensed" panose="020B0502040204020203" pitchFamily="34" charset="0"/>
                </a:rPr>
                <a:t> </a:t>
              </a:r>
              <a:r>
                <a:rPr lang="en-US" dirty="0" err="1">
                  <a:latin typeface="Bahnschrift Light Condensed" panose="020B0502040204020203" pitchFamily="34" charset="0"/>
                </a:rPr>
                <a:t>ngoài</a:t>
              </a:r>
              <a:r>
                <a:rPr lang="en-US" dirty="0">
                  <a:latin typeface="Bahnschrift Light Condensed" panose="020B0502040204020203" pitchFamily="34" charset="0"/>
                </a:rPr>
                <a:t> (</a:t>
              </a:r>
              <a:r>
                <a:rPr lang="en-US" dirty="0" err="1">
                  <a:latin typeface="Bahnschrift Light Condensed" panose="020B0502040204020203" pitchFamily="34" charset="0"/>
                </a:rPr>
                <a:t>gián</a:t>
              </a:r>
              <a:r>
                <a:rPr lang="en-US" dirty="0">
                  <a:latin typeface="Bahnschrift Light Condensed" panose="020B0502040204020203" pitchFamily="34" charset="0"/>
                </a:rPr>
                <a:t> </a:t>
              </a:r>
              <a:r>
                <a:rPr lang="en-US" dirty="0" err="1">
                  <a:latin typeface="Bahnschrift Light Condensed" panose="020B0502040204020203" pitchFamily="34" charset="0"/>
                </a:rPr>
                <a:t>tiếp</a:t>
              </a:r>
              <a:r>
                <a:rPr lang="en-US" dirty="0">
                  <a:latin typeface="Bahnschrift Light Condensed" panose="020B0502040204020203" pitchFamily="34" charset="0"/>
                </a:rPr>
                <a:t>)</a:t>
              </a:r>
            </a:p>
          </p:txBody>
        </p:sp>
      </p:grpSp>
      <p:sp>
        <p:nvSpPr>
          <p:cNvPr id="16" name="TextBox 15">
            <a:extLst>
              <a:ext uri="{FF2B5EF4-FFF2-40B4-BE49-F238E27FC236}">
                <a16:creationId xmlns:a16="http://schemas.microsoft.com/office/drawing/2014/main" id="{52164649-FE62-4B38-B2B1-6A47D8AF37D9}"/>
              </a:ext>
            </a:extLst>
          </p:cNvPr>
          <p:cNvSpPr txBox="1"/>
          <p:nvPr/>
        </p:nvSpPr>
        <p:spPr>
          <a:xfrm>
            <a:off x="3995737" y="6276975"/>
            <a:ext cx="4200526" cy="369332"/>
          </a:xfrm>
          <a:prstGeom prst="rect">
            <a:avLst/>
          </a:prstGeom>
          <a:noFill/>
        </p:spPr>
        <p:txBody>
          <a:bodyPr wrap="square" rtlCol="0">
            <a:spAutoFit/>
          </a:bodyPr>
          <a:lstStyle/>
          <a:p>
            <a:pPr algn="ctr"/>
            <a:r>
              <a:rPr lang="en-US" dirty="0" err="1"/>
              <a:t>Hình</a:t>
            </a:r>
            <a:r>
              <a:rPr lang="en-US" dirty="0"/>
              <a:t> 1. S</a:t>
            </a:r>
            <a:r>
              <a:rPr lang="vi-VN" dirty="0"/>
              <a:t>ơ</a:t>
            </a:r>
            <a:r>
              <a:rPr lang="en-US" dirty="0"/>
              <a:t> </a:t>
            </a:r>
            <a:r>
              <a:rPr lang="en-US" dirty="0" err="1"/>
              <a:t>đồ</a:t>
            </a:r>
            <a:r>
              <a:rPr lang="en-US" dirty="0"/>
              <a:t> </a:t>
            </a:r>
            <a:r>
              <a:rPr lang="en-US" dirty="0" err="1"/>
              <a:t>luồng</a:t>
            </a:r>
            <a:r>
              <a:rPr lang="en-US" dirty="0"/>
              <a:t> </a:t>
            </a:r>
            <a:r>
              <a:rPr lang="en-US" dirty="0" err="1"/>
              <a:t>tổng</a:t>
            </a:r>
            <a:r>
              <a:rPr lang="en-US" dirty="0"/>
              <a:t> </a:t>
            </a:r>
            <a:r>
              <a:rPr lang="en-US" dirty="0" err="1"/>
              <a:t>thể</a:t>
            </a:r>
            <a:r>
              <a:rPr lang="en-US" dirty="0"/>
              <a:t> </a:t>
            </a:r>
            <a:r>
              <a:rPr lang="en-US" dirty="0" err="1"/>
              <a:t>của</a:t>
            </a:r>
            <a:r>
              <a:rPr lang="en-US" dirty="0"/>
              <a:t> </a:t>
            </a:r>
            <a:r>
              <a:rPr lang="en-US" dirty="0" err="1"/>
              <a:t>quy</a:t>
            </a:r>
            <a:r>
              <a:rPr lang="en-US" dirty="0"/>
              <a:t> </a:t>
            </a:r>
            <a:r>
              <a:rPr lang="en-US" dirty="0" err="1"/>
              <a:t>trình</a:t>
            </a:r>
            <a:endParaRPr lang="en-US" dirty="0"/>
          </a:p>
        </p:txBody>
      </p:sp>
    </p:spTree>
    <p:extLst>
      <p:ext uri="{BB962C8B-B14F-4D97-AF65-F5344CB8AC3E}">
        <p14:creationId xmlns:p14="http://schemas.microsoft.com/office/powerpoint/2010/main" val="1734693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12;g3a6c8354d49_0_95">
            <a:extLst>
              <a:ext uri="{FF2B5EF4-FFF2-40B4-BE49-F238E27FC236}">
                <a16:creationId xmlns:a16="http://schemas.microsoft.com/office/drawing/2014/main" id="{AD900F30-44F4-4698-ABE3-85CD9BE13B3D}"/>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3" name="Google Shape;513;g3a6c8354d49_0_95">
            <a:extLst>
              <a:ext uri="{FF2B5EF4-FFF2-40B4-BE49-F238E27FC236}">
                <a16:creationId xmlns:a16="http://schemas.microsoft.com/office/drawing/2014/main" id="{54E13C9A-4AE0-4C33-8CCC-D237D5859560}"/>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Font typeface="Arial" panose="020B0604020202020204" pitchFamily="34" charset="0"/>
              <a:buNone/>
            </a:pPr>
            <a:r>
              <a:rPr lang="en-US" sz="1900" dirty="0" err="1"/>
              <a:t>Mô</a:t>
            </a:r>
            <a:r>
              <a:rPr lang="en-US" sz="1900" dirty="0"/>
              <a:t> </a:t>
            </a:r>
            <a:r>
              <a:rPr lang="en-US" sz="1900" dirty="0" err="1"/>
              <a:t>hình</a:t>
            </a:r>
            <a:r>
              <a:rPr lang="en-US" sz="1900" dirty="0"/>
              <a:t> </a:t>
            </a:r>
            <a:r>
              <a:rPr lang="en-US" sz="1900" dirty="0" err="1"/>
              <a:t>hóa</a:t>
            </a:r>
            <a:r>
              <a:rPr lang="en-US" sz="1900" dirty="0"/>
              <a:t> </a:t>
            </a:r>
            <a:r>
              <a:rPr lang="en-US" sz="1900" dirty="0" err="1"/>
              <a:t>quy</a:t>
            </a:r>
            <a:r>
              <a:rPr lang="en-US" sz="1900" dirty="0"/>
              <a:t> </a:t>
            </a:r>
            <a:r>
              <a:rPr lang="en-US" sz="1900" dirty="0" err="1"/>
              <a:t>trình</a:t>
            </a:r>
            <a:endParaRPr lang="en-US" sz="1900" dirty="0"/>
          </a:p>
        </p:txBody>
      </p:sp>
      <p:sp>
        <p:nvSpPr>
          <p:cNvPr id="7" name="Google Shape;515;g3a6c8354d49_0_95">
            <a:extLst>
              <a:ext uri="{FF2B5EF4-FFF2-40B4-BE49-F238E27FC236}">
                <a16:creationId xmlns:a16="http://schemas.microsoft.com/office/drawing/2014/main" id="{3ED6F28F-A272-48D0-886C-7747D96E2139}"/>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pic>
        <p:nvPicPr>
          <p:cNvPr id="9" name="Picture 8">
            <a:extLst>
              <a:ext uri="{FF2B5EF4-FFF2-40B4-BE49-F238E27FC236}">
                <a16:creationId xmlns:a16="http://schemas.microsoft.com/office/drawing/2014/main" id="{0E3532AA-2609-4668-8914-5EFD22A73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009" y="862641"/>
            <a:ext cx="11781982" cy="5545853"/>
          </a:xfrm>
          <a:prstGeom prst="rect">
            <a:avLst/>
          </a:prstGeom>
        </p:spPr>
      </p:pic>
      <p:sp>
        <p:nvSpPr>
          <p:cNvPr id="4" name="TextBox 3">
            <a:extLst>
              <a:ext uri="{FF2B5EF4-FFF2-40B4-BE49-F238E27FC236}">
                <a16:creationId xmlns:a16="http://schemas.microsoft.com/office/drawing/2014/main" id="{32EC740F-345C-4FCC-9A0E-DA642D97B9EE}"/>
              </a:ext>
            </a:extLst>
          </p:cNvPr>
          <p:cNvSpPr txBox="1"/>
          <p:nvPr/>
        </p:nvSpPr>
        <p:spPr>
          <a:xfrm>
            <a:off x="4371975" y="6410325"/>
            <a:ext cx="3448050" cy="369332"/>
          </a:xfrm>
          <a:prstGeom prst="rect">
            <a:avLst/>
          </a:prstGeom>
          <a:noFill/>
        </p:spPr>
        <p:txBody>
          <a:bodyPr wrap="square" rtlCol="0">
            <a:spAutoFit/>
          </a:bodyPr>
          <a:lstStyle/>
          <a:p>
            <a:pPr algn="ctr"/>
            <a:r>
              <a:rPr lang="en-US" dirty="0" err="1"/>
              <a:t>Hình</a:t>
            </a:r>
            <a:r>
              <a:rPr lang="en-US" dirty="0"/>
              <a:t> 2. </a:t>
            </a:r>
            <a:r>
              <a:rPr lang="en-US" dirty="0" err="1"/>
              <a:t>Mô</a:t>
            </a:r>
            <a:r>
              <a:rPr lang="en-US" dirty="0"/>
              <a:t> </a:t>
            </a:r>
            <a:r>
              <a:rPr lang="en-US" dirty="0" err="1"/>
              <a:t>hình</a:t>
            </a:r>
            <a:r>
              <a:rPr lang="en-US" dirty="0"/>
              <a:t> BPMN</a:t>
            </a:r>
          </a:p>
        </p:txBody>
      </p:sp>
    </p:spTree>
    <p:extLst>
      <p:ext uri="{BB962C8B-B14F-4D97-AF65-F5344CB8AC3E}">
        <p14:creationId xmlns:p14="http://schemas.microsoft.com/office/powerpoint/2010/main" val="2609260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12;g3a6c8354d49_0_95">
            <a:extLst>
              <a:ext uri="{FF2B5EF4-FFF2-40B4-BE49-F238E27FC236}">
                <a16:creationId xmlns:a16="http://schemas.microsoft.com/office/drawing/2014/main" id="{08D0B46E-98D4-4311-935F-4237416D8B0B}"/>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3" name="Google Shape;513;g3a6c8354d49_0_95">
            <a:extLst>
              <a:ext uri="{FF2B5EF4-FFF2-40B4-BE49-F238E27FC236}">
                <a16:creationId xmlns:a16="http://schemas.microsoft.com/office/drawing/2014/main" id="{D49D8DA2-C3C5-4B74-AC78-CBA94F5C4C87}"/>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Font typeface="Arial" panose="020B0604020202020204" pitchFamily="34" charset="0"/>
              <a:buNone/>
            </a:pPr>
            <a:r>
              <a:rPr lang="en-US" sz="1900" dirty="0"/>
              <a:t>Ph</a:t>
            </a:r>
            <a:r>
              <a:rPr lang="vi-VN" sz="1900" dirty="0"/>
              <a:t>ư</a:t>
            </a:r>
            <a:r>
              <a:rPr lang="en-US" sz="1900" dirty="0" err="1"/>
              <a:t>ơng</a:t>
            </a:r>
            <a:r>
              <a:rPr lang="en-US" sz="1900" dirty="0"/>
              <a:t> </a:t>
            </a:r>
            <a:r>
              <a:rPr lang="en-US" sz="1900" dirty="0" err="1"/>
              <a:t>pháp</a:t>
            </a:r>
            <a:r>
              <a:rPr lang="en-US" sz="1900" dirty="0"/>
              <a:t> </a:t>
            </a:r>
            <a:r>
              <a:rPr lang="en-US" sz="1900" dirty="0" err="1"/>
              <a:t>thực</a:t>
            </a:r>
            <a:r>
              <a:rPr lang="en-US" sz="1900" dirty="0"/>
              <a:t> </a:t>
            </a:r>
            <a:r>
              <a:rPr lang="en-US" sz="1900" dirty="0" err="1"/>
              <a:t>hiện</a:t>
            </a:r>
            <a:endParaRPr lang="en-US" sz="1900" dirty="0"/>
          </a:p>
        </p:txBody>
      </p:sp>
      <p:sp>
        <p:nvSpPr>
          <p:cNvPr id="4" name="Google Shape;515;g3a6c8354d49_0_95">
            <a:extLst>
              <a:ext uri="{FF2B5EF4-FFF2-40B4-BE49-F238E27FC236}">
                <a16:creationId xmlns:a16="http://schemas.microsoft.com/office/drawing/2014/main" id="{9E07FBF1-9A54-4EA3-AA13-909CF7D74A36}"/>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grpSp>
        <p:nvGrpSpPr>
          <p:cNvPr id="10" name="Group 9">
            <a:extLst>
              <a:ext uri="{FF2B5EF4-FFF2-40B4-BE49-F238E27FC236}">
                <a16:creationId xmlns:a16="http://schemas.microsoft.com/office/drawing/2014/main" id="{6FB13564-B156-414E-97C7-586517E89B84}"/>
              </a:ext>
            </a:extLst>
          </p:cNvPr>
          <p:cNvGrpSpPr/>
          <p:nvPr/>
        </p:nvGrpSpPr>
        <p:grpSpPr>
          <a:xfrm>
            <a:off x="540327" y="2044408"/>
            <a:ext cx="11186957" cy="2769184"/>
            <a:chOff x="540327" y="1648690"/>
            <a:chExt cx="11186957" cy="2769184"/>
          </a:xfrm>
        </p:grpSpPr>
        <p:sp>
          <p:nvSpPr>
            <p:cNvPr id="6" name="TextBox 5">
              <a:extLst>
                <a:ext uri="{FF2B5EF4-FFF2-40B4-BE49-F238E27FC236}">
                  <a16:creationId xmlns:a16="http://schemas.microsoft.com/office/drawing/2014/main" id="{97F6B67B-C1D2-4DD5-9317-EFC5C2AD78D8}"/>
                </a:ext>
              </a:extLst>
            </p:cNvPr>
            <p:cNvSpPr txBox="1"/>
            <p:nvPr/>
          </p:nvSpPr>
          <p:spPr>
            <a:xfrm>
              <a:off x="540327" y="1648691"/>
              <a:ext cx="2926080" cy="2743200"/>
            </a:xfrm>
            <a:prstGeom prst="rect">
              <a:avLst/>
            </a:prstGeom>
            <a:noFill/>
          </p:spPr>
          <p:txBody>
            <a:bodyPr wrap="square" rtlCol="0">
              <a:spAutoFit/>
            </a:bodyPr>
            <a:lstStyle/>
            <a:p>
              <a:r>
                <a:rPr lang="en-US" dirty="0" err="1"/>
                <a:t>Dựa</a:t>
              </a:r>
              <a:r>
                <a:rPr lang="en-US" dirty="0"/>
                <a:t> </a:t>
              </a:r>
              <a:r>
                <a:rPr lang="en-US" dirty="0" err="1"/>
                <a:t>trên</a:t>
              </a:r>
              <a:r>
                <a:rPr lang="en-US" dirty="0"/>
                <a:t> </a:t>
              </a:r>
              <a:r>
                <a:rPr lang="en-US" dirty="0" err="1"/>
                <a:t>bằng</a:t>
              </a:r>
              <a:r>
                <a:rPr lang="en-US" dirty="0"/>
                <a:t> </a:t>
              </a:r>
              <a:r>
                <a:rPr lang="en-US" dirty="0" err="1"/>
                <a:t>chứng</a:t>
              </a:r>
              <a:endParaRPr lang="en-US" dirty="0"/>
            </a:p>
            <a:p>
              <a:pPr marL="285750" indent="-285750">
                <a:buFont typeface="Arial" panose="020B0604020202020204" pitchFamily="34" charset="0"/>
                <a:buChar char="•"/>
              </a:pPr>
              <a:r>
                <a:rPr lang="en-US" dirty="0" err="1"/>
                <a:t>Mô</a:t>
              </a:r>
              <a:r>
                <a:rPr lang="en-US" dirty="0"/>
                <a:t> </a:t>
              </a:r>
              <a:r>
                <a:rPr lang="en-US" dirty="0" err="1"/>
                <a:t>tả</a:t>
              </a:r>
              <a:r>
                <a:rPr lang="en-US" dirty="0"/>
                <a:t> </a:t>
              </a:r>
              <a:r>
                <a:rPr lang="en-US" dirty="0" err="1"/>
                <a:t>quy</a:t>
              </a:r>
              <a:r>
                <a:rPr lang="en-US" dirty="0"/>
                <a:t> </a:t>
              </a:r>
              <a:r>
                <a:rPr lang="en-US" dirty="0" err="1"/>
                <a:t>trình</a:t>
              </a:r>
              <a:r>
                <a:rPr lang="en-US" dirty="0"/>
                <a:t> </a:t>
              </a:r>
              <a:r>
                <a:rPr lang="en-US" dirty="0" err="1"/>
                <a:t>hiện</a:t>
              </a:r>
              <a:r>
                <a:rPr lang="en-US" dirty="0"/>
                <a:t> </a:t>
              </a:r>
              <a:r>
                <a:rPr lang="en-US" dirty="0" err="1"/>
                <a:t>có</a:t>
              </a:r>
              <a:endParaRPr lang="en-US" dirty="0"/>
            </a:p>
            <a:p>
              <a:pPr marL="285750" indent="-285750">
                <a:buFont typeface="Arial" panose="020B0604020202020204" pitchFamily="34" charset="0"/>
                <a:buChar char="•"/>
              </a:pPr>
              <a:r>
                <a:rPr lang="en-US" dirty="0" err="1"/>
                <a:t>Sơ</a:t>
              </a:r>
              <a:r>
                <a:rPr lang="en-US" dirty="0"/>
                <a:t> </a:t>
              </a:r>
              <a:r>
                <a:rPr lang="en-US" dirty="0" err="1"/>
                <a:t>đồ</a:t>
              </a:r>
              <a:r>
                <a:rPr lang="en-US" dirty="0"/>
                <a:t> </a:t>
              </a:r>
              <a:r>
                <a:rPr lang="en-US" dirty="0" err="1"/>
                <a:t>tổ</a:t>
              </a:r>
              <a:r>
                <a:rPr lang="en-US" dirty="0"/>
                <a:t> </a:t>
              </a:r>
              <a:r>
                <a:rPr lang="en-US" dirty="0" err="1"/>
                <a:t>chức</a:t>
              </a:r>
              <a:endParaRPr lang="en-US" dirty="0"/>
            </a:p>
            <a:p>
              <a:pPr marL="285750" indent="-285750">
                <a:buFont typeface="Arial" panose="020B0604020202020204" pitchFamily="34" charset="0"/>
                <a:buChar char="•"/>
              </a:pPr>
              <a:r>
                <a:rPr lang="en-US" dirty="0" err="1"/>
                <a:t>Kế</a:t>
              </a:r>
              <a:r>
                <a:rPr lang="en-US" dirty="0"/>
                <a:t> </a:t>
              </a:r>
              <a:r>
                <a:rPr lang="en-US" dirty="0" err="1"/>
                <a:t>hoạch</a:t>
              </a:r>
              <a:r>
                <a:rPr lang="en-US" dirty="0"/>
                <a:t> </a:t>
              </a:r>
              <a:r>
                <a:rPr lang="en-US" dirty="0" err="1"/>
                <a:t>làm</a:t>
              </a:r>
              <a:r>
                <a:rPr lang="en-US" dirty="0"/>
                <a:t> </a:t>
              </a:r>
              <a:r>
                <a:rPr lang="en-US" dirty="0" err="1"/>
                <a:t>việc</a:t>
              </a:r>
              <a:endParaRPr lang="en-US" dirty="0"/>
            </a:p>
            <a:p>
              <a:pPr marL="285750" indent="-285750">
                <a:buFont typeface="Arial" panose="020B0604020202020204" pitchFamily="34" charset="0"/>
                <a:buChar char="•"/>
              </a:pPr>
              <a:r>
                <a:rPr lang="en-US" dirty="0" err="1"/>
                <a:t>Thuật</a:t>
              </a:r>
              <a:r>
                <a:rPr lang="en-US" dirty="0"/>
                <a:t> </a:t>
              </a:r>
              <a:r>
                <a:rPr lang="en-US" dirty="0" err="1"/>
                <a:t>ngữ</a:t>
              </a:r>
              <a:r>
                <a:rPr lang="en-US" dirty="0"/>
                <a:t> </a:t>
              </a:r>
              <a:r>
                <a:rPr lang="en-US" dirty="0" err="1"/>
                <a:t>và</a:t>
              </a:r>
              <a:r>
                <a:rPr lang="en-US" dirty="0"/>
                <a:t> </a:t>
              </a:r>
              <a:r>
                <a:rPr lang="en-US" dirty="0" err="1"/>
                <a:t>sổ</a:t>
              </a:r>
              <a:r>
                <a:rPr lang="en-US" dirty="0"/>
                <a:t> </a:t>
              </a:r>
              <a:r>
                <a:rPr lang="en-US" dirty="0" err="1"/>
                <a:t>tay</a:t>
              </a:r>
              <a:endParaRPr lang="en-US" dirty="0"/>
            </a:p>
            <a:p>
              <a:pPr marL="285750" indent="-285750">
                <a:buFont typeface="Arial" panose="020B0604020202020204" pitchFamily="34" charset="0"/>
                <a:buChar char="•"/>
              </a:pPr>
              <a:r>
                <a:rPr lang="en-US" dirty="0" err="1"/>
                <a:t>Biểu</a:t>
              </a:r>
              <a:r>
                <a:rPr lang="en-US" dirty="0"/>
                <a:t> </a:t>
              </a:r>
              <a:r>
                <a:rPr lang="en-US" dirty="0" err="1"/>
                <a:t>mẫu</a:t>
              </a:r>
              <a:r>
                <a:rPr lang="en-US" dirty="0"/>
                <a:t> </a:t>
              </a:r>
              <a:r>
                <a:rPr lang="en-US" dirty="0" err="1"/>
                <a:t>nghiệp</a:t>
              </a:r>
              <a:r>
                <a:rPr lang="en-US" dirty="0"/>
                <a:t> </a:t>
              </a:r>
              <a:r>
                <a:rPr lang="en-US" dirty="0" err="1"/>
                <a:t>vụ</a:t>
              </a:r>
              <a:endParaRPr lang="en-US" dirty="0"/>
            </a:p>
          </p:txBody>
        </p:sp>
        <p:sp>
          <p:nvSpPr>
            <p:cNvPr id="7" name="TextBox 6">
              <a:extLst>
                <a:ext uri="{FF2B5EF4-FFF2-40B4-BE49-F238E27FC236}">
                  <a16:creationId xmlns:a16="http://schemas.microsoft.com/office/drawing/2014/main" id="{7B31E9C4-5328-429A-9E4F-3BA6D3A728EB}"/>
                </a:ext>
              </a:extLst>
            </p:cNvPr>
            <p:cNvSpPr txBox="1"/>
            <p:nvPr/>
          </p:nvSpPr>
          <p:spPr>
            <a:xfrm>
              <a:off x="4670765" y="1648690"/>
              <a:ext cx="2926080" cy="2743200"/>
            </a:xfrm>
            <a:prstGeom prst="rect">
              <a:avLst/>
            </a:prstGeom>
            <a:noFill/>
          </p:spPr>
          <p:txBody>
            <a:bodyPr wrap="square" rtlCol="0">
              <a:spAutoFit/>
            </a:bodyPr>
            <a:lstStyle/>
            <a:p>
              <a:r>
                <a:rPr lang="en-US" dirty="0" err="1"/>
                <a:t>Phỏng</a:t>
              </a:r>
              <a:r>
                <a:rPr lang="en-US" dirty="0"/>
                <a:t> </a:t>
              </a:r>
              <a:r>
                <a:rPr lang="en-US" dirty="0" err="1"/>
                <a:t>vấn</a:t>
              </a:r>
              <a:endParaRPr lang="en-US" dirty="0"/>
            </a:p>
            <a:p>
              <a:pPr marL="285750" indent="-285750">
                <a:buFont typeface="Arial" panose="020B0604020202020204" pitchFamily="34" charset="0"/>
                <a:buChar char="•"/>
              </a:pPr>
              <a:r>
                <a:rPr lang="en-US" dirty="0" err="1"/>
                <a:t>Xác</a:t>
              </a:r>
              <a:r>
                <a:rPr lang="en-US" dirty="0"/>
                <a:t> </a:t>
              </a:r>
              <a:r>
                <a:rPr lang="en-US" dirty="0" err="1"/>
                <a:t>định</a:t>
              </a:r>
              <a:r>
                <a:rPr lang="en-US" dirty="0"/>
                <a:t> </a:t>
              </a:r>
              <a:r>
                <a:rPr lang="en-US" dirty="0" err="1"/>
                <a:t>đối</a:t>
              </a:r>
              <a:r>
                <a:rPr lang="en-US" dirty="0"/>
                <a:t> t</a:t>
              </a:r>
              <a:r>
                <a:rPr lang="vi-VN" dirty="0"/>
                <a:t>ư</a:t>
              </a:r>
              <a:r>
                <a:rPr lang="en-US" dirty="0" err="1"/>
                <a:t>ợng</a:t>
              </a:r>
              <a:endParaRPr lang="en-US" dirty="0"/>
            </a:p>
            <a:p>
              <a:pPr marL="285750" indent="-285750">
                <a:buFont typeface="Arial" panose="020B0604020202020204" pitchFamily="34" charset="0"/>
                <a:buChar char="•"/>
              </a:pPr>
              <a:r>
                <a:rPr lang="en-US" dirty="0" err="1"/>
                <a:t>Các</a:t>
              </a:r>
              <a:r>
                <a:rPr lang="en-US" dirty="0"/>
                <a:t> </a:t>
              </a:r>
              <a:r>
                <a:rPr lang="en-US" dirty="0" err="1"/>
                <a:t>câu</a:t>
              </a:r>
              <a:r>
                <a:rPr lang="en-US" dirty="0"/>
                <a:t> </a:t>
              </a:r>
              <a:r>
                <a:rPr lang="en-US" dirty="0" err="1"/>
                <a:t>hỏi</a:t>
              </a:r>
              <a:r>
                <a:rPr lang="en-US" dirty="0"/>
                <a:t> </a:t>
              </a:r>
              <a:r>
                <a:rPr lang="en-US" dirty="0" err="1"/>
                <a:t>định</a:t>
              </a:r>
              <a:r>
                <a:rPr lang="en-US" dirty="0"/>
                <a:t> </a:t>
              </a:r>
              <a:r>
                <a:rPr lang="en-US" dirty="0" err="1"/>
                <a:t>tính</a:t>
              </a:r>
              <a:endParaRPr lang="en-US" dirty="0"/>
            </a:p>
            <a:p>
              <a:pPr marL="285750" indent="-285750">
                <a:buFont typeface="Arial" panose="020B0604020202020204" pitchFamily="34" charset="0"/>
                <a:buChar char="•"/>
              </a:pPr>
              <a:r>
                <a:rPr lang="en-US" dirty="0" err="1"/>
                <a:t>Các</a:t>
              </a:r>
              <a:r>
                <a:rPr lang="en-US" dirty="0"/>
                <a:t> </a:t>
              </a:r>
              <a:r>
                <a:rPr lang="en-US" dirty="0" err="1"/>
                <a:t>câu</a:t>
              </a:r>
              <a:r>
                <a:rPr lang="en-US" dirty="0"/>
                <a:t> </a:t>
              </a:r>
              <a:r>
                <a:rPr lang="en-US" dirty="0" err="1"/>
                <a:t>hỏi</a:t>
              </a:r>
              <a:r>
                <a:rPr lang="en-US" dirty="0"/>
                <a:t> </a:t>
              </a:r>
              <a:r>
                <a:rPr lang="en-US" dirty="0" err="1"/>
                <a:t>định</a:t>
              </a:r>
              <a:r>
                <a:rPr lang="en-US" dirty="0"/>
                <a:t> l</a:t>
              </a:r>
              <a:r>
                <a:rPr lang="vi-VN" dirty="0"/>
                <a:t>ư</a:t>
              </a:r>
              <a:r>
                <a:rPr lang="en-US" dirty="0" err="1"/>
                <a:t>ợng</a:t>
              </a:r>
              <a:endParaRPr lang="en-US" dirty="0"/>
            </a:p>
            <a:p>
              <a:pPr marL="285750" indent="-285750">
                <a:buFont typeface="Arial" panose="020B0604020202020204" pitchFamily="34" charset="0"/>
                <a:buChar char="•"/>
              </a:pPr>
              <a:r>
                <a:rPr lang="en-US" dirty="0" err="1"/>
                <a:t>Làm</a:t>
              </a:r>
              <a:r>
                <a:rPr lang="en-US" dirty="0"/>
                <a:t> </a:t>
              </a:r>
              <a:r>
                <a:rPr lang="en-US" dirty="0" err="1"/>
                <a:t>rõ</a:t>
              </a:r>
              <a:r>
                <a:rPr lang="en-US" dirty="0"/>
                <a:t> </a:t>
              </a:r>
              <a:r>
                <a:rPr lang="en-US" dirty="0" err="1"/>
                <a:t>luồng</a:t>
              </a:r>
              <a:r>
                <a:rPr lang="en-US" dirty="0"/>
                <a:t> </a:t>
              </a:r>
              <a:r>
                <a:rPr lang="en-US" dirty="0" err="1"/>
                <a:t>xử</a:t>
              </a:r>
              <a:r>
                <a:rPr lang="en-US" dirty="0"/>
                <a:t> </a:t>
              </a:r>
              <a:r>
                <a:rPr lang="en-US" dirty="0" err="1"/>
                <a:t>lý</a:t>
              </a:r>
              <a:r>
                <a:rPr lang="en-US" dirty="0"/>
                <a:t> </a:t>
              </a:r>
              <a:r>
                <a:rPr lang="en-US" dirty="0" err="1"/>
                <a:t>thực</a:t>
              </a:r>
              <a:r>
                <a:rPr lang="en-US" dirty="0"/>
                <a:t> </a:t>
              </a:r>
              <a:r>
                <a:rPr lang="en-US" dirty="0" err="1"/>
                <a:t>tế</a:t>
              </a:r>
              <a:endParaRPr lang="en-US" dirty="0"/>
            </a:p>
            <a:p>
              <a:pPr marL="285750" indent="-285750">
                <a:buFont typeface="Arial" panose="020B0604020202020204" pitchFamily="34" charset="0"/>
                <a:buChar char="•"/>
              </a:pPr>
              <a:r>
                <a:rPr lang="en-US" dirty="0" err="1"/>
                <a:t>Xác</a:t>
              </a:r>
              <a:r>
                <a:rPr lang="en-US" dirty="0"/>
                <a:t> </a:t>
              </a:r>
              <a:r>
                <a:rPr lang="en-US" dirty="0" err="1"/>
                <a:t>nhận</a:t>
              </a:r>
              <a:r>
                <a:rPr lang="en-US" dirty="0"/>
                <a:t> </a:t>
              </a:r>
              <a:r>
                <a:rPr lang="en-US" dirty="0" err="1"/>
                <a:t>các</a:t>
              </a:r>
              <a:r>
                <a:rPr lang="en-US" dirty="0"/>
                <a:t> </a:t>
              </a:r>
              <a:r>
                <a:rPr lang="en-US" dirty="0" err="1"/>
                <a:t>tình</a:t>
              </a:r>
              <a:r>
                <a:rPr lang="en-US" dirty="0"/>
                <a:t> </a:t>
              </a:r>
              <a:r>
                <a:rPr lang="en-US" dirty="0" err="1"/>
                <a:t>huống</a:t>
              </a:r>
              <a:r>
                <a:rPr lang="en-US" dirty="0"/>
                <a:t> </a:t>
              </a:r>
              <a:r>
                <a:rPr lang="en-US" dirty="0" err="1"/>
                <a:t>phát</a:t>
              </a:r>
              <a:r>
                <a:rPr lang="en-US" dirty="0"/>
                <a:t> </a:t>
              </a:r>
              <a:r>
                <a:rPr lang="en-US" dirty="0" err="1"/>
                <a:t>sinh</a:t>
              </a:r>
              <a:endParaRPr lang="en-US" dirty="0"/>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BF5FA978-4B64-463A-8BB5-604254CFC56F}"/>
                </a:ext>
              </a:extLst>
            </p:cNvPr>
            <p:cNvSpPr txBox="1"/>
            <p:nvPr/>
          </p:nvSpPr>
          <p:spPr>
            <a:xfrm>
              <a:off x="8801204" y="1674674"/>
              <a:ext cx="2926080" cy="2743200"/>
            </a:xfrm>
            <a:prstGeom prst="rect">
              <a:avLst/>
            </a:prstGeom>
            <a:noFill/>
          </p:spPr>
          <p:txBody>
            <a:bodyPr wrap="square" rtlCol="0">
              <a:spAutoFit/>
            </a:bodyPr>
            <a:lstStyle/>
            <a:p>
              <a:r>
                <a:rPr lang="en-US" dirty="0"/>
                <a:t>Workshop</a:t>
              </a:r>
            </a:p>
            <a:p>
              <a:pPr marL="285750" indent="-285750">
                <a:buFont typeface="Arial" panose="020B0604020202020204" pitchFamily="34" charset="0"/>
                <a:buChar char="•"/>
              </a:pPr>
              <a:r>
                <a:rPr lang="en-US" dirty="0" err="1"/>
                <a:t>Rà</a:t>
              </a:r>
              <a:r>
                <a:rPr lang="en-US" dirty="0"/>
                <a:t> </a:t>
              </a:r>
              <a:r>
                <a:rPr lang="en-US" dirty="0" err="1"/>
                <a:t>soát</a:t>
              </a:r>
              <a:r>
                <a:rPr lang="en-US" dirty="0"/>
                <a:t> </a:t>
              </a:r>
              <a:r>
                <a:rPr lang="en-US" dirty="0" err="1"/>
                <a:t>luồng</a:t>
              </a:r>
              <a:r>
                <a:rPr lang="en-US" dirty="0"/>
                <a:t> </a:t>
              </a:r>
              <a:r>
                <a:rPr lang="en-US" dirty="0" err="1"/>
                <a:t>quy</a:t>
              </a:r>
              <a:r>
                <a:rPr lang="en-US" dirty="0"/>
                <a:t> </a:t>
              </a:r>
              <a:r>
                <a:rPr lang="en-US" dirty="0" err="1"/>
                <a:t>trình</a:t>
              </a:r>
              <a:endParaRPr lang="en-US" dirty="0"/>
            </a:p>
            <a:p>
              <a:pPr marL="285750" indent="-285750">
                <a:buFont typeface="Arial" panose="020B0604020202020204" pitchFamily="34" charset="0"/>
                <a:buChar char="•"/>
              </a:pPr>
              <a:r>
                <a:rPr lang="en-US" dirty="0" err="1"/>
                <a:t>Xác</a:t>
              </a:r>
              <a:r>
                <a:rPr lang="en-US" dirty="0"/>
                <a:t> </a:t>
              </a:r>
              <a:r>
                <a:rPr lang="en-US" dirty="0" err="1"/>
                <a:t>nhận</a:t>
              </a:r>
              <a:r>
                <a:rPr lang="en-US" dirty="0"/>
                <a:t> </a:t>
              </a:r>
              <a:r>
                <a:rPr lang="en-US" dirty="0" err="1"/>
                <a:t>vai</a:t>
              </a:r>
              <a:r>
                <a:rPr lang="en-US" dirty="0"/>
                <a:t> </a:t>
              </a:r>
              <a:r>
                <a:rPr lang="en-US" dirty="0" err="1"/>
                <a:t>trò</a:t>
              </a:r>
              <a:r>
                <a:rPr lang="en-US" dirty="0"/>
                <a:t> </a:t>
              </a:r>
              <a:r>
                <a:rPr lang="en-US" dirty="0" err="1"/>
                <a:t>các</a:t>
              </a:r>
              <a:r>
                <a:rPr lang="en-US" dirty="0"/>
                <a:t> </a:t>
              </a:r>
              <a:r>
                <a:rPr lang="en-US" dirty="0" err="1"/>
                <a:t>bên</a:t>
              </a:r>
              <a:endParaRPr lang="en-US" dirty="0"/>
            </a:p>
            <a:p>
              <a:pPr marL="285750" indent="-285750">
                <a:buFont typeface="Arial" panose="020B0604020202020204" pitchFamily="34" charset="0"/>
                <a:buChar char="•"/>
              </a:pPr>
              <a:r>
                <a:rPr lang="en-US" dirty="0" err="1"/>
                <a:t>Kiểm</a:t>
              </a:r>
              <a:r>
                <a:rPr lang="en-US" dirty="0"/>
                <a:t> </a:t>
              </a:r>
              <a:r>
                <a:rPr lang="en-US" dirty="0" err="1"/>
                <a:t>tra</a:t>
              </a:r>
              <a:r>
                <a:rPr lang="en-US" dirty="0"/>
                <a:t> </a:t>
              </a:r>
              <a:r>
                <a:rPr lang="en-US" dirty="0" err="1"/>
                <a:t>điều</a:t>
              </a:r>
              <a:r>
                <a:rPr lang="en-US" dirty="0"/>
                <a:t> </a:t>
              </a:r>
              <a:r>
                <a:rPr lang="en-US" dirty="0" err="1"/>
                <a:t>kiện</a:t>
              </a:r>
              <a:r>
                <a:rPr lang="en-US" dirty="0"/>
                <a:t> </a:t>
              </a:r>
              <a:r>
                <a:rPr lang="en-US" dirty="0" err="1"/>
                <a:t>rẽ</a:t>
              </a:r>
              <a:r>
                <a:rPr lang="en-US" dirty="0"/>
                <a:t> </a:t>
              </a:r>
              <a:r>
                <a:rPr lang="en-US" dirty="0" err="1"/>
                <a:t>nhánh</a:t>
              </a:r>
              <a:endParaRPr lang="en-US" dirty="0"/>
            </a:p>
            <a:p>
              <a:pPr marL="285750" indent="-285750">
                <a:buFont typeface="Arial" panose="020B0604020202020204" pitchFamily="34" charset="0"/>
                <a:buChar char="•"/>
              </a:pPr>
              <a:r>
                <a:rPr lang="en-US" dirty="0" err="1"/>
                <a:t>Thảo</a:t>
              </a:r>
              <a:r>
                <a:rPr lang="en-US" dirty="0"/>
                <a:t> </a:t>
              </a:r>
              <a:r>
                <a:rPr lang="en-US" dirty="0" err="1"/>
                <a:t>luận</a:t>
              </a:r>
              <a:r>
                <a:rPr lang="en-US" dirty="0"/>
                <a:t> tr</a:t>
              </a:r>
              <a:r>
                <a:rPr lang="vi-VN" dirty="0"/>
                <a:t>ư</a:t>
              </a:r>
              <a:r>
                <a:rPr lang="en-US" dirty="0" err="1"/>
                <a:t>ờng</a:t>
              </a:r>
              <a:r>
                <a:rPr lang="en-US" dirty="0"/>
                <a:t> </a:t>
              </a:r>
              <a:r>
                <a:rPr lang="en-US" dirty="0" err="1"/>
                <a:t>hợp</a:t>
              </a:r>
              <a:r>
                <a:rPr lang="en-US" dirty="0"/>
                <a:t> </a:t>
              </a:r>
              <a:r>
                <a:rPr lang="en-US" dirty="0" err="1"/>
                <a:t>ngoại</a:t>
              </a:r>
              <a:r>
                <a:rPr lang="en-US" dirty="0"/>
                <a:t> </a:t>
              </a:r>
              <a:r>
                <a:rPr lang="en-US" dirty="0" err="1"/>
                <a:t>lệ</a:t>
              </a:r>
              <a:endParaRPr lang="en-US" dirty="0"/>
            </a:p>
            <a:p>
              <a:pPr marL="285750" indent="-285750">
                <a:buFont typeface="Arial" panose="020B0604020202020204" pitchFamily="34" charset="0"/>
                <a:buChar char="•"/>
              </a:pPr>
              <a:r>
                <a:rPr lang="en-US" dirty="0" err="1"/>
                <a:t>Hoàn</a:t>
              </a:r>
              <a:r>
                <a:rPr lang="en-US" dirty="0"/>
                <a:t> </a:t>
              </a:r>
              <a:r>
                <a:rPr lang="en-US" dirty="0" err="1"/>
                <a:t>thiện</a:t>
              </a:r>
              <a:r>
                <a:rPr lang="en-US" dirty="0"/>
                <a:t> </a:t>
              </a:r>
              <a:r>
                <a:rPr lang="en-US" dirty="0" err="1"/>
                <a:t>mô</a:t>
              </a:r>
              <a:r>
                <a:rPr lang="en-US" dirty="0"/>
                <a:t> </a:t>
              </a:r>
              <a:r>
                <a:rPr lang="en-US" dirty="0" err="1"/>
                <a:t>hình</a:t>
              </a:r>
              <a:r>
                <a:rPr lang="en-US" dirty="0"/>
                <a:t> BPMN</a:t>
              </a:r>
            </a:p>
          </p:txBody>
        </p:sp>
      </p:grpSp>
      <p:sp>
        <p:nvSpPr>
          <p:cNvPr id="9" name="TextBox 8">
            <a:extLst>
              <a:ext uri="{FF2B5EF4-FFF2-40B4-BE49-F238E27FC236}">
                <a16:creationId xmlns:a16="http://schemas.microsoft.com/office/drawing/2014/main" id="{50201E76-222D-460C-A41C-9988E5783396}"/>
              </a:ext>
            </a:extLst>
          </p:cNvPr>
          <p:cNvSpPr txBox="1"/>
          <p:nvPr/>
        </p:nvSpPr>
        <p:spPr>
          <a:xfrm>
            <a:off x="3096491" y="4987642"/>
            <a:ext cx="5999019" cy="923330"/>
          </a:xfrm>
          <a:prstGeom prst="rect">
            <a:avLst/>
          </a:prstGeom>
          <a:noFill/>
        </p:spPr>
        <p:txBody>
          <a:bodyPr wrap="square" rtlCol="0">
            <a:spAutoFit/>
          </a:bodyPr>
          <a:lstStyle/>
          <a:p>
            <a:r>
              <a:rPr lang="en-US" dirty="0" err="1"/>
              <a:t>Kết</a:t>
            </a:r>
            <a:r>
              <a:rPr lang="en-US" dirty="0"/>
              <a:t> </a:t>
            </a:r>
            <a:r>
              <a:rPr lang="en-US" dirty="0" err="1"/>
              <a:t>quả</a:t>
            </a:r>
            <a:r>
              <a:rPr lang="en-US" dirty="0"/>
              <a:t>:</a:t>
            </a:r>
          </a:p>
          <a:p>
            <a:r>
              <a:rPr lang="vi-VN" dirty="0"/>
              <a:t>Kết hợp ba phương pháp để xây dựng, kiểm chứng và hoàn thiện Quy trình Tuyển dụng và phân bổ nhân sự.</a:t>
            </a:r>
            <a:endParaRPr lang="en-US" dirty="0"/>
          </a:p>
        </p:txBody>
      </p:sp>
    </p:spTree>
    <p:extLst>
      <p:ext uri="{BB962C8B-B14F-4D97-AF65-F5344CB8AC3E}">
        <p14:creationId xmlns:p14="http://schemas.microsoft.com/office/powerpoint/2010/main" val="2469960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12;g3a6c8354d49_0_95">
            <a:extLst>
              <a:ext uri="{FF2B5EF4-FFF2-40B4-BE49-F238E27FC236}">
                <a16:creationId xmlns:a16="http://schemas.microsoft.com/office/drawing/2014/main" id="{CFAA420B-C6F5-450E-8CC9-04909927CA60}"/>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3" name="Google Shape;513;g3a6c8354d49_0_95">
            <a:extLst>
              <a:ext uri="{FF2B5EF4-FFF2-40B4-BE49-F238E27FC236}">
                <a16:creationId xmlns:a16="http://schemas.microsoft.com/office/drawing/2014/main" id="{1A68E9B5-5165-431F-8853-8D8770B3FCF7}"/>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Font typeface="Arial" panose="020B0604020202020204" pitchFamily="34" charset="0"/>
              <a:buNone/>
            </a:pPr>
            <a:r>
              <a:rPr lang="en-US" sz="1900" dirty="0" err="1"/>
              <a:t>Phân</a:t>
            </a:r>
            <a:r>
              <a:rPr lang="en-US" sz="1900" dirty="0"/>
              <a:t> </a:t>
            </a:r>
            <a:r>
              <a:rPr lang="en-US" sz="1900" dirty="0" err="1"/>
              <a:t>tích</a:t>
            </a:r>
            <a:r>
              <a:rPr lang="en-US" sz="1900" dirty="0"/>
              <a:t> </a:t>
            </a:r>
            <a:r>
              <a:rPr lang="en-US" sz="1900" dirty="0" err="1"/>
              <a:t>quy</a:t>
            </a:r>
            <a:r>
              <a:rPr lang="en-US" sz="1900" dirty="0"/>
              <a:t> </a:t>
            </a:r>
            <a:r>
              <a:rPr lang="en-US" sz="1900" dirty="0" err="1"/>
              <a:t>trình</a:t>
            </a:r>
            <a:r>
              <a:rPr lang="en-US" sz="1900" dirty="0"/>
              <a:t> </a:t>
            </a:r>
            <a:r>
              <a:rPr lang="en-US" sz="1900" dirty="0" err="1"/>
              <a:t>định</a:t>
            </a:r>
            <a:r>
              <a:rPr lang="en-US" sz="1900" dirty="0"/>
              <a:t> </a:t>
            </a:r>
            <a:r>
              <a:rPr lang="en-US" sz="1900" dirty="0" err="1"/>
              <a:t>tính</a:t>
            </a:r>
            <a:r>
              <a:rPr lang="en-US" sz="1900" dirty="0"/>
              <a:t> – </a:t>
            </a:r>
            <a:r>
              <a:rPr lang="en-US" sz="1900" dirty="0" err="1"/>
              <a:t>Phân</a:t>
            </a:r>
            <a:r>
              <a:rPr lang="en-US" sz="1900" dirty="0"/>
              <a:t> </a:t>
            </a:r>
            <a:r>
              <a:rPr lang="en-US" sz="1900" dirty="0" err="1"/>
              <a:t>tích</a:t>
            </a:r>
            <a:r>
              <a:rPr lang="en-US" sz="1900" dirty="0"/>
              <a:t> </a:t>
            </a:r>
            <a:r>
              <a:rPr lang="en-US" sz="1900" dirty="0" err="1"/>
              <a:t>giá</a:t>
            </a:r>
            <a:r>
              <a:rPr lang="en-US" sz="1900" dirty="0"/>
              <a:t> </a:t>
            </a:r>
            <a:r>
              <a:rPr lang="en-US" sz="1900" dirty="0" err="1"/>
              <a:t>trị</a:t>
            </a:r>
            <a:r>
              <a:rPr lang="en-US" sz="1900" dirty="0"/>
              <a:t> </a:t>
            </a:r>
            <a:r>
              <a:rPr lang="en-US" sz="1900" dirty="0" err="1"/>
              <a:t>gia</a:t>
            </a:r>
            <a:r>
              <a:rPr lang="en-US" sz="1900" dirty="0"/>
              <a:t> </a:t>
            </a:r>
            <a:r>
              <a:rPr lang="en-US" sz="1900" dirty="0" err="1"/>
              <a:t>tăng</a:t>
            </a:r>
            <a:endParaRPr lang="en-US" sz="1900" dirty="0"/>
          </a:p>
        </p:txBody>
      </p:sp>
      <p:sp>
        <p:nvSpPr>
          <p:cNvPr id="4" name="Google Shape;515;g3a6c8354d49_0_95">
            <a:extLst>
              <a:ext uri="{FF2B5EF4-FFF2-40B4-BE49-F238E27FC236}">
                <a16:creationId xmlns:a16="http://schemas.microsoft.com/office/drawing/2014/main" id="{3E184C5E-4524-4FDB-AF46-F39A461D2CC8}"/>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sp>
        <p:nvSpPr>
          <p:cNvPr id="6" name="TextBox 5">
            <a:extLst>
              <a:ext uri="{FF2B5EF4-FFF2-40B4-BE49-F238E27FC236}">
                <a16:creationId xmlns:a16="http://schemas.microsoft.com/office/drawing/2014/main" id="{F2E2889E-0C28-49A2-8601-6CC91A5B804F}"/>
              </a:ext>
            </a:extLst>
          </p:cNvPr>
          <p:cNvSpPr txBox="1"/>
          <p:nvPr/>
        </p:nvSpPr>
        <p:spPr>
          <a:xfrm>
            <a:off x="123776" y="4797630"/>
            <a:ext cx="5810957" cy="1200329"/>
          </a:xfrm>
          <a:prstGeom prst="rect">
            <a:avLst/>
          </a:prstGeom>
          <a:noFill/>
        </p:spPr>
        <p:txBody>
          <a:bodyPr wrap="square" rtlCol="0">
            <a:spAutoFit/>
          </a:bodyPr>
          <a:lstStyle/>
          <a:p>
            <a:pPr algn="just"/>
            <a:r>
              <a:rPr lang="vi-VN" dirty="0"/>
              <a:t>VA tập trung ở tuyển chọn, đánh giá, tiếp nhận và phân bổ nhân sự; BVA phục vụ kiểm soát và vận hành quy trình; NVA chủ yếu phát sinh từ đọc lại, chuyển giao, điều chỉnh và cập nhật lặp thông tin.</a:t>
            </a:r>
            <a:endParaRPr lang="en-US" dirty="0"/>
          </a:p>
        </p:txBody>
      </p:sp>
      <p:pic>
        <p:nvPicPr>
          <p:cNvPr id="8" name="Picture 7">
            <a:extLst>
              <a:ext uri="{FF2B5EF4-FFF2-40B4-BE49-F238E27FC236}">
                <a16:creationId xmlns:a16="http://schemas.microsoft.com/office/drawing/2014/main" id="{ACF447A5-9D32-423D-9E10-F3D11ABA88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288" y="922990"/>
            <a:ext cx="11763424" cy="5487336"/>
          </a:xfrm>
          <a:prstGeom prst="rect">
            <a:avLst/>
          </a:prstGeom>
        </p:spPr>
      </p:pic>
      <p:sp>
        <p:nvSpPr>
          <p:cNvPr id="11" name="TextBox 10">
            <a:extLst>
              <a:ext uri="{FF2B5EF4-FFF2-40B4-BE49-F238E27FC236}">
                <a16:creationId xmlns:a16="http://schemas.microsoft.com/office/drawing/2014/main" id="{076D8407-7A30-4168-BB07-A2FD32A181B2}"/>
              </a:ext>
            </a:extLst>
          </p:cNvPr>
          <p:cNvSpPr txBox="1"/>
          <p:nvPr/>
        </p:nvSpPr>
        <p:spPr>
          <a:xfrm>
            <a:off x="4371975" y="6410325"/>
            <a:ext cx="3448050" cy="369332"/>
          </a:xfrm>
          <a:prstGeom prst="rect">
            <a:avLst/>
          </a:prstGeom>
          <a:noFill/>
        </p:spPr>
        <p:txBody>
          <a:bodyPr wrap="square" rtlCol="0">
            <a:spAutoFit/>
          </a:bodyPr>
          <a:lstStyle/>
          <a:p>
            <a:pPr algn="ctr"/>
            <a:r>
              <a:rPr lang="en-US" dirty="0" err="1"/>
              <a:t>Hình</a:t>
            </a:r>
            <a:r>
              <a:rPr lang="en-US" dirty="0"/>
              <a:t> 3. </a:t>
            </a:r>
            <a:r>
              <a:rPr lang="en-US" dirty="0" err="1"/>
              <a:t>Phân</a:t>
            </a:r>
            <a:r>
              <a:rPr lang="en-US" dirty="0"/>
              <a:t> </a:t>
            </a:r>
            <a:r>
              <a:rPr lang="en-US" dirty="0" err="1"/>
              <a:t>tích</a:t>
            </a:r>
            <a:r>
              <a:rPr lang="en-US" dirty="0"/>
              <a:t> </a:t>
            </a:r>
            <a:r>
              <a:rPr lang="en-US" dirty="0" err="1"/>
              <a:t>giá</a:t>
            </a:r>
            <a:r>
              <a:rPr lang="en-US" dirty="0"/>
              <a:t> </a:t>
            </a:r>
            <a:r>
              <a:rPr lang="en-US" dirty="0" err="1"/>
              <a:t>trị</a:t>
            </a:r>
            <a:r>
              <a:rPr lang="en-US" dirty="0"/>
              <a:t> </a:t>
            </a:r>
            <a:r>
              <a:rPr lang="en-US" dirty="0" err="1"/>
              <a:t>gia</a:t>
            </a:r>
            <a:r>
              <a:rPr lang="en-US" dirty="0"/>
              <a:t> </a:t>
            </a:r>
            <a:r>
              <a:rPr lang="en-US" dirty="0" err="1"/>
              <a:t>tăng</a:t>
            </a:r>
            <a:endParaRPr lang="en-US" dirty="0"/>
          </a:p>
        </p:txBody>
      </p:sp>
    </p:spTree>
    <p:extLst>
      <p:ext uri="{BB962C8B-B14F-4D97-AF65-F5344CB8AC3E}">
        <p14:creationId xmlns:p14="http://schemas.microsoft.com/office/powerpoint/2010/main" val="1042496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12;g3a6c8354d49_0_95">
            <a:extLst>
              <a:ext uri="{FF2B5EF4-FFF2-40B4-BE49-F238E27FC236}">
                <a16:creationId xmlns:a16="http://schemas.microsoft.com/office/drawing/2014/main" id="{8F7B8767-C6B3-4D81-85EA-7922F19CA9E9}"/>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3" name="Google Shape;513;g3a6c8354d49_0_95">
            <a:extLst>
              <a:ext uri="{FF2B5EF4-FFF2-40B4-BE49-F238E27FC236}">
                <a16:creationId xmlns:a16="http://schemas.microsoft.com/office/drawing/2014/main" id="{BB3C0C6E-8433-4519-946B-9329071C4173}"/>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Font typeface="Arial" panose="020B0604020202020204" pitchFamily="34" charset="0"/>
              <a:buNone/>
            </a:pPr>
            <a:r>
              <a:rPr lang="en-US" sz="1900" dirty="0" err="1"/>
              <a:t>Phân</a:t>
            </a:r>
            <a:r>
              <a:rPr lang="en-US" sz="1900" dirty="0"/>
              <a:t> </a:t>
            </a:r>
            <a:r>
              <a:rPr lang="en-US" sz="1900" dirty="0" err="1"/>
              <a:t>tích</a:t>
            </a:r>
            <a:r>
              <a:rPr lang="en-US" sz="1900" dirty="0"/>
              <a:t> </a:t>
            </a:r>
            <a:r>
              <a:rPr lang="en-US" sz="1900" dirty="0" err="1"/>
              <a:t>quy</a:t>
            </a:r>
            <a:r>
              <a:rPr lang="en-US" sz="1900" dirty="0"/>
              <a:t> </a:t>
            </a:r>
            <a:r>
              <a:rPr lang="en-US" sz="1900" dirty="0" err="1"/>
              <a:t>trình</a:t>
            </a:r>
            <a:r>
              <a:rPr lang="en-US" sz="1900" dirty="0"/>
              <a:t> </a:t>
            </a:r>
            <a:r>
              <a:rPr lang="en-US" sz="1900" dirty="0" err="1"/>
              <a:t>định</a:t>
            </a:r>
            <a:r>
              <a:rPr lang="en-US" sz="1900" dirty="0"/>
              <a:t> </a:t>
            </a:r>
            <a:r>
              <a:rPr lang="en-US" sz="1900" dirty="0" err="1"/>
              <a:t>tính</a:t>
            </a:r>
            <a:r>
              <a:rPr lang="en-US" sz="1900" dirty="0"/>
              <a:t> – </a:t>
            </a:r>
            <a:r>
              <a:rPr lang="en-US" sz="1900" dirty="0" err="1"/>
              <a:t>Phân</a:t>
            </a:r>
            <a:r>
              <a:rPr lang="en-US" sz="1900" dirty="0"/>
              <a:t> </a:t>
            </a:r>
            <a:r>
              <a:rPr lang="en-US" sz="1900" dirty="0" err="1"/>
              <a:t>tích</a:t>
            </a:r>
            <a:r>
              <a:rPr lang="en-US" sz="1900" dirty="0"/>
              <a:t> </a:t>
            </a:r>
            <a:r>
              <a:rPr lang="en-US" sz="1900" dirty="0" err="1"/>
              <a:t>giá</a:t>
            </a:r>
            <a:r>
              <a:rPr lang="en-US" sz="1900" dirty="0"/>
              <a:t> </a:t>
            </a:r>
            <a:r>
              <a:rPr lang="en-US" sz="1900" dirty="0" err="1"/>
              <a:t>trị</a:t>
            </a:r>
            <a:r>
              <a:rPr lang="en-US" sz="1900" dirty="0"/>
              <a:t> </a:t>
            </a:r>
            <a:r>
              <a:rPr lang="en-US" sz="1900" dirty="0" err="1"/>
              <a:t>gia</a:t>
            </a:r>
            <a:r>
              <a:rPr lang="en-US" sz="1900" dirty="0"/>
              <a:t> </a:t>
            </a:r>
            <a:r>
              <a:rPr lang="en-US" sz="1900" dirty="0" err="1"/>
              <a:t>tăng</a:t>
            </a:r>
            <a:endParaRPr lang="en-US" sz="1900" dirty="0"/>
          </a:p>
        </p:txBody>
      </p:sp>
      <p:sp>
        <p:nvSpPr>
          <p:cNvPr id="4" name="Google Shape;515;g3a6c8354d49_0_95">
            <a:extLst>
              <a:ext uri="{FF2B5EF4-FFF2-40B4-BE49-F238E27FC236}">
                <a16:creationId xmlns:a16="http://schemas.microsoft.com/office/drawing/2014/main" id="{5D16A54B-198A-4CD5-8E0A-28CA7C88949A}"/>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graphicFrame>
        <p:nvGraphicFramePr>
          <p:cNvPr id="5" name="Table 4">
            <a:extLst>
              <a:ext uri="{FF2B5EF4-FFF2-40B4-BE49-F238E27FC236}">
                <a16:creationId xmlns:a16="http://schemas.microsoft.com/office/drawing/2014/main" id="{B08814C1-7B91-4DF9-9E35-DB556A19D940}"/>
              </a:ext>
            </a:extLst>
          </p:cNvPr>
          <p:cNvGraphicFramePr>
            <a:graphicFrameLocks noGrp="1"/>
          </p:cNvGraphicFramePr>
          <p:nvPr>
            <p:extLst>
              <p:ext uri="{D42A27DB-BD31-4B8C-83A1-F6EECF244321}">
                <p14:modId xmlns:p14="http://schemas.microsoft.com/office/powerpoint/2010/main" val="4055815814"/>
              </p:ext>
            </p:extLst>
          </p:nvPr>
        </p:nvGraphicFramePr>
        <p:xfrm>
          <a:off x="2032001" y="1119716"/>
          <a:ext cx="8127999" cy="40538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73039279"/>
                    </a:ext>
                  </a:extLst>
                </a:gridCol>
                <a:gridCol w="2709333">
                  <a:extLst>
                    <a:ext uri="{9D8B030D-6E8A-4147-A177-3AD203B41FA5}">
                      <a16:colId xmlns:a16="http://schemas.microsoft.com/office/drawing/2014/main" val="2504941642"/>
                    </a:ext>
                  </a:extLst>
                </a:gridCol>
                <a:gridCol w="2709333">
                  <a:extLst>
                    <a:ext uri="{9D8B030D-6E8A-4147-A177-3AD203B41FA5}">
                      <a16:colId xmlns:a16="http://schemas.microsoft.com/office/drawing/2014/main" val="181512264"/>
                    </a:ext>
                  </a:extLst>
                </a:gridCol>
              </a:tblGrid>
              <a:tr h="370840">
                <a:tc>
                  <a:txBody>
                    <a:bodyPr/>
                    <a:lstStyle/>
                    <a:p>
                      <a:r>
                        <a:rPr lang="it-IT" sz="1600" b="1" dirty="0">
                          <a:latin typeface="Arial" panose="020B0604020202020204" pitchFamily="34" charset="0"/>
                          <a:cs typeface="Arial" panose="020B0604020202020204" pitchFamily="34" charset="0"/>
                        </a:rPr>
                        <a:t>VA – Giá trị gia tăng </a:t>
                      </a:r>
                      <a:endParaRPr lang="it-IT" sz="1600" dirty="0">
                        <a:latin typeface="Arial" panose="020B0604020202020204" pitchFamily="34" charset="0"/>
                        <a:cs typeface="Arial" panose="020B0604020202020204" pitchFamily="34" charset="0"/>
                      </a:endParaRPr>
                    </a:p>
                  </a:txBody>
                  <a:tcPr anchor="ctr"/>
                </a:tc>
                <a:tc>
                  <a:txBody>
                    <a:bodyPr/>
                    <a:lstStyle/>
                    <a:p>
                      <a:r>
                        <a:rPr lang="en-US" sz="1600" b="1" dirty="0">
                          <a:latin typeface="Arial" panose="020B0604020202020204" pitchFamily="34" charset="0"/>
                          <a:cs typeface="Arial" panose="020B0604020202020204" pitchFamily="34" charset="0"/>
                        </a:rPr>
                        <a:t>BVA – Gia </a:t>
                      </a:r>
                      <a:r>
                        <a:rPr lang="en-US" sz="1600" b="1" dirty="0" err="1">
                          <a:latin typeface="Arial" panose="020B0604020202020204" pitchFamily="34" charset="0"/>
                          <a:cs typeface="Arial" panose="020B0604020202020204" pitchFamily="34" charset="0"/>
                        </a:rPr>
                        <a:t>tăng</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giá</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trị</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kinh</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doanh</a:t>
                      </a:r>
                      <a:endParaRPr lang="en-US" sz="1600" dirty="0">
                        <a:latin typeface="Arial" panose="020B0604020202020204" pitchFamily="34" charset="0"/>
                        <a:cs typeface="Arial" panose="020B0604020202020204" pitchFamily="34" charset="0"/>
                      </a:endParaRPr>
                    </a:p>
                  </a:txBody>
                  <a:tcPr anchor="ctr"/>
                </a:tc>
                <a:tc>
                  <a:txBody>
                    <a:bodyPr/>
                    <a:lstStyle/>
                    <a:p>
                      <a:r>
                        <a:rPr lang="en-US" sz="1600" b="1" dirty="0">
                          <a:latin typeface="Arial" panose="020B0604020202020204" pitchFamily="34" charset="0"/>
                          <a:cs typeface="Arial" panose="020B0604020202020204" pitchFamily="34" charset="0"/>
                        </a:rPr>
                        <a:t>NVA – </a:t>
                      </a:r>
                      <a:r>
                        <a:rPr lang="en-US" sz="1600" b="1" dirty="0" err="1">
                          <a:latin typeface="Arial" panose="020B0604020202020204" pitchFamily="34" charset="0"/>
                          <a:cs typeface="Arial" panose="020B0604020202020204" pitchFamily="34" charset="0"/>
                        </a:rPr>
                        <a:t>Không</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tăng</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giá</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trị</a:t>
                      </a:r>
                      <a:endParaRPr lang="en-US"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116997739"/>
                  </a:ext>
                </a:extLst>
              </a:tr>
              <a:tr h="370840">
                <a:tc>
                  <a:txBody>
                    <a:bodyPr/>
                    <a:lstStyle/>
                    <a:p>
                      <a:r>
                        <a:rPr lang="vi-VN" sz="1600" dirty="0">
                          <a:latin typeface="Arial" panose="020B0604020202020204" pitchFamily="34" charset="0"/>
                          <a:cs typeface="Arial" panose="020B0604020202020204" pitchFamily="34" charset="0"/>
                        </a:rPr>
                        <a:t>Sàng lọc hồ sơ ứng viên</a:t>
                      </a:r>
                    </a:p>
                  </a:txBody>
                  <a:tcPr anchor="ctr"/>
                </a:tc>
                <a:tc>
                  <a:txBody>
                    <a:bodyPr/>
                    <a:lstStyle/>
                    <a:p>
                      <a:r>
                        <a:rPr lang="en-US" sz="1600" dirty="0" err="1">
                          <a:latin typeface="Arial" panose="020B0604020202020204" pitchFamily="34" charset="0"/>
                          <a:cs typeface="Arial" panose="020B0604020202020204" pitchFamily="34" charset="0"/>
                        </a:rPr>
                        <a:t>Tiếp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nhận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và</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xác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nhận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yêu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cầu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tuyển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dụng</a:t>
                      </a:r>
                      <a:endParaRPr lang="en-US" sz="1600" dirty="0">
                        <a:latin typeface="Arial" panose="020B0604020202020204" pitchFamily="34" charset="0"/>
                        <a:cs typeface="Arial" panose="020B0604020202020204" pitchFamily="34" charset="0"/>
                      </a:endParaRPr>
                    </a:p>
                  </a:txBody>
                  <a:tcPr anchor="ctr"/>
                </a:tc>
                <a:tc>
                  <a:txBody>
                    <a:bodyPr/>
                    <a:lstStyle/>
                    <a:p>
                      <a:r>
                        <a:rPr lang="en-US" sz="1600">
                          <a:latin typeface="Arial" panose="020B0604020202020204" pitchFamily="34" charset="0"/>
                          <a:cs typeface="Arial" panose="020B0604020202020204" pitchFamily="34" charset="0"/>
                        </a:rPr>
                        <a:t>Đọc/xem lại thông tin đã có</a:t>
                      </a:r>
                    </a:p>
                  </a:txBody>
                  <a:tcPr anchor="ctr"/>
                </a:tc>
                <a:extLst>
                  <a:ext uri="{0D108BD9-81ED-4DB2-BD59-A6C34878D82A}">
                    <a16:rowId xmlns:a16="http://schemas.microsoft.com/office/drawing/2014/main" val="2174071214"/>
                  </a:ext>
                </a:extLst>
              </a:tr>
              <a:tr h="370840">
                <a:tc>
                  <a:txBody>
                    <a:bodyPr/>
                    <a:lstStyle/>
                    <a:p>
                      <a:r>
                        <a:rPr lang="vi-VN" sz="1600" dirty="0">
                          <a:latin typeface="Arial" panose="020B0604020202020204" pitchFamily="34" charset="0"/>
                          <a:cs typeface="Arial" panose="020B0604020202020204" pitchFamily="34" charset="0"/>
                        </a:rPr>
                        <a:t>Sơ vấn và phỏng vấn ứng viên</a:t>
                      </a:r>
                    </a:p>
                  </a:txBody>
                  <a:tcPr anchor="ctr"/>
                </a:tc>
                <a:tc>
                  <a:txBody>
                    <a:bodyPr/>
                    <a:lstStyle/>
                    <a:p>
                      <a:r>
                        <a:rPr lang="en-US" sz="1600" dirty="0" err="1">
                          <a:latin typeface="Arial" panose="020B0604020202020204" pitchFamily="34" charset="0"/>
                          <a:cs typeface="Arial" panose="020B0604020202020204" pitchFamily="34" charset="0"/>
                        </a:rPr>
                        <a:t>Xem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xét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và</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phê</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duyệt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yêu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cầu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tuyển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dụng</a:t>
                      </a:r>
                      <a:endParaRPr lang="en-US" sz="1600" dirty="0">
                        <a:latin typeface="Arial" panose="020B0604020202020204" pitchFamily="34" charset="0"/>
                        <a:cs typeface="Arial" panose="020B0604020202020204" pitchFamily="34" charset="0"/>
                      </a:endParaRPr>
                    </a:p>
                  </a:txBody>
                  <a:tcPr anchor="ctr"/>
                </a:tc>
                <a:tc>
                  <a:txBody>
                    <a:bodyPr/>
                    <a:lstStyle/>
                    <a:p>
                      <a:r>
                        <a:rPr lang="en-US" sz="1600" dirty="0" err="1">
                          <a:latin typeface="Arial" panose="020B0604020202020204" pitchFamily="34" charset="0"/>
                          <a:cs typeface="Arial" panose="020B0604020202020204" pitchFamily="34" charset="0"/>
                        </a:rPr>
                        <a:t>Chuyển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giao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thông</a:t>
                      </a:r>
                      <a:r>
                        <a:rPr lang="en-US" sz="1600" dirty="0">
                          <a:latin typeface="Arial" panose="020B0604020202020204" pitchFamily="34" charset="0"/>
                          <a:cs typeface="Arial" panose="020B0604020202020204" pitchFamily="34" charset="0"/>
                        </a:rPr>
                        <a:t> tin </a:t>
                      </a:r>
                      <a:r>
                        <a:rPr lang="en-US" sz="1600" dirty="0" err="1">
                          <a:latin typeface="Arial" panose="020B0604020202020204" pitchFamily="34" charset="0"/>
                          <a:cs typeface="Arial" panose="020B0604020202020204" pitchFamily="34" charset="0"/>
                        </a:rPr>
                        <a:t>giữa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các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bộ</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phận</a:t>
                      </a:r>
                      <a:endParaRPr lang="en-US"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266611756"/>
                  </a:ext>
                </a:extLst>
              </a:tr>
              <a:tr h="370840">
                <a:tc>
                  <a:txBody>
                    <a:bodyPr/>
                    <a:lstStyle/>
                    <a:p>
                      <a:r>
                        <a:rPr lang="en-US" sz="1600" dirty="0" err="1">
                          <a:latin typeface="Arial" panose="020B0604020202020204" pitchFamily="34" charset="0"/>
                          <a:cs typeface="Arial" panose="020B0604020202020204" pitchFamily="34" charset="0"/>
                        </a:rPr>
                        <a:t>Đánh</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giá</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chuyên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môn</a:t>
                      </a:r>
                      <a:endParaRPr lang="en-US" sz="1600" dirty="0">
                        <a:latin typeface="Arial" panose="020B0604020202020204" pitchFamily="34" charset="0"/>
                        <a:cs typeface="Arial" panose="020B0604020202020204" pitchFamily="34" charset="0"/>
                      </a:endParaRPr>
                    </a:p>
                  </a:txBody>
                  <a:tcPr anchor="ctr"/>
                </a:tc>
                <a:tc>
                  <a:txBody>
                    <a:bodyPr/>
                    <a:lstStyle/>
                    <a:p>
                      <a:r>
                        <a:rPr lang="vi-VN" sz="1600" dirty="0">
                          <a:latin typeface="Arial" panose="020B0604020202020204" pitchFamily="34" charset="0"/>
                          <a:cs typeface="Arial" panose="020B0604020202020204" pitchFamily="34" charset="0"/>
                        </a:rPr>
                        <a:t>Ghi nhận/cập nhật hồ sơ trên ATS/HRM</a:t>
                      </a:r>
                    </a:p>
                  </a:txBody>
                  <a:tcPr anchor="ctr"/>
                </a:tc>
                <a:tc>
                  <a:txBody>
                    <a:bodyPr/>
                    <a:lstStyle/>
                    <a:p>
                      <a:r>
                        <a:rPr lang="en-US" sz="1600">
                          <a:latin typeface="Arial" panose="020B0604020202020204" pitchFamily="34" charset="0"/>
                          <a:cs typeface="Arial" panose="020B0604020202020204" pitchFamily="34" charset="0"/>
                        </a:rPr>
                        <a:t>Điều chỉnh lại yêu cầu tuyển dụng</a:t>
                      </a:r>
                    </a:p>
                  </a:txBody>
                  <a:tcPr anchor="ctr"/>
                </a:tc>
                <a:extLst>
                  <a:ext uri="{0D108BD9-81ED-4DB2-BD59-A6C34878D82A}">
                    <a16:rowId xmlns:a16="http://schemas.microsoft.com/office/drawing/2014/main" val="2512225516"/>
                  </a:ext>
                </a:extLst>
              </a:tr>
              <a:tr h="370840">
                <a:tc>
                  <a:txBody>
                    <a:bodyPr/>
                    <a:lstStyle/>
                    <a:p>
                      <a:r>
                        <a:rPr lang="en-US" sz="1600" dirty="0" err="1">
                          <a:latin typeface="Arial" panose="020B0604020202020204" pitchFamily="34" charset="0"/>
                          <a:cs typeface="Arial" panose="020B0604020202020204" pitchFamily="34" charset="0"/>
                        </a:rPr>
                        <a:t>Thỏa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thuận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điều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kiện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làm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việc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và</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gửi</a:t>
                      </a:r>
                      <a:r>
                        <a:rPr lang="en-US" sz="1600" dirty="0">
                          <a:latin typeface="Arial" panose="020B0604020202020204" pitchFamily="34" charset="0"/>
                          <a:cs typeface="Arial" panose="020B0604020202020204" pitchFamily="34" charset="0"/>
                        </a:rPr>
                        <a:t> offer</a:t>
                      </a:r>
                    </a:p>
                  </a:txBody>
                  <a:tcPr anchor="ctr"/>
                </a:tc>
                <a:tc>
                  <a:txBody>
                    <a:bodyPr/>
                    <a:lstStyle/>
                    <a:p>
                      <a:r>
                        <a:rPr lang="en-US" sz="1600">
                          <a:latin typeface="Arial" panose="020B0604020202020204" pitchFamily="34" charset="0"/>
                          <a:cs typeface="Arial" panose="020B0604020202020204" pitchFamily="34" charset="0"/>
                        </a:rPr>
                        <a:t>Phê duyệt kết quả tuyển dụng</a:t>
                      </a:r>
                    </a:p>
                  </a:txBody>
                  <a:tcPr anchor="ctr"/>
                </a:tc>
                <a:tc>
                  <a:txBody>
                    <a:bodyPr/>
                    <a:lstStyle/>
                    <a:p>
                      <a:r>
                        <a:rPr lang="en-US" sz="1600" dirty="0" err="1">
                          <a:latin typeface="Arial" panose="020B0604020202020204" pitchFamily="34" charset="0"/>
                          <a:cs typeface="Arial" panose="020B0604020202020204" pitchFamily="34" charset="0"/>
                        </a:rPr>
                        <a:t>Cập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nhật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lặp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lại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cùng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một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thông</a:t>
                      </a:r>
                      <a:r>
                        <a:rPr lang="en-US" sz="1600" dirty="0">
                          <a:latin typeface="Arial" panose="020B0604020202020204" pitchFamily="34" charset="0"/>
                          <a:cs typeface="Arial" panose="020B0604020202020204" pitchFamily="34" charset="0"/>
                        </a:rPr>
                        <a:t> tin</a:t>
                      </a:r>
                    </a:p>
                  </a:txBody>
                  <a:tcPr anchor="ctr"/>
                </a:tc>
                <a:extLst>
                  <a:ext uri="{0D108BD9-81ED-4DB2-BD59-A6C34878D82A}">
                    <a16:rowId xmlns:a16="http://schemas.microsoft.com/office/drawing/2014/main" val="1261580878"/>
                  </a:ext>
                </a:extLst>
              </a:tr>
              <a:tr h="370840">
                <a:tc>
                  <a:txBody>
                    <a:bodyPr/>
                    <a:lstStyle/>
                    <a:p>
                      <a:r>
                        <a:rPr lang="en-US" sz="1600" dirty="0">
                          <a:latin typeface="Arial" panose="020B0604020202020204" pitchFamily="34" charset="0"/>
                          <a:cs typeface="Arial" panose="020B0604020202020204" pitchFamily="34" charset="0"/>
                        </a:rPr>
                        <a:t>Onboarding </a:t>
                      </a:r>
                      <a:r>
                        <a:rPr lang="en-US" sz="1600" dirty="0" err="1">
                          <a:latin typeface="Arial" panose="020B0604020202020204" pitchFamily="34" charset="0"/>
                          <a:cs typeface="Arial" panose="020B0604020202020204" pitchFamily="34" charset="0"/>
                        </a:rPr>
                        <a:t>nhân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viên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mới</a:t>
                      </a:r>
                      <a:endParaRPr lang="en-US" sz="1600" dirty="0">
                        <a:latin typeface="Arial" panose="020B0604020202020204" pitchFamily="34" charset="0"/>
                        <a:cs typeface="Arial" panose="020B0604020202020204" pitchFamily="34" charset="0"/>
                      </a:endParaRPr>
                    </a:p>
                  </a:txBody>
                  <a:tcPr anchor="ctr"/>
                </a:tc>
                <a:tc>
                  <a:txBody>
                    <a:bodyPr/>
                    <a:lstStyle/>
                    <a:p>
                      <a:r>
                        <a:rPr lang="vi-VN" sz="1600" dirty="0">
                          <a:latin typeface="Arial" panose="020B0604020202020204" pitchFamily="34" charset="0"/>
                          <a:cs typeface="Arial" panose="020B0604020202020204" pitchFamily="34" charset="0"/>
                        </a:rPr>
                        <a:t>Chuẩn bị tài khoản, thiết bị, hồ sơ nhận việc</a:t>
                      </a:r>
                    </a:p>
                  </a:txBody>
                  <a:tcPr anchor="ctr"/>
                </a:tc>
                <a:tc>
                  <a:txBody>
                    <a:bodyPr/>
                    <a:lstStyle/>
                    <a:p>
                      <a:r>
                        <a:rPr lang="vi-VN" sz="1600" dirty="0">
                          <a:latin typeface="Arial" panose="020B0604020202020204" pitchFamily="34" charset="0"/>
                          <a:cs typeface="Arial" panose="020B0604020202020204" pitchFamily="34" charset="0"/>
                        </a:rPr>
                        <a:t>Xử lý lại do thông tin chưa đầy đủ/chưa thống nhất</a:t>
                      </a:r>
                    </a:p>
                  </a:txBody>
                  <a:tcPr anchor="ctr"/>
                </a:tc>
                <a:extLst>
                  <a:ext uri="{0D108BD9-81ED-4DB2-BD59-A6C34878D82A}">
                    <a16:rowId xmlns:a16="http://schemas.microsoft.com/office/drawing/2014/main" val="1905996928"/>
                  </a:ext>
                </a:extLst>
              </a:tr>
              <a:tr h="370840">
                <a:tc>
                  <a:txBody>
                    <a:bodyPr/>
                    <a:lstStyle/>
                    <a:p>
                      <a:r>
                        <a:rPr lang="en-US" sz="1600" dirty="0" err="1">
                          <a:latin typeface="Arial" panose="020B0604020202020204" pitchFamily="34" charset="0"/>
                          <a:cs typeface="Arial" panose="020B0604020202020204" pitchFamily="34" charset="0"/>
                        </a:rPr>
                        <a:t>Phân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bổ</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nhân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vào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phòng</a:t>
                      </a:r>
                      <a:r>
                        <a:rPr lang="en-US" sz="1600" dirty="0">
                          <a:latin typeface="Arial" panose="020B0604020202020204" pitchFamily="34" charset="0"/>
                          <a:cs typeface="Arial" panose="020B0604020202020204" pitchFamily="34" charset="0"/>
                        </a:rPr>
                        <a:t> ban/</a:t>
                      </a:r>
                      <a:r>
                        <a:rPr lang="en-US" sz="1600" dirty="0" err="1">
                          <a:latin typeface="Arial" panose="020B0604020202020204" pitchFamily="34" charset="0"/>
                          <a:cs typeface="Arial" panose="020B0604020202020204" pitchFamily="34" charset="0"/>
                        </a:rPr>
                        <a:t>dự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án</a:t>
                      </a:r>
                      <a:endParaRPr lang="en-US" sz="1600" dirty="0">
                        <a:latin typeface="Arial" panose="020B0604020202020204" pitchFamily="34" charset="0"/>
                        <a:cs typeface="Arial" panose="020B0604020202020204" pitchFamily="34" charset="0"/>
                      </a:endParaRPr>
                    </a:p>
                  </a:txBody>
                  <a:tcPr anchor="ctr"/>
                </a:tc>
                <a:tc>
                  <a:txBody>
                    <a:bodyPr/>
                    <a:lstStyle/>
                    <a:p>
                      <a:r>
                        <a:rPr lang="vi-VN" sz="1600" dirty="0">
                          <a:latin typeface="Arial" panose="020B0604020202020204" pitchFamily="34" charset="0"/>
                          <a:cs typeface="Arial" panose="020B0604020202020204" pitchFamily="34" charset="0"/>
                        </a:rPr>
                        <a:t>Lưu trữ hồ sơ và trạng thái nhân sự</a:t>
                      </a:r>
                    </a:p>
                  </a:txBody>
                  <a:tcPr anchor="ctr"/>
                </a:tc>
                <a:tc>
                  <a:txBody>
                    <a:bodyPr/>
                    <a:lstStyle/>
                    <a:p>
                      <a:endParaRPr lang="en-US"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777343851"/>
                  </a:ext>
                </a:extLst>
              </a:tr>
            </a:tbl>
          </a:graphicData>
        </a:graphic>
      </p:graphicFrame>
      <p:sp>
        <p:nvSpPr>
          <p:cNvPr id="6" name="TextBox 5">
            <a:extLst>
              <a:ext uri="{FF2B5EF4-FFF2-40B4-BE49-F238E27FC236}">
                <a16:creationId xmlns:a16="http://schemas.microsoft.com/office/drawing/2014/main" id="{39204037-E866-46C9-B35E-C559CBF8D8D1}"/>
              </a:ext>
            </a:extLst>
          </p:cNvPr>
          <p:cNvSpPr txBox="1"/>
          <p:nvPr/>
        </p:nvSpPr>
        <p:spPr>
          <a:xfrm>
            <a:off x="1428750" y="5276850"/>
            <a:ext cx="9334500" cy="646331"/>
          </a:xfrm>
          <a:prstGeom prst="rect">
            <a:avLst/>
          </a:prstGeom>
          <a:noFill/>
        </p:spPr>
        <p:txBody>
          <a:bodyPr wrap="square" rtlCol="0">
            <a:spAutoFit/>
          </a:bodyPr>
          <a:lstStyle/>
          <a:p>
            <a:pPr algn="just"/>
            <a:r>
              <a:rPr lang="en-US" dirty="0"/>
              <a:t>VA </a:t>
            </a:r>
            <a:r>
              <a:rPr lang="en-US" dirty="0" err="1"/>
              <a:t>tập</a:t>
            </a:r>
            <a:r>
              <a:rPr lang="en-US" dirty="0"/>
              <a:t> </a:t>
            </a:r>
            <a:r>
              <a:rPr lang="en-US" dirty="0" err="1"/>
              <a:t>trung</a:t>
            </a:r>
            <a:r>
              <a:rPr lang="en-US" dirty="0"/>
              <a:t> ở </a:t>
            </a:r>
            <a:r>
              <a:rPr lang="en-US" dirty="0" err="1"/>
              <a:t>tuyển</a:t>
            </a:r>
            <a:r>
              <a:rPr lang="en-US" dirty="0"/>
              <a:t> </a:t>
            </a:r>
            <a:r>
              <a:rPr lang="en-US" dirty="0" err="1"/>
              <a:t>chọn</a:t>
            </a:r>
            <a:r>
              <a:rPr lang="en-US" dirty="0"/>
              <a:t>, </a:t>
            </a:r>
            <a:r>
              <a:rPr lang="en-US" dirty="0" err="1"/>
              <a:t>đánh</a:t>
            </a:r>
            <a:r>
              <a:rPr lang="en-US" dirty="0"/>
              <a:t> </a:t>
            </a:r>
            <a:r>
              <a:rPr lang="en-US" dirty="0" err="1"/>
              <a:t>giá</a:t>
            </a:r>
            <a:r>
              <a:rPr lang="en-US" dirty="0"/>
              <a:t>, </a:t>
            </a:r>
            <a:r>
              <a:rPr lang="en-US" dirty="0" err="1"/>
              <a:t>tiếp</a:t>
            </a:r>
            <a:r>
              <a:rPr lang="en-US" dirty="0"/>
              <a:t> </a:t>
            </a:r>
            <a:r>
              <a:rPr lang="en-US" dirty="0" err="1"/>
              <a:t>nhận</a:t>
            </a:r>
            <a:r>
              <a:rPr lang="en-US" dirty="0"/>
              <a:t> </a:t>
            </a:r>
            <a:r>
              <a:rPr lang="en-US" dirty="0" err="1"/>
              <a:t>và</a:t>
            </a:r>
            <a:r>
              <a:rPr lang="en-US" dirty="0"/>
              <a:t> </a:t>
            </a:r>
            <a:r>
              <a:rPr lang="en-US" dirty="0" err="1"/>
              <a:t>phân</a:t>
            </a:r>
            <a:r>
              <a:rPr lang="en-US" dirty="0"/>
              <a:t> </a:t>
            </a:r>
            <a:r>
              <a:rPr lang="en-US" dirty="0" err="1"/>
              <a:t>bổ</a:t>
            </a:r>
            <a:r>
              <a:rPr lang="en-US" dirty="0"/>
              <a:t> </a:t>
            </a:r>
            <a:r>
              <a:rPr lang="en-US" dirty="0" err="1"/>
              <a:t>nhân</a:t>
            </a:r>
            <a:r>
              <a:rPr lang="en-US" dirty="0"/>
              <a:t> </a:t>
            </a:r>
            <a:r>
              <a:rPr lang="en-US" dirty="0" err="1"/>
              <a:t>sự</a:t>
            </a:r>
            <a:r>
              <a:rPr lang="en-US" dirty="0"/>
              <a:t>; BVA </a:t>
            </a:r>
            <a:r>
              <a:rPr lang="en-US" dirty="0" err="1"/>
              <a:t>phục</a:t>
            </a:r>
            <a:r>
              <a:rPr lang="en-US" dirty="0"/>
              <a:t> </a:t>
            </a:r>
            <a:r>
              <a:rPr lang="en-US" dirty="0" err="1"/>
              <a:t>vụ</a:t>
            </a:r>
            <a:r>
              <a:rPr lang="en-US" dirty="0"/>
              <a:t> </a:t>
            </a:r>
            <a:r>
              <a:rPr lang="en-US" dirty="0" err="1"/>
              <a:t>kiểm</a:t>
            </a:r>
            <a:r>
              <a:rPr lang="en-US" dirty="0"/>
              <a:t> </a:t>
            </a:r>
            <a:r>
              <a:rPr lang="en-US" dirty="0" err="1"/>
              <a:t>soát</a:t>
            </a:r>
            <a:r>
              <a:rPr lang="en-US" dirty="0"/>
              <a:t> </a:t>
            </a:r>
            <a:r>
              <a:rPr lang="en-US" dirty="0" err="1"/>
              <a:t>và</a:t>
            </a:r>
            <a:r>
              <a:rPr lang="en-US" dirty="0"/>
              <a:t> </a:t>
            </a:r>
            <a:r>
              <a:rPr lang="en-US" dirty="0" err="1"/>
              <a:t>vận</a:t>
            </a:r>
            <a:r>
              <a:rPr lang="en-US" dirty="0"/>
              <a:t> </a:t>
            </a:r>
            <a:r>
              <a:rPr lang="en-US" dirty="0" err="1"/>
              <a:t>hành</a:t>
            </a:r>
            <a:r>
              <a:rPr lang="en-US" dirty="0"/>
              <a:t>; NVA </a:t>
            </a:r>
            <a:r>
              <a:rPr lang="en-US" dirty="0" err="1"/>
              <a:t>chủ</a:t>
            </a:r>
            <a:r>
              <a:rPr lang="en-US" dirty="0"/>
              <a:t> </a:t>
            </a:r>
            <a:r>
              <a:rPr lang="en-US" dirty="0" err="1"/>
              <a:t>yếu</a:t>
            </a:r>
            <a:r>
              <a:rPr lang="en-US" dirty="0"/>
              <a:t> </a:t>
            </a:r>
            <a:r>
              <a:rPr lang="en-US" dirty="0" err="1"/>
              <a:t>phát</a:t>
            </a:r>
            <a:r>
              <a:rPr lang="en-US" dirty="0"/>
              <a:t> </a:t>
            </a:r>
            <a:r>
              <a:rPr lang="en-US" dirty="0" err="1"/>
              <a:t>sinh</a:t>
            </a:r>
            <a:r>
              <a:rPr lang="en-US" dirty="0"/>
              <a:t> </a:t>
            </a:r>
            <a:r>
              <a:rPr lang="en-US" dirty="0" err="1"/>
              <a:t>từ</a:t>
            </a:r>
            <a:r>
              <a:rPr lang="en-US" dirty="0"/>
              <a:t> </a:t>
            </a:r>
            <a:r>
              <a:rPr lang="en-US" dirty="0" err="1"/>
              <a:t>đọc</a:t>
            </a:r>
            <a:r>
              <a:rPr lang="en-US" dirty="0"/>
              <a:t> </a:t>
            </a:r>
            <a:r>
              <a:rPr lang="en-US" dirty="0" err="1"/>
              <a:t>lại</a:t>
            </a:r>
            <a:r>
              <a:rPr lang="en-US" dirty="0"/>
              <a:t>, </a:t>
            </a:r>
            <a:r>
              <a:rPr lang="en-US" dirty="0" err="1"/>
              <a:t>chuyển</a:t>
            </a:r>
            <a:r>
              <a:rPr lang="en-US" dirty="0"/>
              <a:t> </a:t>
            </a:r>
            <a:r>
              <a:rPr lang="en-US" dirty="0" err="1"/>
              <a:t>giao</a:t>
            </a:r>
            <a:r>
              <a:rPr lang="en-US" dirty="0"/>
              <a:t> </a:t>
            </a:r>
            <a:r>
              <a:rPr lang="en-US" dirty="0" err="1"/>
              <a:t>và</a:t>
            </a:r>
            <a:r>
              <a:rPr lang="en-US" dirty="0"/>
              <a:t> </a:t>
            </a:r>
            <a:r>
              <a:rPr lang="en-US" dirty="0" err="1"/>
              <a:t>xử</a:t>
            </a:r>
            <a:r>
              <a:rPr lang="en-US" dirty="0"/>
              <a:t> </a:t>
            </a:r>
            <a:r>
              <a:rPr lang="en-US" dirty="0" err="1"/>
              <a:t>lý</a:t>
            </a:r>
            <a:r>
              <a:rPr lang="en-US" dirty="0"/>
              <a:t> </a:t>
            </a:r>
            <a:r>
              <a:rPr lang="en-US" dirty="0" err="1"/>
              <a:t>lặp</a:t>
            </a:r>
            <a:r>
              <a:rPr lang="en-US" dirty="0"/>
              <a:t>.</a:t>
            </a:r>
          </a:p>
        </p:txBody>
      </p:sp>
    </p:spTree>
    <p:extLst>
      <p:ext uri="{BB962C8B-B14F-4D97-AF65-F5344CB8AC3E}">
        <p14:creationId xmlns:p14="http://schemas.microsoft.com/office/powerpoint/2010/main" val="3214598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12;g3a6c8354d49_0_95">
            <a:extLst>
              <a:ext uri="{FF2B5EF4-FFF2-40B4-BE49-F238E27FC236}">
                <a16:creationId xmlns:a16="http://schemas.microsoft.com/office/drawing/2014/main" id="{3597DA29-81C9-44B2-8C72-53B1EF731E00}"/>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5" name="Google Shape;513;g3a6c8354d49_0_95">
            <a:extLst>
              <a:ext uri="{FF2B5EF4-FFF2-40B4-BE49-F238E27FC236}">
                <a16:creationId xmlns:a16="http://schemas.microsoft.com/office/drawing/2014/main" id="{13614BBC-8336-46FD-A68A-7B7818B7AAD6}"/>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None/>
            </a:pPr>
            <a:r>
              <a:rPr lang="en-US" sz="1900" dirty="0" err="1"/>
              <a:t>Phân</a:t>
            </a:r>
            <a:r>
              <a:rPr lang="en-US" sz="1900" dirty="0"/>
              <a:t> </a:t>
            </a:r>
            <a:r>
              <a:rPr lang="en-US" sz="1900" dirty="0" err="1"/>
              <a:t>tích</a:t>
            </a:r>
            <a:r>
              <a:rPr lang="en-US" sz="1900" dirty="0"/>
              <a:t> </a:t>
            </a:r>
            <a:r>
              <a:rPr lang="en-US" sz="1900" dirty="0" err="1"/>
              <a:t>quy</a:t>
            </a:r>
            <a:r>
              <a:rPr lang="en-US" sz="1900" dirty="0"/>
              <a:t> </a:t>
            </a:r>
            <a:r>
              <a:rPr lang="en-US" sz="1900" dirty="0" err="1"/>
              <a:t>trình</a:t>
            </a:r>
            <a:r>
              <a:rPr lang="en-US" sz="1900" dirty="0"/>
              <a:t> </a:t>
            </a:r>
            <a:r>
              <a:rPr lang="en-US" sz="1900" dirty="0" err="1"/>
              <a:t>định</a:t>
            </a:r>
            <a:r>
              <a:rPr lang="en-US" sz="1900" dirty="0"/>
              <a:t> </a:t>
            </a:r>
            <a:r>
              <a:rPr lang="en-US" sz="1900" dirty="0" err="1"/>
              <a:t>tính</a:t>
            </a:r>
            <a:r>
              <a:rPr lang="en-US" sz="1900" dirty="0"/>
              <a:t> – </a:t>
            </a:r>
            <a:r>
              <a:rPr lang="en-US" sz="1900" dirty="0" err="1"/>
              <a:t>Phân</a:t>
            </a:r>
            <a:r>
              <a:rPr lang="en-US" sz="1900" dirty="0"/>
              <a:t> </a:t>
            </a:r>
            <a:r>
              <a:rPr lang="en-US" sz="1900" dirty="0" err="1"/>
              <a:t>tích</a:t>
            </a:r>
            <a:r>
              <a:rPr lang="en-US" sz="1900" dirty="0"/>
              <a:t> </a:t>
            </a:r>
            <a:r>
              <a:rPr lang="en-US" sz="1900" dirty="0" err="1"/>
              <a:t>sự</a:t>
            </a:r>
            <a:r>
              <a:rPr lang="en-US" sz="1900" dirty="0"/>
              <a:t> </a:t>
            </a:r>
            <a:r>
              <a:rPr lang="en-US" sz="1900" dirty="0" err="1"/>
              <a:t>lãng</a:t>
            </a:r>
            <a:r>
              <a:rPr lang="en-US" sz="1900" dirty="0"/>
              <a:t> </a:t>
            </a:r>
            <a:r>
              <a:rPr lang="en-US" sz="1900" dirty="0" err="1"/>
              <a:t>phí</a:t>
            </a:r>
            <a:endParaRPr lang="en-US" sz="1900" dirty="0"/>
          </a:p>
        </p:txBody>
      </p:sp>
      <p:sp>
        <p:nvSpPr>
          <p:cNvPr id="6" name="Google Shape;515;g3a6c8354d49_0_95">
            <a:extLst>
              <a:ext uri="{FF2B5EF4-FFF2-40B4-BE49-F238E27FC236}">
                <a16:creationId xmlns:a16="http://schemas.microsoft.com/office/drawing/2014/main" id="{DE779017-7AE3-4B6E-ADFB-77773A70831F}"/>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pic>
        <p:nvPicPr>
          <p:cNvPr id="10" name="Picture 9">
            <a:extLst>
              <a:ext uri="{FF2B5EF4-FFF2-40B4-BE49-F238E27FC236}">
                <a16:creationId xmlns:a16="http://schemas.microsoft.com/office/drawing/2014/main" id="{55CACA08-D86E-4444-86AD-886885DB42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34" y="1090631"/>
            <a:ext cx="11991533" cy="5319694"/>
          </a:xfrm>
          <a:prstGeom prst="rect">
            <a:avLst/>
          </a:prstGeom>
        </p:spPr>
      </p:pic>
      <p:sp>
        <p:nvSpPr>
          <p:cNvPr id="11" name="TextBox 10">
            <a:extLst>
              <a:ext uri="{FF2B5EF4-FFF2-40B4-BE49-F238E27FC236}">
                <a16:creationId xmlns:a16="http://schemas.microsoft.com/office/drawing/2014/main" id="{B20E748C-9A54-47EC-B88B-3ABF9BB4C619}"/>
              </a:ext>
            </a:extLst>
          </p:cNvPr>
          <p:cNvSpPr txBox="1"/>
          <p:nvPr/>
        </p:nvSpPr>
        <p:spPr>
          <a:xfrm>
            <a:off x="4371975" y="6410325"/>
            <a:ext cx="3448050" cy="369332"/>
          </a:xfrm>
          <a:prstGeom prst="rect">
            <a:avLst/>
          </a:prstGeom>
          <a:noFill/>
        </p:spPr>
        <p:txBody>
          <a:bodyPr wrap="square" rtlCol="0">
            <a:spAutoFit/>
          </a:bodyPr>
          <a:lstStyle/>
          <a:p>
            <a:pPr algn="ctr"/>
            <a:r>
              <a:rPr lang="en-US" dirty="0" err="1"/>
              <a:t>Hình</a:t>
            </a:r>
            <a:r>
              <a:rPr lang="en-US" dirty="0"/>
              <a:t> 4. </a:t>
            </a:r>
            <a:r>
              <a:rPr lang="en-US" dirty="0" err="1"/>
              <a:t>Phân</a:t>
            </a:r>
            <a:r>
              <a:rPr lang="en-US" dirty="0"/>
              <a:t> </a:t>
            </a:r>
            <a:r>
              <a:rPr lang="en-US" dirty="0" err="1"/>
              <a:t>tích</a:t>
            </a:r>
            <a:r>
              <a:rPr lang="en-US" dirty="0"/>
              <a:t> </a:t>
            </a:r>
            <a:r>
              <a:rPr lang="en-US" dirty="0" err="1"/>
              <a:t>sự</a:t>
            </a:r>
            <a:r>
              <a:rPr lang="en-US" dirty="0"/>
              <a:t> </a:t>
            </a:r>
            <a:r>
              <a:rPr lang="en-US" dirty="0" err="1"/>
              <a:t>lãng</a:t>
            </a:r>
            <a:r>
              <a:rPr lang="en-US" dirty="0"/>
              <a:t> </a:t>
            </a:r>
            <a:r>
              <a:rPr lang="en-US" dirty="0" err="1"/>
              <a:t>phí</a:t>
            </a:r>
            <a:endParaRPr lang="en-US" dirty="0"/>
          </a:p>
        </p:txBody>
      </p:sp>
    </p:spTree>
    <p:extLst>
      <p:ext uri="{BB962C8B-B14F-4D97-AF65-F5344CB8AC3E}">
        <p14:creationId xmlns:p14="http://schemas.microsoft.com/office/powerpoint/2010/main" val="3159845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A601590-06D9-49E5-8C30-7672571ABD28}"/>
              </a:ext>
            </a:extLst>
          </p:cNvPr>
          <p:cNvGraphicFramePr>
            <a:graphicFrameLocks noGrp="1"/>
          </p:cNvGraphicFramePr>
          <p:nvPr>
            <p:extLst>
              <p:ext uri="{D42A27DB-BD31-4B8C-83A1-F6EECF244321}">
                <p14:modId xmlns:p14="http://schemas.microsoft.com/office/powerpoint/2010/main" val="3301308153"/>
              </p:ext>
            </p:extLst>
          </p:nvPr>
        </p:nvGraphicFramePr>
        <p:xfrm>
          <a:off x="2032001" y="1193800"/>
          <a:ext cx="8127999" cy="39370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79010964"/>
                    </a:ext>
                  </a:extLst>
                </a:gridCol>
                <a:gridCol w="2709333">
                  <a:extLst>
                    <a:ext uri="{9D8B030D-6E8A-4147-A177-3AD203B41FA5}">
                      <a16:colId xmlns:a16="http://schemas.microsoft.com/office/drawing/2014/main" val="1595203413"/>
                    </a:ext>
                  </a:extLst>
                </a:gridCol>
                <a:gridCol w="2709333">
                  <a:extLst>
                    <a:ext uri="{9D8B030D-6E8A-4147-A177-3AD203B41FA5}">
                      <a16:colId xmlns:a16="http://schemas.microsoft.com/office/drawing/2014/main" val="208190648"/>
                    </a:ext>
                  </a:extLst>
                </a:gridCol>
              </a:tblGrid>
              <a:tr h="370840">
                <a:tc>
                  <a:txBody>
                    <a:bodyPr/>
                    <a:lstStyle/>
                    <a:p>
                      <a:r>
                        <a:rPr lang="en-US" dirty="0"/>
                        <a:t>MOVE – </a:t>
                      </a:r>
                      <a:r>
                        <a:rPr lang="en-US" dirty="0" err="1"/>
                        <a:t>Chuyển</a:t>
                      </a:r>
                      <a:r>
                        <a:rPr lang="en-US" dirty="0"/>
                        <a:t> </a:t>
                      </a:r>
                      <a:r>
                        <a:rPr lang="en-US" dirty="0" err="1"/>
                        <a:t>giao</a:t>
                      </a:r>
                      <a:endParaRPr lang="en-US" dirty="0"/>
                    </a:p>
                  </a:txBody>
                  <a:tcPr anchor="ctr"/>
                </a:tc>
                <a:tc>
                  <a:txBody>
                    <a:bodyPr/>
                    <a:lstStyle/>
                    <a:p>
                      <a:r>
                        <a:rPr lang="en-US"/>
                        <a:t>HOLD – Chờ</a:t>
                      </a:r>
                    </a:p>
                  </a:txBody>
                  <a:tcPr anchor="ctr"/>
                </a:tc>
                <a:tc>
                  <a:txBody>
                    <a:bodyPr/>
                    <a:lstStyle/>
                    <a:p>
                      <a:r>
                        <a:rPr lang="es-ES"/>
                        <a:t>OVERDO – Xử lý quá mức</a:t>
                      </a:r>
                    </a:p>
                  </a:txBody>
                  <a:tcPr anchor="ctr"/>
                </a:tc>
                <a:extLst>
                  <a:ext uri="{0D108BD9-81ED-4DB2-BD59-A6C34878D82A}">
                    <a16:rowId xmlns:a16="http://schemas.microsoft.com/office/drawing/2014/main" val="3602400711"/>
                  </a:ext>
                </a:extLst>
              </a:tr>
              <a:tr h="370840">
                <a:tc>
                  <a:txBody>
                    <a:bodyPr/>
                    <a:lstStyle/>
                    <a:p>
                      <a:r>
                        <a:rPr lang="vi-VN"/>
                        <a:t>Yêu cầu tuyển dụng được chuyển giữa bộ phận phát sinh nhu cầu, Nhân sự và cấp phê duyệt</a:t>
                      </a:r>
                    </a:p>
                  </a:txBody>
                  <a:tcPr anchor="ctr"/>
                </a:tc>
                <a:tc>
                  <a:txBody>
                    <a:bodyPr/>
                    <a:lstStyle/>
                    <a:p>
                      <a:r>
                        <a:rPr lang="en-US" dirty="0" err="1"/>
                        <a:t>Chờ</a:t>
                      </a:r>
                      <a:r>
                        <a:rPr lang="en-US" dirty="0"/>
                        <a:t> </a:t>
                      </a:r>
                      <a:r>
                        <a:rPr lang="en-US" dirty="0" err="1"/>
                        <a:t>xem</a:t>
                      </a:r>
                      <a:r>
                        <a:rPr lang="en-US" dirty="0"/>
                        <a:t> </a:t>
                      </a:r>
                      <a:r>
                        <a:rPr lang="en-US" dirty="0" err="1"/>
                        <a:t>xét</a:t>
                      </a:r>
                      <a:r>
                        <a:rPr lang="en-US" dirty="0"/>
                        <a:t>/</a:t>
                      </a:r>
                      <a:r>
                        <a:rPr lang="en-US" dirty="0" err="1"/>
                        <a:t>phê</a:t>
                      </a:r>
                      <a:r>
                        <a:rPr lang="en-US" dirty="0"/>
                        <a:t> </a:t>
                      </a:r>
                      <a:r>
                        <a:rPr lang="en-US" dirty="0" err="1"/>
                        <a:t>duyệt</a:t>
                      </a:r>
                      <a:r>
                        <a:rPr lang="en-US" dirty="0"/>
                        <a:t> </a:t>
                      </a:r>
                      <a:r>
                        <a:rPr lang="en-US" dirty="0" err="1"/>
                        <a:t>yêu</a:t>
                      </a:r>
                      <a:r>
                        <a:rPr lang="en-US" dirty="0"/>
                        <a:t> </a:t>
                      </a:r>
                      <a:r>
                        <a:rPr lang="en-US" dirty="0" err="1"/>
                        <a:t>cầu</a:t>
                      </a:r>
                      <a:r>
                        <a:rPr lang="en-US" dirty="0"/>
                        <a:t> </a:t>
                      </a:r>
                      <a:r>
                        <a:rPr lang="en-US" dirty="0" err="1"/>
                        <a:t>tuyển</a:t>
                      </a:r>
                      <a:r>
                        <a:rPr lang="en-US" dirty="0"/>
                        <a:t> </a:t>
                      </a:r>
                      <a:r>
                        <a:rPr lang="en-US" dirty="0" err="1"/>
                        <a:t>dụng</a:t>
                      </a:r>
                      <a:endParaRPr lang="en-US" dirty="0"/>
                    </a:p>
                  </a:txBody>
                  <a:tcPr anchor="ctr"/>
                </a:tc>
                <a:tc>
                  <a:txBody>
                    <a:bodyPr/>
                    <a:lstStyle/>
                    <a:p>
                      <a:r>
                        <a:rPr lang="en-US"/>
                        <a:t>Yêu cầu tuyển dụng không đạt phải điều chỉnh và xử lý lại</a:t>
                      </a:r>
                    </a:p>
                  </a:txBody>
                  <a:tcPr anchor="ctr"/>
                </a:tc>
                <a:extLst>
                  <a:ext uri="{0D108BD9-81ED-4DB2-BD59-A6C34878D82A}">
                    <a16:rowId xmlns:a16="http://schemas.microsoft.com/office/drawing/2014/main" val="1965742228"/>
                  </a:ext>
                </a:extLst>
              </a:tr>
              <a:tr h="370840">
                <a:tc>
                  <a:txBody>
                    <a:bodyPr/>
                    <a:lstStyle/>
                    <a:p>
                      <a:r>
                        <a:rPr lang="vi-VN" dirty="0"/>
                        <a:t>Kết quả đánh giá ứng viên chuyển qua các vòng sơ vấn, phỏng vấn và phê duyệt</a:t>
                      </a:r>
                    </a:p>
                  </a:txBody>
                  <a:tcPr anchor="ctr"/>
                </a:tc>
                <a:tc>
                  <a:txBody>
                    <a:bodyPr/>
                    <a:lstStyle/>
                    <a:p>
                      <a:r>
                        <a:rPr lang="vi-VN"/>
                        <a:t>Chờ ứng viên gửi hồ sơ, sắp xếp phỏng vấn, phản hồi offer</a:t>
                      </a:r>
                    </a:p>
                  </a:txBody>
                  <a:tcPr anchor="ctr"/>
                </a:tc>
                <a:tc>
                  <a:txBody>
                    <a:bodyPr/>
                    <a:lstStyle/>
                    <a:p>
                      <a:r>
                        <a:rPr lang="vi-VN"/>
                        <a:t>Hồ sơ/kết quả ứng viên được xem lại ở nhiều vòng đánh giá</a:t>
                      </a:r>
                    </a:p>
                  </a:txBody>
                  <a:tcPr anchor="ctr"/>
                </a:tc>
                <a:extLst>
                  <a:ext uri="{0D108BD9-81ED-4DB2-BD59-A6C34878D82A}">
                    <a16:rowId xmlns:a16="http://schemas.microsoft.com/office/drawing/2014/main" val="3002559334"/>
                  </a:ext>
                </a:extLst>
              </a:tr>
              <a:tr h="370840">
                <a:tc>
                  <a:txBody>
                    <a:bodyPr/>
                    <a:lstStyle/>
                    <a:p>
                      <a:r>
                        <a:rPr lang="vi-VN"/>
                        <a:t>Thông tin ứng viên được cập nhật trên ATS/HRM</a:t>
                      </a:r>
                    </a:p>
                  </a:txBody>
                  <a:tcPr anchor="ctr"/>
                </a:tc>
                <a:tc>
                  <a:txBody>
                    <a:bodyPr/>
                    <a:lstStyle/>
                    <a:p>
                      <a:r>
                        <a:rPr lang="vi-VN"/>
                        <a:t>Chờ hoàn thiện hồ sơ nhận việc</a:t>
                      </a:r>
                    </a:p>
                  </a:txBody>
                  <a:tcPr anchor="ctr"/>
                </a:tc>
                <a:tc>
                  <a:txBody>
                    <a:bodyPr/>
                    <a:lstStyle/>
                    <a:p>
                      <a:r>
                        <a:rPr lang="en-US" dirty="0" err="1"/>
                        <a:t>Khi</a:t>
                      </a:r>
                      <a:r>
                        <a:rPr lang="en-US" dirty="0"/>
                        <a:t> </a:t>
                      </a:r>
                      <a:r>
                        <a:rPr lang="en-US" dirty="0" err="1"/>
                        <a:t>ứng</a:t>
                      </a:r>
                      <a:r>
                        <a:rPr lang="en-US" dirty="0"/>
                        <a:t> </a:t>
                      </a:r>
                      <a:r>
                        <a:rPr lang="en-US" dirty="0" err="1"/>
                        <a:t>viên</a:t>
                      </a:r>
                      <a:r>
                        <a:rPr lang="en-US" dirty="0"/>
                        <a:t> </a:t>
                      </a:r>
                      <a:r>
                        <a:rPr lang="en-US" dirty="0" err="1"/>
                        <a:t>không</a:t>
                      </a:r>
                      <a:r>
                        <a:rPr lang="en-US" dirty="0"/>
                        <a:t> </a:t>
                      </a:r>
                      <a:r>
                        <a:rPr lang="en-US" dirty="0" err="1"/>
                        <a:t>chấp</a:t>
                      </a:r>
                      <a:r>
                        <a:rPr lang="en-US" dirty="0"/>
                        <a:t> </a:t>
                      </a:r>
                      <a:r>
                        <a:rPr lang="en-US" dirty="0" err="1"/>
                        <a:t>nhận</a:t>
                      </a:r>
                      <a:r>
                        <a:rPr lang="en-US" dirty="0"/>
                        <a:t> offer, </a:t>
                      </a:r>
                      <a:r>
                        <a:rPr lang="en-US" dirty="0" err="1"/>
                        <a:t>quy</a:t>
                      </a:r>
                      <a:r>
                        <a:rPr lang="en-US" dirty="0"/>
                        <a:t> </a:t>
                      </a:r>
                      <a:r>
                        <a:rPr lang="en-US" dirty="0" err="1"/>
                        <a:t>trình</a:t>
                      </a:r>
                      <a:r>
                        <a:rPr lang="en-US" dirty="0"/>
                        <a:t> quay </a:t>
                      </a:r>
                      <a:r>
                        <a:rPr lang="en-US" dirty="0" err="1"/>
                        <a:t>lại</a:t>
                      </a:r>
                      <a:r>
                        <a:rPr lang="en-US" dirty="0"/>
                        <a:t> </a:t>
                      </a:r>
                      <a:r>
                        <a:rPr lang="en-US" dirty="0" err="1"/>
                        <a:t>tìm</a:t>
                      </a:r>
                      <a:r>
                        <a:rPr lang="en-US" dirty="0"/>
                        <a:t> </a:t>
                      </a:r>
                      <a:r>
                        <a:rPr lang="en-US" dirty="0" err="1"/>
                        <a:t>kiếm</a:t>
                      </a:r>
                      <a:r>
                        <a:rPr lang="en-US" dirty="0"/>
                        <a:t>/</a:t>
                      </a:r>
                      <a:r>
                        <a:rPr lang="en-US" dirty="0" err="1"/>
                        <a:t>sàng</a:t>
                      </a:r>
                      <a:r>
                        <a:rPr lang="en-US" dirty="0"/>
                        <a:t> </a:t>
                      </a:r>
                      <a:r>
                        <a:rPr lang="en-US" dirty="0" err="1"/>
                        <a:t>lọc</a:t>
                      </a:r>
                      <a:endParaRPr lang="en-US" dirty="0"/>
                    </a:p>
                  </a:txBody>
                  <a:tcPr anchor="ctr"/>
                </a:tc>
                <a:extLst>
                  <a:ext uri="{0D108BD9-81ED-4DB2-BD59-A6C34878D82A}">
                    <a16:rowId xmlns:a16="http://schemas.microsoft.com/office/drawing/2014/main" val="1191542080"/>
                  </a:ext>
                </a:extLst>
              </a:tr>
            </a:tbl>
          </a:graphicData>
        </a:graphic>
      </p:graphicFrame>
      <p:sp>
        <p:nvSpPr>
          <p:cNvPr id="3" name="Google Shape;512;g3a6c8354d49_0_95">
            <a:extLst>
              <a:ext uri="{FF2B5EF4-FFF2-40B4-BE49-F238E27FC236}">
                <a16:creationId xmlns:a16="http://schemas.microsoft.com/office/drawing/2014/main" id="{B3E7B75E-093D-4DEC-94FC-7FEBD5AF0846}"/>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4" name="Google Shape;513;g3a6c8354d49_0_95">
            <a:extLst>
              <a:ext uri="{FF2B5EF4-FFF2-40B4-BE49-F238E27FC236}">
                <a16:creationId xmlns:a16="http://schemas.microsoft.com/office/drawing/2014/main" id="{E0C867ED-4151-444F-99D6-8C6A31A24EF7}"/>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None/>
            </a:pPr>
            <a:r>
              <a:rPr lang="en-US" sz="1900" dirty="0" err="1"/>
              <a:t>Phân</a:t>
            </a:r>
            <a:r>
              <a:rPr lang="en-US" sz="1900" dirty="0"/>
              <a:t> </a:t>
            </a:r>
            <a:r>
              <a:rPr lang="en-US" sz="1900" dirty="0" err="1"/>
              <a:t>tích</a:t>
            </a:r>
            <a:r>
              <a:rPr lang="en-US" sz="1900" dirty="0"/>
              <a:t> </a:t>
            </a:r>
            <a:r>
              <a:rPr lang="en-US" sz="1900" dirty="0" err="1"/>
              <a:t>quy</a:t>
            </a:r>
            <a:r>
              <a:rPr lang="en-US" sz="1900" dirty="0"/>
              <a:t> </a:t>
            </a:r>
            <a:r>
              <a:rPr lang="en-US" sz="1900" dirty="0" err="1"/>
              <a:t>trình</a:t>
            </a:r>
            <a:r>
              <a:rPr lang="en-US" sz="1900" dirty="0"/>
              <a:t> </a:t>
            </a:r>
            <a:r>
              <a:rPr lang="en-US" sz="1900" dirty="0" err="1"/>
              <a:t>định</a:t>
            </a:r>
            <a:r>
              <a:rPr lang="en-US" sz="1900" dirty="0"/>
              <a:t> </a:t>
            </a:r>
            <a:r>
              <a:rPr lang="en-US" sz="1900" dirty="0" err="1"/>
              <a:t>tính</a:t>
            </a:r>
            <a:r>
              <a:rPr lang="en-US" sz="1900" dirty="0"/>
              <a:t> – </a:t>
            </a:r>
            <a:r>
              <a:rPr lang="en-US" sz="1900" dirty="0" err="1"/>
              <a:t>Phân</a:t>
            </a:r>
            <a:r>
              <a:rPr lang="en-US" sz="1900" dirty="0"/>
              <a:t> </a:t>
            </a:r>
            <a:r>
              <a:rPr lang="en-US" sz="1900" dirty="0" err="1"/>
              <a:t>tích</a:t>
            </a:r>
            <a:r>
              <a:rPr lang="en-US" sz="1900" dirty="0"/>
              <a:t> </a:t>
            </a:r>
            <a:r>
              <a:rPr lang="en-US" sz="1900" dirty="0" err="1"/>
              <a:t>sự</a:t>
            </a:r>
            <a:r>
              <a:rPr lang="en-US" sz="1900" dirty="0"/>
              <a:t> </a:t>
            </a:r>
            <a:r>
              <a:rPr lang="en-US" sz="1900" dirty="0" err="1"/>
              <a:t>lãng</a:t>
            </a:r>
            <a:r>
              <a:rPr lang="en-US" sz="1900" dirty="0"/>
              <a:t> </a:t>
            </a:r>
            <a:r>
              <a:rPr lang="en-US" sz="1900" dirty="0" err="1"/>
              <a:t>phí</a:t>
            </a:r>
            <a:endParaRPr lang="en-US" sz="1900" dirty="0"/>
          </a:p>
        </p:txBody>
      </p:sp>
      <p:sp>
        <p:nvSpPr>
          <p:cNvPr id="5" name="Google Shape;515;g3a6c8354d49_0_95">
            <a:extLst>
              <a:ext uri="{FF2B5EF4-FFF2-40B4-BE49-F238E27FC236}">
                <a16:creationId xmlns:a16="http://schemas.microsoft.com/office/drawing/2014/main" id="{E3376F08-0B5A-4265-881E-7EBF310E26FE}"/>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sp>
        <p:nvSpPr>
          <p:cNvPr id="6" name="TextBox 5">
            <a:extLst>
              <a:ext uri="{FF2B5EF4-FFF2-40B4-BE49-F238E27FC236}">
                <a16:creationId xmlns:a16="http://schemas.microsoft.com/office/drawing/2014/main" id="{BE83B4DA-8DCB-4638-84B0-D690F83329FB}"/>
              </a:ext>
            </a:extLst>
          </p:cNvPr>
          <p:cNvSpPr txBox="1"/>
          <p:nvPr/>
        </p:nvSpPr>
        <p:spPr>
          <a:xfrm>
            <a:off x="1979416" y="5543550"/>
            <a:ext cx="8233168" cy="646331"/>
          </a:xfrm>
          <a:prstGeom prst="rect">
            <a:avLst/>
          </a:prstGeom>
          <a:noFill/>
        </p:spPr>
        <p:txBody>
          <a:bodyPr wrap="square" rtlCol="0">
            <a:spAutoFit/>
          </a:bodyPr>
          <a:lstStyle/>
          <a:p>
            <a:pPr algn="just"/>
            <a:r>
              <a:rPr lang="en-US" dirty="0" err="1"/>
              <a:t>Lãng</a:t>
            </a:r>
            <a:r>
              <a:rPr lang="en-US" dirty="0"/>
              <a:t> </a:t>
            </a:r>
            <a:r>
              <a:rPr lang="en-US" dirty="0" err="1"/>
              <a:t>phí</a:t>
            </a:r>
            <a:r>
              <a:rPr lang="en-US" dirty="0"/>
              <a:t> </a:t>
            </a:r>
            <a:r>
              <a:rPr lang="en-US" dirty="0" err="1"/>
              <a:t>tập</a:t>
            </a:r>
            <a:r>
              <a:rPr lang="en-US" dirty="0"/>
              <a:t> </a:t>
            </a:r>
            <a:r>
              <a:rPr lang="en-US" dirty="0" err="1"/>
              <a:t>trung</a:t>
            </a:r>
            <a:r>
              <a:rPr lang="en-US" dirty="0"/>
              <a:t> </a:t>
            </a:r>
            <a:r>
              <a:rPr lang="en-US" dirty="0" err="1"/>
              <a:t>chủ</a:t>
            </a:r>
            <a:r>
              <a:rPr lang="en-US" dirty="0"/>
              <a:t> </a:t>
            </a:r>
            <a:r>
              <a:rPr lang="en-US" dirty="0" err="1"/>
              <a:t>yếu</a:t>
            </a:r>
            <a:r>
              <a:rPr lang="en-US" dirty="0"/>
              <a:t> ở </a:t>
            </a:r>
            <a:r>
              <a:rPr lang="en-US" dirty="0" err="1"/>
              <a:t>thời</a:t>
            </a:r>
            <a:r>
              <a:rPr lang="en-US" dirty="0"/>
              <a:t> </a:t>
            </a:r>
            <a:r>
              <a:rPr lang="en-US" dirty="0" err="1"/>
              <a:t>gian</a:t>
            </a:r>
            <a:r>
              <a:rPr lang="en-US" dirty="0"/>
              <a:t> </a:t>
            </a:r>
            <a:r>
              <a:rPr lang="en-US" dirty="0" err="1"/>
              <a:t>chờ</a:t>
            </a:r>
            <a:r>
              <a:rPr lang="en-US" dirty="0"/>
              <a:t>, </a:t>
            </a:r>
            <a:r>
              <a:rPr lang="en-US" dirty="0" err="1"/>
              <a:t>chuyển</a:t>
            </a:r>
            <a:r>
              <a:rPr lang="en-US" dirty="0"/>
              <a:t> </a:t>
            </a:r>
            <a:r>
              <a:rPr lang="en-US" dirty="0" err="1"/>
              <a:t>giao</a:t>
            </a:r>
            <a:r>
              <a:rPr lang="en-US" dirty="0"/>
              <a:t> </a:t>
            </a:r>
            <a:r>
              <a:rPr lang="en-US" dirty="0" err="1"/>
              <a:t>thông</a:t>
            </a:r>
            <a:r>
              <a:rPr lang="en-US" dirty="0"/>
              <a:t> tin </a:t>
            </a:r>
            <a:r>
              <a:rPr lang="en-US" dirty="0" err="1"/>
              <a:t>giữa</a:t>
            </a:r>
            <a:r>
              <a:rPr lang="en-US" dirty="0"/>
              <a:t> </a:t>
            </a:r>
            <a:r>
              <a:rPr lang="en-US" dirty="0" err="1"/>
              <a:t>nhiều</a:t>
            </a:r>
            <a:r>
              <a:rPr lang="en-US" dirty="0"/>
              <a:t> </a:t>
            </a:r>
            <a:r>
              <a:rPr lang="en-US" dirty="0" err="1"/>
              <a:t>bên</a:t>
            </a:r>
            <a:r>
              <a:rPr lang="en-US" dirty="0"/>
              <a:t> </a:t>
            </a:r>
            <a:r>
              <a:rPr lang="en-US" dirty="0" err="1"/>
              <a:t>và</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phải</a:t>
            </a:r>
            <a:r>
              <a:rPr lang="en-US" dirty="0"/>
              <a:t> </a:t>
            </a:r>
            <a:r>
              <a:rPr lang="en-US" dirty="0" err="1"/>
              <a:t>xử</a:t>
            </a:r>
            <a:r>
              <a:rPr lang="en-US" dirty="0"/>
              <a:t> </a:t>
            </a:r>
            <a:r>
              <a:rPr lang="en-US" dirty="0" err="1"/>
              <a:t>lý</a:t>
            </a:r>
            <a:r>
              <a:rPr lang="en-US" dirty="0"/>
              <a:t> </a:t>
            </a:r>
            <a:r>
              <a:rPr lang="en-US" dirty="0" err="1"/>
              <a:t>lại</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tuyển</a:t>
            </a:r>
            <a:r>
              <a:rPr lang="en-US" dirty="0"/>
              <a:t> </a:t>
            </a:r>
            <a:r>
              <a:rPr lang="en-US" dirty="0" err="1"/>
              <a:t>dụng</a:t>
            </a:r>
            <a:r>
              <a:rPr lang="en-US" dirty="0"/>
              <a:t>.</a:t>
            </a:r>
          </a:p>
        </p:txBody>
      </p:sp>
    </p:spTree>
    <p:extLst>
      <p:ext uri="{BB962C8B-B14F-4D97-AF65-F5344CB8AC3E}">
        <p14:creationId xmlns:p14="http://schemas.microsoft.com/office/powerpoint/2010/main" val="2133763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12;g3a6c8354d49_0_95">
            <a:extLst>
              <a:ext uri="{FF2B5EF4-FFF2-40B4-BE49-F238E27FC236}">
                <a16:creationId xmlns:a16="http://schemas.microsoft.com/office/drawing/2014/main" id="{E0A8FBD1-C684-43D3-8EBF-0ED500F94CD4}"/>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3" name="Google Shape;513;g3a6c8354d49_0_95">
            <a:extLst>
              <a:ext uri="{FF2B5EF4-FFF2-40B4-BE49-F238E27FC236}">
                <a16:creationId xmlns:a16="http://schemas.microsoft.com/office/drawing/2014/main" id="{E2F1F5E5-F2F4-4A35-B9AA-A4B30B0F4FC7}"/>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None/>
            </a:pPr>
            <a:r>
              <a:rPr lang="en-US" sz="1900" dirty="0" err="1"/>
              <a:t>Phân</a:t>
            </a:r>
            <a:r>
              <a:rPr lang="en-US" sz="1900" dirty="0"/>
              <a:t> </a:t>
            </a:r>
            <a:r>
              <a:rPr lang="en-US" sz="1900" dirty="0" err="1"/>
              <a:t>tích</a:t>
            </a:r>
            <a:r>
              <a:rPr lang="en-US" sz="1900" dirty="0"/>
              <a:t> </a:t>
            </a:r>
            <a:r>
              <a:rPr lang="en-US" sz="1900" dirty="0" err="1"/>
              <a:t>quy</a:t>
            </a:r>
            <a:r>
              <a:rPr lang="en-US" sz="1900" dirty="0"/>
              <a:t> </a:t>
            </a:r>
            <a:r>
              <a:rPr lang="en-US" sz="1900" dirty="0" err="1"/>
              <a:t>trình</a:t>
            </a:r>
            <a:r>
              <a:rPr lang="en-US" sz="1900" dirty="0"/>
              <a:t> – </a:t>
            </a:r>
            <a:r>
              <a:rPr lang="en-US" sz="1900" dirty="0" err="1"/>
              <a:t>Phân</a:t>
            </a:r>
            <a:r>
              <a:rPr lang="en-US" sz="1900" dirty="0"/>
              <a:t> </a:t>
            </a:r>
            <a:r>
              <a:rPr lang="en-US" sz="1900" dirty="0" err="1"/>
              <a:t>tích</a:t>
            </a:r>
            <a:r>
              <a:rPr lang="en-US" sz="1900" dirty="0"/>
              <a:t> </a:t>
            </a:r>
            <a:r>
              <a:rPr lang="en-US" sz="1900" dirty="0" err="1"/>
              <a:t>các</a:t>
            </a:r>
            <a:r>
              <a:rPr lang="en-US" sz="1900" dirty="0"/>
              <a:t> </a:t>
            </a:r>
            <a:r>
              <a:rPr lang="en-US" sz="1900" dirty="0" err="1"/>
              <a:t>bên</a:t>
            </a:r>
            <a:r>
              <a:rPr lang="en-US" sz="1900" dirty="0"/>
              <a:t> </a:t>
            </a:r>
            <a:r>
              <a:rPr lang="en-US" sz="1900" dirty="0" err="1"/>
              <a:t>liên</a:t>
            </a:r>
            <a:r>
              <a:rPr lang="en-US" sz="1900" dirty="0"/>
              <a:t> </a:t>
            </a:r>
            <a:r>
              <a:rPr lang="en-US" sz="1900" dirty="0" err="1"/>
              <a:t>quan</a:t>
            </a:r>
            <a:endParaRPr lang="en-US" sz="1900" dirty="0"/>
          </a:p>
        </p:txBody>
      </p:sp>
      <p:sp>
        <p:nvSpPr>
          <p:cNvPr id="4" name="Google Shape;515;g3a6c8354d49_0_95">
            <a:extLst>
              <a:ext uri="{FF2B5EF4-FFF2-40B4-BE49-F238E27FC236}">
                <a16:creationId xmlns:a16="http://schemas.microsoft.com/office/drawing/2014/main" id="{8FFBC6C7-DF3E-4D76-8CA7-FB787D31A3EB}"/>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pic>
        <p:nvPicPr>
          <p:cNvPr id="6" name="Picture 5">
            <a:extLst>
              <a:ext uri="{FF2B5EF4-FFF2-40B4-BE49-F238E27FC236}">
                <a16:creationId xmlns:a16="http://schemas.microsoft.com/office/drawing/2014/main" id="{0BE330A4-A3FC-4BC0-B491-3A7629EBE0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7337" y="1038225"/>
            <a:ext cx="9077325" cy="4781550"/>
          </a:xfrm>
          <a:prstGeom prst="rect">
            <a:avLst/>
          </a:prstGeom>
        </p:spPr>
      </p:pic>
      <p:sp>
        <p:nvSpPr>
          <p:cNvPr id="7" name="TextBox 6">
            <a:extLst>
              <a:ext uri="{FF2B5EF4-FFF2-40B4-BE49-F238E27FC236}">
                <a16:creationId xmlns:a16="http://schemas.microsoft.com/office/drawing/2014/main" id="{AF95289D-655C-4397-A4F7-BF0D112279FB}"/>
              </a:ext>
            </a:extLst>
          </p:cNvPr>
          <p:cNvSpPr txBox="1"/>
          <p:nvPr/>
        </p:nvSpPr>
        <p:spPr>
          <a:xfrm>
            <a:off x="4081463" y="6410325"/>
            <a:ext cx="4029075" cy="369332"/>
          </a:xfrm>
          <a:prstGeom prst="rect">
            <a:avLst/>
          </a:prstGeom>
          <a:noFill/>
        </p:spPr>
        <p:txBody>
          <a:bodyPr wrap="square" rtlCol="0">
            <a:spAutoFit/>
          </a:bodyPr>
          <a:lstStyle/>
          <a:p>
            <a:pPr algn="ctr"/>
            <a:r>
              <a:rPr lang="en-US" dirty="0" err="1"/>
              <a:t>Hình</a:t>
            </a:r>
            <a:r>
              <a:rPr lang="en-US" dirty="0"/>
              <a:t> 5. </a:t>
            </a:r>
            <a:r>
              <a:rPr lang="en-US" dirty="0" err="1"/>
              <a:t>Mô</a:t>
            </a:r>
            <a:r>
              <a:rPr lang="en-US" dirty="0"/>
              <a:t> </a:t>
            </a:r>
            <a:r>
              <a:rPr lang="en-US" dirty="0" err="1"/>
              <a:t>hình</a:t>
            </a:r>
            <a:r>
              <a:rPr lang="en-US" dirty="0"/>
              <a:t> x</a:t>
            </a:r>
            <a:r>
              <a:rPr lang="vi-VN" dirty="0"/>
              <a:t>ư</a:t>
            </a:r>
            <a:r>
              <a:rPr lang="en-US" dirty="0" err="1"/>
              <a:t>ơng</a:t>
            </a:r>
            <a:r>
              <a:rPr lang="en-US" dirty="0"/>
              <a:t> </a:t>
            </a:r>
            <a:r>
              <a:rPr lang="en-US" dirty="0" err="1"/>
              <a:t>cá</a:t>
            </a:r>
            <a:r>
              <a:rPr lang="en-US" dirty="0"/>
              <a:t> (Fishbone)</a:t>
            </a:r>
          </a:p>
        </p:txBody>
      </p:sp>
    </p:spTree>
    <p:extLst>
      <p:ext uri="{BB962C8B-B14F-4D97-AF65-F5344CB8AC3E}">
        <p14:creationId xmlns:p14="http://schemas.microsoft.com/office/powerpoint/2010/main" val="1018308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12;g3a6c8354d49_0_95">
            <a:extLst>
              <a:ext uri="{FF2B5EF4-FFF2-40B4-BE49-F238E27FC236}">
                <a16:creationId xmlns:a16="http://schemas.microsoft.com/office/drawing/2014/main" id="{A733FFA1-3767-4AEB-9E70-216FD97DC779}"/>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3" name="Google Shape;513;g3a6c8354d49_0_95">
            <a:extLst>
              <a:ext uri="{FF2B5EF4-FFF2-40B4-BE49-F238E27FC236}">
                <a16:creationId xmlns:a16="http://schemas.microsoft.com/office/drawing/2014/main" id="{FF2FB9A4-0CDC-439F-BB39-C76625775A59}"/>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None/>
            </a:pPr>
            <a:r>
              <a:rPr lang="en-US" sz="1900" dirty="0" err="1"/>
              <a:t>Phân</a:t>
            </a:r>
            <a:r>
              <a:rPr lang="en-US" sz="1900" dirty="0"/>
              <a:t> </a:t>
            </a:r>
            <a:r>
              <a:rPr lang="en-US" sz="1900" dirty="0" err="1"/>
              <a:t>tích</a:t>
            </a:r>
            <a:r>
              <a:rPr lang="en-US" sz="1900" dirty="0"/>
              <a:t> </a:t>
            </a:r>
            <a:r>
              <a:rPr lang="en-US" sz="1900" dirty="0" err="1"/>
              <a:t>quy</a:t>
            </a:r>
            <a:r>
              <a:rPr lang="en-US" sz="1900" dirty="0"/>
              <a:t> </a:t>
            </a:r>
            <a:r>
              <a:rPr lang="en-US" sz="1900" dirty="0" err="1"/>
              <a:t>trình</a:t>
            </a:r>
            <a:r>
              <a:rPr lang="en-US" sz="1900" dirty="0"/>
              <a:t> </a:t>
            </a:r>
            <a:r>
              <a:rPr lang="en-US" sz="1900" dirty="0" err="1"/>
              <a:t>định</a:t>
            </a:r>
            <a:r>
              <a:rPr lang="en-US" sz="1900" dirty="0"/>
              <a:t> l</a:t>
            </a:r>
            <a:r>
              <a:rPr lang="vi-VN" sz="1900" dirty="0"/>
              <a:t>ư</a:t>
            </a:r>
            <a:r>
              <a:rPr lang="en-US" sz="1900" dirty="0" err="1"/>
              <a:t>ợng</a:t>
            </a:r>
            <a:endParaRPr lang="en-US" sz="1900" dirty="0"/>
          </a:p>
        </p:txBody>
      </p:sp>
      <p:sp>
        <p:nvSpPr>
          <p:cNvPr id="4" name="Google Shape;515;g3a6c8354d49_0_95">
            <a:extLst>
              <a:ext uri="{FF2B5EF4-FFF2-40B4-BE49-F238E27FC236}">
                <a16:creationId xmlns:a16="http://schemas.microsoft.com/office/drawing/2014/main" id="{5C398146-7161-47CF-A5CB-61312538D469}"/>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pic>
        <p:nvPicPr>
          <p:cNvPr id="6" name="Picture 5">
            <a:extLst>
              <a:ext uri="{FF2B5EF4-FFF2-40B4-BE49-F238E27FC236}">
                <a16:creationId xmlns:a16="http://schemas.microsoft.com/office/drawing/2014/main" id="{729E7D2B-1317-461A-8C4B-AE86E4CA9A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315" y="928691"/>
            <a:ext cx="11233370" cy="5262560"/>
          </a:xfrm>
          <a:prstGeom prst="rect">
            <a:avLst/>
          </a:prstGeom>
        </p:spPr>
      </p:pic>
      <p:sp>
        <p:nvSpPr>
          <p:cNvPr id="7" name="TextBox 6">
            <a:extLst>
              <a:ext uri="{FF2B5EF4-FFF2-40B4-BE49-F238E27FC236}">
                <a16:creationId xmlns:a16="http://schemas.microsoft.com/office/drawing/2014/main" id="{B3F24560-6299-451A-B739-61EDA1485373}"/>
              </a:ext>
            </a:extLst>
          </p:cNvPr>
          <p:cNvSpPr txBox="1"/>
          <p:nvPr/>
        </p:nvSpPr>
        <p:spPr>
          <a:xfrm>
            <a:off x="4081463" y="6267450"/>
            <a:ext cx="4029075" cy="369332"/>
          </a:xfrm>
          <a:prstGeom prst="rect">
            <a:avLst/>
          </a:prstGeom>
          <a:noFill/>
        </p:spPr>
        <p:txBody>
          <a:bodyPr wrap="square" rtlCol="0">
            <a:spAutoFit/>
          </a:bodyPr>
          <a:lstStyle/>
          <a:p>
            <a:pPr algn="ctr"/>
            <a:r>
              <a:rPr lang="en-US" dirty="0" err="1"/>
              <a:t>Hình</a:t>
            </a:r>
            <a:r>
              <a:rPr lang="en-US" dirty="0"/>
              <a:t> 6. </a:t>
            </a:r>
            <a:r>
              <a:rPr lang="en-US" dirty="0" err="1"/>
              <a:t>Mô</a:t>
            </a:r>
            <a:r>
              <a:rPr lang="en-US" dirty="0"/>
              <a:t> </a:t>
            </a:r>
            <a:r>
              <a:rPr lang="en-US" dirty="0" err="1"/>
              <a:t>hình</a:t>
            </a:r>
            <a:r>
              <a:rPr lang="en-US" dirty="0"/>
              <a:t> </a:t>
            </a:r>
            <a:r>
              <a:rPr lang="en-US" dirty="0" err="1"/>
              <a:t>phân</a:t>
            </a:r>
            <a:r>
              <a:rPr lang="en-US" dirty="0"/>
              <a:t> </a:t>
            </a:r>
            <a:r>
              <a:rPr lang="en-US" dirty="0" err="1"/>
              <a:t>tích</a:t>
            </a:r>
            <a:r>
              <a:rPr lang="en-US" dirty="0"/>
              <a:t> </a:t>
            </a:r>
            <a:r>
              <a:rPr lang="en-US" dirty="0" err="1"/>
              <a:t>định</a:t>
            </a:r>
            <a:r>
              <a:rPr lang="en-US" dirty="0"/>
              <a:t> l</a:t>
            </a:r>
            <a:r>
              <a:rPr lang="vi-VN" dirty="0"/>
              <a:t>ư</a:t>
            </a:r>
            <a:r>
              <a:rPr lang="en-US" dirty="0" err="1"/>
              <a:t>ợng</a:t>
            </a:r>
            <a:endParaRPr lang="en-US" dirty="0"/>
          </a:p>
        </p:txBody>
      </p:sp>
    </p:spTree>
    <p:extLst>
      <p:ext uri="{BB962C8B-B14F-4D97-AF65-F5344CB8AC3E}">
        <p14:creationId xmlns:p14="http://schemas.microsoft.com/office/powerpoint/2010/main" val="292411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12;g3a6c8354d49_0_95">
            <a:extLst>
              <a:ext uri="{FF2B5EF4-FFF2-40B4-BE49-F238E27FC236}">
                <a16:creationId xmlns:a16="http://schemas.microsoft.com/office/drawing/2014/main" id="{BF3AAE06-4790-466B-B42C-3EC5F5DAA28F}"/>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3" name="Google Shape;513;g3a6c8354d49_0_95">
            <a:extLst>
              <a:ext uri="{FF2B5EF4-FFF2-40B4-BE49-F238E27FC236}">
                <a16:creationId xmlns:a16="http://schemas.microsoft.com/office/drawing/2014/main" id="{6CD930C6-9BF1-405B-AA87-7198759443BB}"/>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None/>
            </a:pPr>
            <a:r>
              <a:rPr lang="en-US" sz="1900" dirty="0" err="1"/>
              <a:t>Phân</a:t>
            </a:r>
            <a:r>
              <a:rPr lang="en-US" sz="1900" dirty="0"/>
              <a:t> </a:t>
            </a:r>
            <a:r>
              <a:rPr lang="en-US" sz="1900" dirty="0" err="1"/>
              <a:t>tích</a:t>
            </a:r>
            <a:r>
              <a:rPr lang="en-US" sz="1900" dirty="0"/>
              <a:t> </a:t>
            </a:r>
            <a:r>
              <a:rPr lang="en-US" sz="1900" dirty="0" err="1"/>
              <a:t>quy</a:t>
            </a:r>
            <a:r>
              <a:rPr lang="en-US" sz="1900" dirty="0"/>
              <a:t> </a:t>
            </a:r>
            <a:r>
              <a:rPr lang="en-US" sz="1900" dirty="0" err="1"/>
              <a:t>trình</a:t>
            </a:r>
            <a:r>
              <a:rPr lang="en-US" sz="1900" dirty="0"/>
              <a:t> </a:t>
            </a:r>
            <a:r>
              <a:rPr lang="en-US" sz="1900" dirty="0" err="1"/>
              <a:t>định</a:t>
            </a:r>
            <a:r>
              <a:rPr lang="en-US" sz="1900" dirty="0"/>
              <a:t> l</a:t>
            </a:r>
            <a:r>
              <a:rPr lang="vi-VN" sz="1900" dirty="0"/>
              <a:t>ư</a:t>
            </a:r>
            <a:r>
              <a:rPr lang="en-US" sz="1900" dirty="0" err="1"/>
              <a:t>ợng</a:t>
            </a:r>
            <a:r>
              <a:rPr lang="en-US" sz="1900" dirty="0"/>
              <a:t> – </a:t>
            </a:r>
            <a:r>
              <a:rPr lang="en-US" sz="1900" dirty="0" err="1"/>
              <a:t>Phân</a:t>
            </a:r>
            <a:r>
              <a:rPr lang="en-US" sz="1900" dirty="0"/>
              <a:t> </a:t>
            </a:r>
            <a:r>
              <a:rPr lang="en-US" sz="1900" dirty="0" err="1"/>
              <a:t>tích</a:t>
            </a:r>
            <a:r>
              <a:rPr lang="en-US" sz="1900" dirty="0"/>
              <a:t> </a:t>
            </a:r>
            <a:r>
              <a:rPr lang="en-US" sz="1900" dirty="0" err="1"/>
              <a:t>thời</a:t>
            </a:r>
            <a:r>
              <a:rPr lang="en-US" sz="1900" dirty="0"/>
              <a:t> </a:t>
            </a:r>
            <a:r>
              <a:rPr lang="en-US" sz="1900" dirty="0" err="1"/>
              <a:t>gian</a:t>
            </a:r>
            <a:endParaRPr lang="en-US" sz="1900" dirty="0"/>
          </a:p>
        </p:txBody>
      </p:sp>
      <p:sp>
        <p:nvSpPr>
          <p:cNvPr id="4" name="Google Shape;515;g3a6c8354d49_0_95">
            <a:extLst>
              <a:ext uri="{FF2B5EF4-FFF2-40B4-BE49-F238E27FC236}">
                <a16:creationId xmlns:a16="http://schemas.microsoft.com/office/drawing/2014/main" id="{AF26EBB9-C05D-4257-B13A-F2C1A9C6F928}"/>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grpSp>
        <p:nvGrpSpPr>
          <p:cNvPr id="13" name="Group 12">
            <a:extLst>
              <a:ext uri="{FF2B5EF4-FFF2-40B4-BE49-F238E27FC236}">
                <a16:creationId xmlns:a16="http://schemas.microsoft.com/office/drawing/2014/main" id="{B33F9011-E756-4658-BBCD-A24648728495}"/>
              </a:ext>
            </a:extLst>
          </p:cNvPr>
          <p:cNvGrpSpPr/>
          <p:nvPr/>
        </p:nvGrpSpPr>
        <p:grpSpPr>
          <a:xfrm>
            <a:off x="955499" y="1831442"/>
            <a:ext cx="5140501" cy="3970318"/>
            <a:chOff x="126824" y="1278547"/>
            <a:chExt cx="5140501" cy="3970318"/>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49A1543-124C-4C1A-B9AD-0F47CB2E3A78}"/>
                    </a:ext>
                  </a:extLst>
                </p:cNvPr>
                <p:cNvSpPr txBox="1"/>
                <p:nvPr/>
              </p:nvSpPr>
              <p:spPr>
                <a:xfrm>
                  <a:off x="126824" y="1278547"/>
                  <a:ext cx="5140501" cy="3970318"/>
                </a:xfrm>
                <a:prstGeom prst="rect">
                  <a:avLst/>
                </a:prstGeom>
                <a:noFill/>
              </p:spPr>
              <p:txBody>
                <a:bodyPr wrap="square" rtlCol="0">
                  <a:spAutoFit/>
                </a:bodyPr>
                <a:lstStyle/>
                <a:p>
                  <a:r>
                    <a:rPr lang="en-US" dirty="0" err="1"/>
                    <a:t>Các</a:t>
                  </a:r>
                  <a:r>
                    <a:rPr lang="en-US" dirty="0"/>
                    <a:t> </a:t>
                  </a:r>
                  <a:r>
                    <a:rPr lang="en-US" dirty="0" err="1"/>
                    <a:t>chỉ</a:t>
                  </a:r>
                  <a:r>
                    <a:rPr lang="en-US" dirty="0"/>
                    <a:t> </a:t>
                  </a:r>
                  <a:r>
                    <a:rPr lang="en-US" dirty="0" err="1"/>
                    <a:t>số</a:t>
                  </a:r>
                  <a:r>
                    <a:rPr lang="en-US" dirty="0"/>
                    <a:t> </a:t>
                  </a:r>
                  <a:r>
                    <a:rPr lang="en-US" dirty="0" err="1"/>
                    <a:t>chính</a:t>
                  </a:r>
                  <a:r>
                    <a:rPr lang="en-US" dirty="0"/>
                    <a:t>:</a:t>
                  </a:r>
                </a:p>
                <a:p>
                  <a:pPr marL="285750" indent="-285750">
                    <a:buFontTx/>
                    <a:buChar char="-"/>
                  </a:pPr>
                  <a:r>
                    <a:rPr lang="en-US" dirty="0" err="1"/>
                    <a:t>Thời</a:t>
                  </a:r>
                  <a:r>
                    <a:rPr lang="en-US" dirty="0"/>
                    <a:t> </a:t>
                  </a:r>
                  <a:r>
                    <a:rPr lang="en-US" dirty="0" err="1"/>
                    <a:t>gian</a:t>
                  </a:r>
                  <a:r>
                    <a:rPr lang="en-US" dirty="0"/>
                    <a:t> chu </a:t>
                  </a:r>
                  <a:r>
                    <a:rPr lang="en-US" dirty="0" err="1"/>
                    <a:t>kỳ</a:t>
                  </a:r>
                  <a:r>
                    <a:rPr lang="en-US" dirty="0"/>
                    <a:t> </a:t>
                  </a:r>
                  <a:r>
                    <a:rPr lang="en-US" dirty="0" err="1"/>
                    <a:t>kỳ</a:t>
                  </a:r>
                  <a:r>
                    <a:rPr lang="en-US" dirty="0"/>
                    <a:t> </a:t>
                  </a:r>
                  <a:r>
                    <a:rPr lang="en-US" dirty="0" err="1"/>
                    <a:t>vọng</a:t>
                  </a:r>
                  <a:r>
                    <a:rPr lang="en-US" dirty="0"/>
                    <a:t>/</a:t>
                  </a:r>
                  <a:r>
                    <a:rPr lang="en-US" dirty="0" err="1"/>
                    <a:t>trung</a:t>
                  </a:r>
                  <a:r>
                    <a:rPr lang="en-US" dirty="0"/>
                    <a:t> </a:t>
                  </a:r>
                  <a:r>
                    <a:rPr lang="en-US" dirty="0" err="1"/>
                    <a:t>bình</a:t>
                  </a:r>
                  <a:r>
                    <a:rPr lang="en-US" dirty="0"/>
                    <a:t> (Cycle Time - CT):</a:t>
                  </a:r>
                </a:p>
                <a:p>
                  <a:endParaRPr lang="en-US" dirty="0"/>
                </a:p>
                <a:p>
                  <a:pPr marL="285750" indent="-285750">
                    <a:buFontTx/>
                    <a:buChar char="-"/>
                  </a:pPr>
                  <a:endParaRPr lang="en-US" dirty="0"/>
                </a:p>
                <a:p>
                  <a:r>
                    <a:rPr lang="en-US" dirty="0"/>
                    <a:t>     CT </a:t>
                  </a:r>
                  <a14:m>
                    <m:oMath xmlns:m="http://schemas.openxmlformats.org/officeDocument/2006/math">
                      <m:r>
                        <a:rPr lang="en-US" i="1">
                          <a:latin typeface="Cambria Math" panose="02040503050406030204" pitchFamily="18" charset="0"/>
                        </a:rPr>
                        <m:t>≈</m:t>
                      </m:r>
                    </m:oMath>
                  </a14:m>
                  <a:r>
                    <a:rPr lang="en-US" dirty="0"/>
                    <a:t> 73.38h</a:t>
                  </a:r>
                </a:p>
                <a:p>
                  <a:pPr marL="285750" indent="-285750">
                    <a:buFontTx/>
                    <a:buChar char="-"/>
                  </a:pPr>
                  <a:r>
                    <a:rPr lang="en-US" dirty="0" err="1"/>
                    <a:t>Thời</a:t>
                  </a:r>
                  <a:r>
                    <a:rPr lang="en-US" dirty="0"/>
                    <a:t> </a:t>
                  </a:r>
                  <a:r>
                    <a:rPr lang="en-US" dirty="0" err="1"/>
                    <a:t>gian</a:t>
                  </a:r>
                  <a:r>
                    <a:rPr lang="en-US" dirty="0"/>
                    <a:t> </a:t>
                  </a:r>
                  <a:r>
                    <a:rPr lang="en-US" dirty="0" err="1"/>
                    <a:t>xử</a:t>
                  </a:r>
                  <a:r>
                    <a:rPr lang="en-US" dirty="0"/>
                    <a:t> </a:t>
                  </a:r>
                  <a:r>
                    <a:rPr lang="en-US" dirty="0" err="1"/>
                    <a:t>lý</a:t>
                  </a:r>
                  <a:r>
                    <a:rPr lang="en-US" dirty="0"/>
                    <a:t> </a:t>
                  </a:r>
                  <a:r>
                    <a:rPr lang="en-US" dirty="0" err="1"/>
                    <a:t>kỳ</a:t>
                  </a:r>
                  <a:r>
                    <a:rPr lang="en-US" dirty="0"/>
                    <a:t> </a:t>
                  </a:r>
                  <a:r>
                    <a:rPr lang="en-US" dirty="0" err="1"/>
                    <a:t>vọng</a:t>
                  </a:r>
                  <a:r>
                    <a:rPr lang="en-US"/>
                    <a:t>/trung</a:t>
                  </a:r>
                  <a:r>
                    <a:rPr lang="en-US" dirty="0"/>
                    <a:t> </a:t>
                  </a:r>
                  <a:r>
                    <a:rPr lang="en-US" dirty="0" err="1"/>
                    <a:t>bình</a:t>
                  </a:r>
                  <a:r>
                    <a:rPr lang="en-US" dirty="0"/>
                    <a:t> (Processing Time - PT):</a:t>
                  </a:r>
                </a:p>
                <a:p>
                  <a:endParaRPr lang="en-US" dirty="0"/>
                </a:p>
                <a:p>
                  <a:pPr marL="285750" indent="-285750">
                    <a:buFontTx/>
                    <a:buChar char="-"/>
                  </a:pPr>
                  <a:endParaRPr lang="en-US" dirty="0"/>
                </a:p>
                <a:p>
                  <a:r>
                    <a:rPr lang="en-US" dirty="0"/>
                    <a:t>     PT </a:t>
                  </a:r>
                  <a14:m>
                    <m:oMath xmlns:m="http://schemas.openxmlformats.org/officeDocument/2006/math">
                      <m:r>
                        <a:rPr lang="en-US">
                          <a:latin typeface="Cambria Math" panose="02040503050406030204" pitchFamily="18" charset="0"/>
                        </a:rPr>
                        <m:t>≈</m:t>
                      </m:r>
                    </m:oMath>
                  </a14:m>
                  <a:r>
                    <a:rPr lang="en-US" dirty="0"/>
                    <a:t> 12.44h</a:t>
                  </a:r>
                </a:p>
                <a:p>
                  <a:r>
                    <a:rPr lang="en-US" dirty="0"/>
                    <a:t>-    </a:t>
                  </a:r>
                  <a:r>
                    <a:rPr lang="en-US" dirty="0" err="1"/>
                    <a:t>Độ</a:t>
                  </a:r>
                  <a:r>
                    <a:rPr lang="en-US" dirty="0"/>
                    <a:t> </a:t>
                  </a:r>
                  <a:r>
                    <a:rPr lang="en-US" dirty="0" err="1"/>
                    <a:t>hiệu</a:t>
                  </a:r>
                  <a:r>
                    <a:rPr lang="en-US" dirty="0"/>
                    <a:t> </a:t>
                  </a:r>
                  <a:r>
                    <a:rPr lang="en-US" dirty="0" err="1"/>
                    <a:t>quả</a:t>
                  </a:r>
                  <a:r>
                    <a:rPr lang="en-US" dirty="0"/>
                    <a:t> </a:t>
                  </a:r>
                  <a:r>
                    <a:rPr lang="en-US" dirty="0" err="1"/>
                    <a:t>của</a:t>
                  </a:r>
                  <a:r>
                    <a:rPr lang="en-US" dirty="0"/>
                    <a:t> chu </a:t>
                  </a:r>
                  <a:r>
                    <a:rPr lang="en-US" dirty="0" err="1"/>
                    <a:t>kỳ</a:t>
                  </a:r>
                  <a:r>
                    <a:rPr lang="en-US" dirty="0"/>
                    <a:t> (Cycle Time Efficiency - CTE):</a:t>
                  </a:r>
                </a:p>
                <a:p>
                  <a:endParaRPr lang="en-US" dirty="0"/>
                </a:p>
              </p:txBody>
            </p:sp>
          </mc:Choice>
          <mc:Fallback xmlns="">
            <p:sp>
              <p:nvSpPr>
                <p:cNvPr id="6" name="TextBox 5">
                  <a:extLst>
                    <a:ext uri="{FF2B5EF4-FFF2-40B4-BE49-F238E27FC236}">
                      <a16:creationId xmlns:a16="http://schemas.microsoft.com/office/drawing/2014/main" id="{649A1543-124C-4C1A-B9AD-0F47CB2E3A78}"/>
                    </a:ext>
                  </a:extLst>
                </p:cNvPr>
                <p:cNvSpPr txBox="1">
                  <a:spLocks noRot="1" noChangeAspect="1" noMove="1" noResize="1" noEditPoints="1" noAdjustHandles="1" noChangeArrowheads="1" noChangeShapeType="1" noTextEdit="1"/>
                </p:cNvSpPr>
                <p:nvPr/>
              </p:nvSpPr>
              <p:spPr>
                <a:xfrm>
                  <a:off x="126824" y="1278547"/>
                  <a:ext cx="5140501" cy="3970318"/>
                </a:xfrm>
                <a:prstGeom prst="rect">
                  <a:avLst/>
                </a:prstGeom>
                <a:blipFill>
                  <a:blip r:embed="rId2"/>
                  <a:stretch>
                    <a:fillRect l="-1068" t="-767"/>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56058EF1-B83C-4927-BC65-0B98E00EDB96}"/>
                </a:ext>
              </a:extLst>
            </p:cNvPr>
            <p:cNvPicPr>
              <a:picLocks noChangeAspect="1"/>
            </p:cNvPicPr>
            <p:nvPr/>
          </p:nvPicPr>
          <p:blipFill>
            <a:blip r:embed="rId3"/>
            <a:stretch>
              <a:fillRect/>
            </a:stretch>
          </p:blipFill>
          <p:spPr>
            <a:xfrm>
              <a:off x="461491" y="2309781"/>
              <a:ext cx="4407737" cy="292191"/>
            </a:xfrm>
            <a:prstGeom prst="rect">
              <a:avLst/>
            </a:prstGeom>
          </p:spPr>
        </p:pic>
        <p:pic>
          <p:nvPicPr>
            <p:cNvPr id="10" name="Picture 9">
              <a:extLst>
                <a:ext uri="{FF2B5EF4-FFF2-40B4-BE49-F238E27FC236}">
                  <a16:creationId xmlns:a16="http://schemas.microsoft.com/office/drawing/2014/main" id="{0F707FD7-A40D-4441-83AB-C8203BA418DE}"/>
                </a:ext>
              </a:extLst>
            </p:cNvPr>
            <p:cNvPicPr>
              <a:picLocks noChangeAspect="1"/>
            </p:cNvPicPr>
            <p:nvPr/>
          </p:nvPicPr>
          <p:blipFill>
            <a:blip r:embed="rId4"/>
            <a:stretch>
              <a:fillRect/>
            </a:stretch>
          </p:blipFill>
          <p:spPr>
            <a:xfrm>
              <a:off x="490065" y="3578939"/>
              <a:ext cx="4777260" cy="406691"/>
            </a:xfrm>
            <a:prstGeom prst="rect">
              <a:avLst/>
            </a:prstGeom>
          </p:spPr>
        </p:pic>
        <p:pic>
          <p:nvPicPr>
            <p:cNvPr id="11" name="Picture 10">
              <a:extLst>
                <a:ext uri="{FF2B5EF4-FFF2-40B4-BE49-F238E27FC236}">
                  <a16:creationId xmlns:a16="http://schemas.microsoft.com/office/drawing/2014/main" id="{258F8F75-9320-4E6C-AF33-6618744DE45A}"/>
                </a:ext>
              </a:extLst>
            </p:cNvPr>
            <p:cNvPicPr>
              <a:picLocks noChangeAspect="1"/>
            </p:cNvPicPr>
            <p:nvPr/>
          </p:nvPicPr>
          <p:blipFill>
            <a:blip r:embed="rId5"/>
            <a:stretch>
              <a:fillRect/>
            </a:stretch>
          </p:blipFill>
          <p:spPr>
            <a:xfrm>
              <a:off x="490065" y="4925515"/>
              <a:ext cx="2300760" cy="323350"/>
            </a:xfrm>
            <a:prstGeom prst="rect">
              <a:avLst/>
            </a:prstGeom>
          </p:spPr>
        </p:pic>
      </p:grpSp>
      <p:sp>
        <p:nvSpPr>
          <p:cNvPr id="12" name="TextBox 11">
            <a:extLst>
              <a:ext uri="{FF2B5EF4-FFF2-40B4-BE49-F238E27FC236}">
                <a16:creationId xmlns:a16="http://schemas.microsoft.com/office/drawing/2014/main" id="{6FBABAA3-E838-4FD8-88AD-87F5C99AB4A3}"/>
              </a:ext>
            </a:extLst>
          </p:cNvPr>
          <p:cNvSpPr txBox="1"/>
          <p:nvPr/>
        </p:nvSpPr>
        <p:spPr>
          <a:xfrm>
            <a:off x="6959630" y="1831442"/>
            <a:ext cx="4777260" cy="3139321"/>
          </a:xfrm>
          <a:prstGeom prst="rect">
            <a:avLst/>
          </a:prstGeom>
          <a:noFill/>
        </p:spPr>
        <p:txBody>
          <a:bodyPr wrap="square" rtlCol="0">
            <a:spAutoFit/>
          </a:bodyPr>
          <a:lstStyle/>
          <a:p>
            <a:pPr algn="just"/>
            <a:r>
              <a:rPr lang="en-US" dirty="0" err="1"/>
              <a:t>Nhận</a:t>
            </a:r>
            <a:r>
              <a:rPr lang="en-US" dirty="0"/>
              <a:t> </a:t>
            </a:r>
            <a:r>
              <a:rPr lang="en-US" dirty="0" err="1"/>
              <a:t>xét</a:t>
            </a:r>
            <a:r>
              <a:rPr lang="en-US" dirty="0"/>
              <a:t>:</a:t>
            </a:r>
          </a:p>
          <a:p>
            <a:pPr marL="285750" indent="-285750" algn="just">
              <a:buFontTx/>
              <a:buChar char="-"/>
            </a:pPr>
            <a:r>
              <a:rPr lang="vi-VN" dirty="0"/>
              <a:t>CTE ≈ 16,96% cho thấy thời gian xử lý chỉ chiếm tỷ trọng nhỏ trong toàn bộ thời gian chu kỳ.</a:t>
            </a:r>
            <a:endParaRPr lang="en-US" dirty="0"/>
          </a:p>
          <a:p>
            <a:pPr algn="just"/>
            <a:endParaRPr lang="en-US" dirty="0"/>
          </a:p>
          <a:p>
            <a:pPr marL="285750" indent="-285750" algn="just">
              <a:buFontTx/>
              <a:buChar char="-"/>
            </a:pPr>
            <a:r>
              <a:rPr lang="vi-VN" dirty="0"/>
              <a:t>Phần lớn Cycle Time phát sinh từ thời gian chờ, phê duyệt, phối hợp và phản hồi giữa các bên.</a:t>
            </a:r>
            <a:endParaRPr lang="en-US" dirty="0"/>
          </a:p>
          <a:p>
            <a:pPr algn="just"/>
            <a:endParaRPr lang="en-US" dirty="0"/>
          </a:p>
          <a:p>
            <a:pPr marL="285750" indent="-285750" algn="just">
              <a:buFontTx/>
              <a:buChar char="-"/>
            </a:pPr>
            <a:r>
              <a:rPr lang="vi-VN" dirty="0"/>
              <a:t>Do đó, hướng cải thiện chính là giảm thời gian chờ và hạn chế các bước xử lý lại.</a:t>
            </a:r>
            <a:endParaRPr lang="en-US" dirty="0"/>
          </a:p>
        </p:txBody>
      </p:sp>
    </p:spTree>
    <p:extLst>
      <p:ext uri="{BB962C8B-B14F-4D97-AF65-F5344CB8AC3E}">
        <p14:creationId xmlns:p14="http://schemas.microsoft.com/office/powerpoint/2010/main" val="401832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12;g3a6c8354d49_0_95">
            <a:extLst>
              <a:ext uri="{FF2B5EF4-FFF2-40B4-BE49-F238E27FC236}">
                <a16:creationId xmlns:a16="http://schemas.microsoft.com/office/drawing/2014/main" id="{6AC0EF04-C46A-4136-99E3-58C7F9317B31}"/>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4" name="Google Shape;513;g3a6c8354d49_0_95">
            <a:extLst>
              <a:ext uri="{FF2B5EF4-FFF2-40B4-BE49-F238E27FC236}">
                <a16:creationId xmlns:a16="http://schemas.microsoft.com/office/drawing/2014/main" id="{678F8FE9-C5D0-49D5-AB0E-F3452A0C61F5}"/>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None/>
            </a:pPr>
            <a:r>
              <a:rPr lang="en-US" sz="1900" dirty="0" err="1"/>
              <a:t>Phân</a:t>
            </a:r>
            <a:r>
              <a:rPr lang="en-US" sz="1900" dirty="0"/>
              <a:t> </a:t>
            </a:r>
            <a:r>
              <a:rPr lang="en-US" sz="1900" dirty="0" err="1"/>
              <a:t>tích</a:t>
            </a:r>
            <a:r>
              <a:rPr lang="en-US" sz="1900" dirty="0"/>
              <a:t> </a:t>
            </a:r>
            <a:r>
              <a:rPr lang="en-US" sz="1900" dirty="0" err="1"/>
              <a:t>quy</a:t>
            </a:r>
            <a:r>
              <a:rPr lang="en-US" sz="1900" dirty="0"/>
              <a:t> </a:t>
            </a:r>
            <a:r>
              <a:rPr lang="en-US" sz="1900" dirty="0" err="1"/>
              <a:t>trình</a:t>
            </a:r>
            <a:r>
              <a:rPr lang="en-US" sz="1900" dirty="0"/>
              <a:t> </a:t>
            </a:r>
            <a:r>
              <a:rPr lang="en-US" sz="1900" dirty="0" err="1"/>
              <a:t>định</a:t>
            </a:r>
            <a:r>
              <a:rPr lang="en-US" sz="1900" dirty="0"/>
              <a:t> l</a:t>
            </a:r>
            <a:r>
              <a:rPr lang="vi-VN" sz="1900" dirty="0"/>
              <a:t>ư</a:t>
            </a:r>
            <a:r>
              <a:rPr lang="en-US" sz="1900" dirty="0" err="1"/>
              <a:t>ợng</a:t>
            </a:r>
            <a:r>
              <a:rPr lang="en-US" sz="1900" dirty="0"/>
              <a:t> – </a:t>
            </a:r>
            <a:r>
              <a:rPr lang="en-US" sz="1900" dirty="0" err="1"/>
              <a:t>Phân</a:t>
            </a:r>
            <a:r>
              <a:rPr lang="en-US" sz="1900" dirty="0"/>
              <a:t> </a:t>
            </a:r>
            <a:r>
              <a:rPr lang="en-US" sz="1900" dirty="0" err="1"/>
              <a:t>tích</a:t>
            </a:r>
            <a:r>
              <a:rPr lang="en-US" sz="1900" dirty="0"/>
              <a:t> </a:t>
            </a:r>
            <a:r>
              <a:rPr lang="en-US" sz="1900" dirty="0" err="1"/>
              <a:t>chất</a:t>
            </a:r>
            <a:r>
              <a:rPr lang="en-US" sz="1900" dirty="0"/>
              <a:t> l</a:t>
            </a:r>
            <a:r>
              <a:rPr lang="vi-VN" sz="1900" dirty="0"/>
              <a:t>ư</a:t>
            </a:r>
            <a:r>
              <a:rPr lang="en-US" sz="1900" dirty="0" err="1"/>
              <a:t>ợng</a:t>
            </a:r>
            <a:endParaRPr lang="en-US" sz="1900" dirty="0"/>
          </a:p>
        </p:txBody>
      </p:sp>
      <p:sp>
        <p:nvSpPr>
          <p:cNvPr id="5" name="Google Shape;515;g3a6c8354d49_0_95">
            <a:extLst>
              <a:ext uri="{FF2B5EF4-FFF2-40B4-BE49-F238E27FC236}">
                <a16:creationId xmlns:a16="http://schemas.microsoft.com/office/drawing/2014/main" id="{662908B0-848A-48FA-9F7E-4EB879F40373}"/>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graphicFrame>
        <p:nvGraphicFramePr>
          <p:cNvPr id="6" name="Table 5">
            <a:extLst>
              <a:ext uri="{FF2B5EF4-FFF2-40B4-BE49-F238E27FC236}">
                <a16:creationId xmlns:a16="http://schemas.microsoft.com/office/drawing/2014/main" id="{F3E8775C-1298-4206-BF24-376E473FA4F2}"/>
              </a:ext>
            </a:extLst>
          </p:cNvPr>
          <p:cNvGraphicFramePr>
            <a:graphicFrameLocks noGrp="1"/>
          </p:cNvGraphicFramePr>
          <p:nvPr>
            <p:extLst>
              <p:ext uri="{D42A27DB-BD31-4B8C-83A1-F6EECF244321}">
                <p14:modId xmlns:p14="http://schemas.microsoft.com/office/powerpoint/2010/main" val="612985940"/>
              </p:ext>
            </p:extLst>
          </p:nvPr>
        </p:nvGraphicFramePr>
        <p:xfrm>
          <a:off x="607244" y="1256219"/>
          <a:ext cx="5708496" cy="4708640"/>
        </p:xfrm>
        <a:graphic>
          <a:graphicData uri="http://schemas.openxmlformats.org/drawingml/2006/table">
            <a:tbl>
              <a:tblPr firstRow="1" bandRow="1">
                <a:tableStyleId>{5C22544A-7EE6-4342-B048-85BDC9FD1C3A}</a:tableStyleId>
              </a:tblPr>
              <a:tblGrid>
                <a:gridCol w="4552559">
                  <a:extLst>
                    <a:ext uri="{9D8B030D-6E8A-4147-A177-3AD203B41FA5}">
                      <a16:colId xmlns:a16="http://schemas.microsoft.com/office/drawing/2014/main" val="1891881131"/>
                    </a:ext>
                  </a:extLst>
                </a:gridCol>
                <a:gridCol w="1155937">
                  <a:extLst>
                    <a:ext uri="{9D8B030D-6E8A-4147-A177-3AD203B41FA5}">
                      <a16:colId xmlns:a16="http://schemas.microsoft.com/office/drawing/2014/main" val="1770746369"/>
                    </a:ext>
                  </a:extLst>
                </a:gridCol>
              </a:tblGrid>
              <a:tr h="470864">
                <a:tc>
                  <a:txBody>
                    <a:bodyPr/>
                    <a:lstStyle/>
                    <a:p>
                      <a:pPr marL="0" marR="0" indent="0" algn="ctr">
                        <a:lnSpc>
                          <a:spcPct val="106000"/>
                        </a:lnSpc>
                        <a:spcBef>
                          <a:spcPts val="1200"/>
                        </a:spcBef>
                        <a:spcAft>
                          <a:spcPts val="1200"/>
                        </a:spcAft>
                      </a:pPr>
                      <a:r>
                        <a:rPr lang="en-US" sz="13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Chỉ</a:t>
                      </a:r>
                      <a:r>
                        <a:rPr lang="en-US" sz="13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tiêu</a:t>
                      </a:r>
                      <a:r>
                        <a:rPr lang="en-US" sz="13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chất</a:t>
                      </a:r>
                      <a:r>
                        <a:rPr lang="en-US" sz="13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lượng</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3500" marR="63500" marT="63500" marB="63500"/>
                </a:tc>
                <a:tc>
                  <a:txBody>
                    <a:bodyPr/>
                    <a:lstStyle/>
                    <a:p>
                      <a:pPr marL="0" marR="0" indent="0" algn="ctr">
                        <a:lnSpc>
                          <a:spcPct val="106000"/>
                        </a:lnSpc>
                        <a:spcBef>
                          <a:spcPts val="1200"/>
                        </a:spcBef>
                        <a:spcAft>
                          <a:spcPts val="1200"/>
                        </a:spcAft>
                      </a:pPr>
                      <a:r>
                        <a:rPr lang="en-US" sz="13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Tỷ</a:t>
                      </a:r>
                      <a:r>
                        <a:rPr lang="en-US" sz="13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lệ</a:t>
                      </a:r>
                      <a:r>
                        <a:rPr lang="en-US" sz="13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giả</a:t>
                      </a:r>
                      <a:r>
                        <a:rPr lang="en-US" sz="13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định</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747697517"/>
                  </a:ext>
                </a:extLst>
              </a:tr>
              <a:tr h="470864">
                <a:tc>
                  <a:txBody>
                    <a:bodyPr/>
                    <a:lstStyle/>
                    <a:p>
                      <a:pPr marL="0" marR="0" indent="0" algn="l">
                        <a:lnSpc>
                          <a:spcPct val="106000"/>
                        </a:lnSpc>
                        <a:spcBef>
                          <a:spcPts val="1200"/>
                        </a:spcBef>
                        <a:spcAft>
                          <a:spcPts val="1200"/>
                        </a:spcAft>
                      </a:pP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Nhu</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cầu</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tuyển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dụng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được</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phê</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duyệt</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tc>
                  <a:txBody>
                    <a:bodyPr/>
                    <a:lstStyle/>
                    <a:p>
                      <a:pPr marL="0" marR="0" indent="0" algn="ctr">
                        <a:lnSpc>
                          <a:spcPct val="106000"/>
                        </a:lnSpc>
                        <a:spcBef>
                          <a:spcPts val="1200"/>
                        </a:spcBef>
                        <a:spcAft>
                          <a:spcPts val="1200"/>
                        </a:spcAft>
                      </a:pP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extLst>
                  <a:ext uri="{0D108BD9-81ED-4DB2-BD59-A6C34878D82A}">
                    <a16:rowId xmlns:a16="http://schemas.microsoft.com/office/drawing/2014/main" val="3422860733"/>
                  </a:ext>
                </a:extLst>
              </a:tr>
              <a:tr h="470864">
                <a:tc>
                  <a:txBody>
                    <a:bodyPr/>
                    <a:lstStyle/>
                    <a:p>
                      <a:pPr marL="0" marR="0" indent="0" algn="l">
                        <a:lnSpc>
                          <a:spcPct val="106000"/>
                        </a:lnSpc>
                        <a:spcBef>
                          <a:spcPts val="1200"/>
                        </a:spcBef>
                        <a:spcAft>
                          <a:spcPts val="1200"/>
                        </a:spcAft>
                      </a:pP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Yêu</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cầu</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tuyển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dụng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được</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điều</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chỉnh</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tc>
                  <a:txBody>
                    <a:bodyPr/>
                    <a:lstStyle/>
                    <a:p>
                      <a:pPr marL="0" marR="0" indent="0" algn="ctr">
                        <a:lnSpc>
                          <a:spcPct val="106000"/>
                        </a:lnSpc>
                        <a:spcBef>
                          <a:spcPts val="1200"/>
                        </a:spcBef>
                        <a:spcAft>
                          <a:spcPts val="1200"/>
                        </a:spcAft>
                      </a:pP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extLst>
                  <a:ext uri="{0D108BD9-81ED-4DB2-BD59-A6C34878D82A}">
                    <a16:rowId xmlns:a16="http://schemas.microsoft.com/office/drawing/2014/main" val="1764373268"/>
                  </a:ext>
                </a:extLst>
              </a:tr>
              <a:tr h="470864">
                <a:tc>
                  <a:txBody>
                    <a:bodyPr/>
                    <a:lstStyle/>
                    <a:p>
                      <a:pPr marL="0" marR="0" indent="0" algn="l">
                        <a:lnSpc>
                          <a:spcPct val="106000"/>
                        </a:lnSpc>
                        <a:spcBef>
                          <a:spcPts val="1200"/>
                        </a:spcBef>
                        <a:spcAft>
                          <a:spcPts val="1200"/>
                        </a:spcAft>
                      </a:pP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Ứng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viên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phù</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hợp</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sau</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sàng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lọc</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hồ</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sơ</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tc>
                  <a:txBody>
                    <a:bodyPr/>
                    <a:lstStyle/>
                    <a:p>
                      <a:pPr marL="0" marR="0" indent="0" algn="ctr">
                        <a:lnSpc>
                          <a:spcPct val="106000"/>
                        </a:lnSpc>
                        <a:spcBef>
                          <a:spcPts val="1200"/>
                        </a:spcBef>
                        <a:spcAft>
                          <a:spcPts val="1200"/>
                        </a:spcAft>
                      </a:pP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extLst>
                  <a:ext uri="{0D108BD9-81ED-4DB2-BD59-A6C34878D82A}">
                    <a16:rowId xmlns:a16="http://schemas.microsoft.com/office/drawing/2014/main" val="3906610540"/>
                  </a:ext>
                </a:extLst>
              </a:tr>
              <a:tr h="470864">
                <a:tc>
                  <a:txBody>
                    <a:bodyPr/>
                    <a:lstStyle/>
                    <a:p>
                      <a:pPr marL="0" marR="0" indent="0" algn="l">
                        <a:lnSpc>
                          <a:spcPct val="106000"/>
                        </a:lnSpc>
                        <a:spcBef>
                          <a:spcPts val="1200"/>
                        </a:spcBef>
                        <a:spcAft>
                          <a:spcPts val="1200"/>
                        </a:spcAft>
                      </a:pP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Ứng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viên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vượt</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qua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sơ</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vấn</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tc>
                  <a:txBody>
                    <a:bodyPr/>
                    <a:lstStyle/>
                    <a:p>
                      <a:pPr marL="0" marR="0" indent="0" algn="ctr">
                        <a:lnSpc>
                          <a:spcPct val="106000"/>
                        </a:lnSpc>
                        <a:spcBef>
                          <a:spcPts val="1200"/>
                        </a:spcBef>
                        <a:spcAft>
                          <a:spcPts val="1200"/>
                        </a:spcAft>
                      </a:pP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extLst>
                  <a:ext uri="{0D108BD9-81ED-4DB2-BD59-A6C34878D82A}">
                    <a16:rowId xmlns:a16="http://schemas.microsoft.com/office/drawing/2014/main" val="539629251"/>
                  </a:ext>
                </a:extLst>
              </a:tr>
              <a:tr h="470864">
                <a:tc>
                  <a:txBody>
                    <a:bodyPr/>
                    <a:lstStyle/>
                    <a:p>
                      <a:pPr marL="0" marR="0" indent="0" algn="l">
                        <a:lnSpc>
                          <a:spcPct val="106000"/>
                        </a:lnSpc>
                        <a:spcBef>
                          <a:spcPts val="1200"/>
                        </a:spcBef>
                        <a:spcAft>
                          <a:spcPts val="1200"/>
                        </a:spcAft>
                      </a:pP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Ứng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viên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vượt</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qua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phỏng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vấn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vòng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1</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tc>
                  <a:txBody>
                    <a:bodyPr/>
                    <a:lstStyle/>
                    <a:p>
                      <a:pPr marL="0" marR="0" indent="0" algn="ctr">
                        <a:lnSpc>
                          <a:spcPct val="106000"/>
                        </a:lnSpc>
                        <a:spcBef>
                          <a:spcPts val="1200"/>
                        </a:spcBef>
                        <a:spcAft>
                          <a:spcPts val="1200"/>
                        </a:spcAft>
                      </a:pP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extLst>
                  <a:ext uri="{0D108BD9-81ED-4DB2-BD59-A6C34878D82A}">
                    <a16:rowId xmlns:a16="http://schemas.microsoft.com/office/drawing/2014/main" val="3940593776"/>
                  </a:ext>
                </a:extLst>
              </a:tr>
              <a:tr h="470864">
                <a:tc>
                  <a:txBody>
                    <a:bodyPr/>
                    <a:lstStyle/>
                    <a:p>
                      <a:pPr marL="0" marR="0" indent="0" algn="l">
                        <a:lnSpc>
                          <a:spcPct val="106000"/>
                        </a:lnSpc>
                        <a:spcBef>
                          <a:spcPts val="1200"/>
                        </a:spcBef>
                        <a:spcAft>
                          <a:spcPts val="1200"/>
                        </a:spcAft>
                      </a:pP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Ứng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viên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đạt</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yêu</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cầu</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sau</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phỏng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vấn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chuyên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môn</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tc>
                  <a:txBody>
                    <a:bodyPr/>
                    <a:lstStyle/>
                    <a:p>
                      <a:pPr marL="0" marR="0" indent="0" algn="ctr">
                        <a:lnSpc>
                          <a:spcPct val="106000"/>
                        </a:lnSpc>
                        <a:spcBef>
                          <a:spcPts val="1200"/>
                        </a:spcBef>
                        <a:spcAft>
                          <a:spcPts val="1200"/>
                        </a:spcAft>
                      </a:pP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extLst>
                  <a:ext uri="{0D108BD9-81ED-4DB2-BD59-A6C34878D82A}">
                    <a16:rowId xmlns:a16="http://schemas.microsoft.com/office/drawing/2014/main" val="1794617583"/>
                  </a:ext>
                </a:extLst>
              </a:tr>
              <a:tr h="470864">
                <a:tc>
                  <a:txBody>
                    <a:bodyPr/>
                    <a:lstStyle/>
                    <a:p>
                      <a:pPr marL="0" marR="0" indent="0" algn="l">
                        <a:lnSpc>
                          <a:spcPct val="106000"/>
                        </a:lnSpc>
                        <a:spcBef>
                          <a:spcPts val="1200"/>
                        </a:spcBef>
                        <a:spcAft>
                          <a:spcPts val="1200"/>
                        </a:spcAft>
                      </a:pPr>
                      <a:r>
                        <a:rPr lang="en-US" sz="13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Hai bên thống nhất điều kiện làm việc</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tc>
                  <a:txBody>
                    <a:bodyPr/>
                    <a:lstStyle/>
                    <a:p>
                      <a:pPr marL="0" marR="0" indent="0" algn="ctr">
                        <a:lnSpc>
                          <a:spcPct val="106000"/>
                        </a:lnSpc>
                        <a:spcBef>
                          <a:spcPts val="1200"/>
                        </a:spcBef>
                        <a:spcAft>
                          <a:spcPts val="1200"/>
                        </a:spcAft>
                      </a:pP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extLst>
                  <a:ext uri="{0D108BD9-81ED-4DB2-BD59-A6C34878D82A}">
                    <a16:rowId xmlns:a16="http://schemas.microsoft.com/office/drawing/2014/main" val="2871515107"/>
                  </a:ext>
                </a:extLst>
              </a:tr>
              <a:tr h="470864">
                <a:tc>
                  <a:txBody>
                    <a:bodyPr/>
                    <a:lstStyle/>
                    <a:p>
                      <a:pPr marL="0" marR="0" indent="0" algn="l">
                        <a:lnSpc>
                          <a:spcPct val="106000"/>
                        </a:lnSpc>
                        <a:spcBef>
                          <a:spcPts val="1200"/>
                        </a:spcBef>
                        <a:spcAft>
                          <a:spcPts val="1200"/>
                        </a:spcAft>
                      </a:pP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Kết</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quả</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tuyển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dụng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được</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phê</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duyệt</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tc>
                  <a:txBody>
                    <a:bodyPr/>
                    <a:lstStyle/>
                    <a:p>
                      <a:pPr marL="0" marR="0" indent="0" algn="ctr">
                        <a:lnSpc>
                          <a:spcPct val="106000"/>
                        </a:lnSpc>
                        <a:spcBef>
                          <a:spcPts val="1200"/>
                        </a:spcBef>
                        <a:spcAft>
                          <a:spcPts val="1200"/>
                        </a:spcAft>
                      </a:pP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extLst>
                  <a:ext uri="{0D108BD9-81ED-4DB2-BD59-A6C34878D82A}">
                    <a16:rowId xmlns:a16="http://schemas.microsoft.com/office/drawing/2014/main" val="2343090024"/>
                  </a:ext>
                </a:extLst>
              </a:tr>
              <a:tr h="470864">
                <a:tc>
                  <a:txBody>
                    <a:bodyPr/>
                    <a:lstStyle/>
                    <a:p>
                      <a:pPr marL="0" marR="0" indent="0" algn="l">
                        <a:lnSpc>
                          <a:spcPct val="106000"/>
                        </a:lnSpc>
                        <a:spcBef>
                          <a:spcPts val="1200"/>
                        </a:spcBef>
                        <a:spcAft>
                          <a:spcPts val="1200"/>
                        </a:spcAft>
                      </a:pP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Ứng</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viên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chấp</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3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nhận</a:t>
                      </a: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offer</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tc>
                  <a:txBody>
                    <a:bodyPr/>
                    <a:lstStyle/>
                    <a:p>
                      <a:pPr marL="0" marR="0" indent="0" algn="ctr">
                        <a:lnSpc>
                          <a:spcPct val="106000"/>
                        </a:lnSpc>
                        <a:spcBef>
                          <a:spcPts val="1200"/>
                        </a:spcBef>
                        <a:spcAft>
                          <a:spcPts val="1200"/>
                        </a:spcAft>
                      </a:pPr>
                      <a:r>
                        <a:rPr lang="en-US" sz="13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5720" marR="45720"/>
                </a:tc>
                <a:extLst>
                  <a:ext uri="{0D108BD9-81ED-4DB2-BD59-A6C34878D82A}">
                    <a16:rowId xmlns:a16="http://schemas.microsoft.com/office/drawing/2014/main" val="1361304966"/>
                  </a:ext>
                </a:extLst>
              </a:tr>
            </a:tbl>
          </a:graphicData>
        </a:graphic>
      </p:graphicFrame>
      <p:sp>
        <p:nvSpPr>
          <p:cNvPr id="7" name="TextBox 6">
            <a:extLst>
              <a:ext uri="{FF2B5EF4-FFF2-40B4-BE49-F238E27FC236}">
                <a16:creationId xmlns:a16="http://schemas.microsoft.com/office/drawing/2014/main" id="{A82CE70D-C29F-41AE-A8C7-B4A06501D913}"/>
              </a:ext>
            </a:extLst>
          </p:cNvPr>
          <p:cNvSpPr txBox="1"/>
          <p:nvPr/>
        </p:nvSpPr>
        <p:spPr>
          <a:xfrm>
            <a:off x="6481128" y="1256219"/>
            <a:ext cx="5103628" cy="4524315"/>
          </a:xfrm>
          <a:prstGeom prst="rect">
            <a:avLst/>
          </a:prstGeom>
          <a:noFill/>
        </p:spPr>
        <p:txBody>
          <a:bodyPr wrap="square" rtlCol="0">
            <a:spAutoFit/>
          </a:bodyPr>
          <a:lstStyle/>
          <a:p>
            <a:pPr algn="just"/>
            <a:r>
              <a:rPr lang="en-US" dirty="0" err="1"/>
              <a:t>Nhận</a:t>
            </a:r>
            <a:r>
              <a:rPr lang="en-US" dirty="0"/>
              <a:t> </a:t>
            </a:r>
            <a:r>
              <a:rPr lang="en-US" dirty="0" err="1"/>
              <a:t>xét</a:t>
            </a:r>
            <a:r>
              <a:rPr lang="en-US" dirty="0"/>
              <a:t>:</a:t>
            </a:r>
          </a:p>
          <a:p>
            <a:pPr marL="285750" indent="-285750" algn="just">
              <a:buFont typeface="Arial" panose="020B0604020202020204" pitchFamily="34" charset="0"/>
              <a:buChar char="•"/>
            </a:pPr>
            <a:r>
              <a:rPr lang="vi-VN" dirty="0"/>
              <a:t>Tỷ lệ sàng lọc hồ sơ chỉ 30%, cho thấy đây là điểm loại ứng viên lớn nhất trong quy trình.</a:t>
            </a: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vi-VN" dirty="0"/>
              <a:t>Qua các vòng phỏng vấn, tỷ lệ đạt yêu cầu dao động 60–70%, cho thấy mức sàng lọc vẫn đáng kể ở giai đoạn đánh giá.</a:t>
            </a:r>
            <a:endParaRPr lang="en-US" dirty="0"/>
          </a:p>
          <a:p>
            <a:pPr algn="just"/>
            <a:endParaRPr lang="en-US" dirty="0"/>
          </a:p>
          <a:p>
            <a:pPr marL="285750" indent="-285750" algn="just">
              <a:buFont typeface="Arial" panose="020B0604020202020204" pitchFamily="34" charset="0"/>
              <a:buChar char="•"/>
            </a:pPr>
            <a:r>
              <a:rPr lang="vi-VN" dirty="0"/>
              <a:t>Các bước thống nhất điều kiện, phê duyệt kết quả và chấp nhận offer đạt 80–90%, cho thấy tỷ lệ duy trì ứng viên cao hơn ở giai đoạn cuối.</a:t>
            </a:r>
            <a:endParaRPr lang="en-US" dirty="0"/>
          </a:p>
          <a:p>
            <a:pPr marL="285750" indent="-285750" algn="just">
              <a:buFont typeface="Arial" panose="020B0604020202020204" pitchFamily="34" charset="0"/>
              <a:buChar char="•"/>
            </a:pPr>
            <a:r>
              <a:rPr lang="vi-VN" dirty="0"/>
              <a:t>Do đó, hướng cải thiện là nâng cao chất lượng nguồn ứng viên và hiệu quả sàng lọc ban đầu nhằm tăng tỷ lệ ứng viên phù hợp đi tiếp trong quy trình.</a:t>
            </a:r>
            <a:endParaRPr lang="en-US" dirty="0"/>
          </a:p>
        </p:txBody>
      </p:sp>
    </p:spTree>
    <p:extLst>
      <p:ext uri="{BB962C8B-B14F-4D97-AF65-F5344CB8AC3E}">
        <p14:creationId xmlns:p14="http://schemas.microsoft.com/office/powerpoint/2010/main" val="2645028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12;g3a6c8354d49_0_95">
            <a:extLst>
              <a:ext uri="{FF2B5EF4-FFF2-40B4-BE49-F238E27FC236}">
                <a16:creationId xmlns:a16="http://schemas.microsoft.com/office/drawing/2014/main" id="{6CC714C3-BD8A-4517-9E74-3ECA94B19D65}"/>
              </a:ext>
            </a:extLst>
          </p:cNvPr>
          <p:cNvSpPr txBox="1"/>
          <p:nvPr/>
        </p:nvSpPr>
        <p:spPr>
          <a:xfrm>
            <a:off x="1823850" y="105775"/>
            <a:ext cx="8544300" cy="9848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800" b="1" dirty="0"/>
              <a:t>Quy trình </a:t>
            </a:r>
            <a:r>
              <a:rPr lang="en-US" sz="2800" b="1" dirty="0" err="1"/>
              <a:t>Tuyển</a:t>
            </a:r>
            <a:r>
              <a:rPr lang="en-US" sz="2800" b="1" dirty="0"/>
              <a:t> </a:t>
            </a:r>
            <a:r>
              <a:rPr lang="en-US" sz="2800" b="1" dirty="0" err="1"/>
              <a:t>dụng</a:t>
            </a:r>
            <a:r>
              <a:rPr lang="en-US" sz="2800" b="1" dirty="0"/>
              <a:t> </a:t>
            </a:r>
            <a:r>
              <a:rPr lang="en-US" sz="2800" b="1" dirty="0" err="1"/>
              <a:t>và</a:t>
            </a:r>
            <a:r>
              <a:rPr lang="en-US" sz="2800" b="1" dirty="0"/>
              <a:t> </a:t>
            </a:r>
            <a:r>
              <a:rPr lang="en-US" sz="2800" b="1" dirty="0" err="1"/>
              <a:t>phân</a:t>
            </a:r>
            <a:r>
              <a:rPr lang="en-US" sz="2800" b="1" dirty="0"/>
              <a:t> </a:t>
            </a:r>
            <a:r>
              <a:rPr lang="en-US" sz="2800" b="1" dirty="0" err="1"/>
              <a:t>bổ</a:t>
            </a:r>
            <a:r>
              <a:rPr lang="en-US" sz="2800" b="1" dirty="0"/>
              <a:t> </a:t>
            </a:r>
            <a:r>
              <a:rPr lang="en-US" sz="2800" b="1" dirty="0" err="1"/>
              <a:t>nhân</a:t>
            </a:r>
            <a:r>
              <a:rPr lang="en-US" sz="2800" b="1" dirty="0"/>
              <a:t> </a:t>
            </a:r>
            <a:r>
              <a:rPr lang="en-US" sz="2800" b="1" dirty="0" err="1"/>
              <a:t>sự</a:t>
            </a:r>
            <a:endParaRPr sz="2800" b="1" dirty="0"/>
          </a:p>
          <a:p>
            <a:pPr marL="0" lvl="0" indent="0" algn="l" rtl="0">
              <a:spcBef>
                <a:spcPts val="0"/>
              </a:spcBef>
              <a:spcAft>
                <a:spcPts val="0"/>
              </a:spcAft>
              <a:buNone/>
            </a:pPr>
            <a:endParaRPr sz="2400" b="1" dirty="0"/>
          </a:p>
        </p:txBody>
      </p:sp>
      <p:sp>
        <p:nvSpPr>
          <p:cNvPr id="3" name="Google Shape;513;g3a6c8354d49_0_95">
            <a:extLst>
              <a:ext uri="{FF2B5EF4-FFF2-40B4-BE49-F238E27FC236}">
                <a16:creationId xmlns:a16="http://schemas.microsoft.com/office/drawing/2014/main" id="{54E609D9-3A3C-407A-9C24-3B502671886D}"/>
              </a:ext>
            </a:extLst>
          </p:cNvPr>
          <p:cNvSpPr txBox="1">
            <a:spLocks/>
          </p:cNvSpPr>
          <p:nvPr/>
        </p:nvSpPr>
        <p:spPr>
          <a:xfrm>
            <a:off x="1823849" y="570224"/>
            <a:ext cx="8314319" cy="315300"/>
          </a:xfrm>
          <a:prstGeom prst="rect">
            <a:avLst/>
          </a:prstGeom>
          <a:noFill/>
          <a:ln>
            <a:noFill/>
          </a:ln>
        </p:spPr>
        <p:txBody>
          <a:bodyPr spcFirstLastPara="1" wrap="square" lIns="91425" tIns="0" rIns="91425" bIns="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SzPts val="1500"/>
              <a:buNone/>
            </a:pPr>
            <a:r>
              <a:rPr lang="en-US" sz="1900" dirty="0" err="1"/>
              <a:t>Phân</a:t>
            </a:r>
            <a:r>
              <a:rPr lang="en-US" sz="1900" dirty="0"/>
              <a:t> </a:t>
            </a:r>
            <a:r>
              <a:rPr lang="en-US" sz="1900" dirty="0" err="1"/>
              <a:t>tích</a:t>
            </a:r>
            <a:r>
              <a:rPr lang="en-US" sz="1900" dirty="0"/>
              <a:t> </a:t>
            </a:r>
            <a:r>
              <a:rPr lang="en-US" sz="1900" dirty="0" err="1"/>
              <a:t>quy</a:t>
            </a:r>
            <a:r>
              <a:rPr lang="en-US" sz="1900" dirty="0"/>
              <a:t> </a:t>
            </a:r>
            <a:r>
              <a:rPr lang="en-US" sz="1900" dirty="0" err="1"/>
              <a:t>trình</a:t>
            </a:r>
            <a:r>
              <a:rPr lang="en-US" sz="1900" dirty="0"/>
              <a:t> </a:t>
            </a:r>
            <a:r>
              <a:rPr lang="en-US" sz="1900" dirty="0" err="1"/>
              <a:t>định</a:t>
            </a:r>
            <a:r>
              <a:rPr lang="en-US" sz="1900" dirty="0"/>
              <a:t> l</a:t>
            </a:r>
            <a:r>
              <a:rPr lang="vi-VN" sz="1900" dirty="0"/>
              <a:t>ư</a:t>
            </a:r>
            <a:r>
              <a:rPr lang="en-US" sz="1900" dirty="0" err="1"/>
              <a:t>ợng</a:t>
            </a:r>
            <a:r>
              <a:rPr lang="en-US" sz="1900" dirty="0"/>
              <a:t> – </a:t>
            </a:r>
            <a:r>
              <a:rPr lang="en-US" sz="1900" dirty="0" err="1"/>
              <a:t>Phân</a:t>
            </a:r>
            <a:r>
              <a:rPr lang="en-US" sz="1900" dirty="0"/>
              <a:t> </a:t>
            </a:r>
            <a:r>
              <a:rPr lang="en-US" sz="1900" dirty="0" err="1"/>
              <a:t>tích</a:t>
            </a:r>
            <a:r>
              <a:rPr lang="en-US" sz="1900" dirty="0"/>
              <a:t> chi </a:t>
            </a:r>
            <a:r>
              <a:rPr lang="en-US" sz="1900" dirty="0" err="1"/>
              <a:t>phí</a:t>
            </a:r>
            <a:endParaRPr lang="en-US" sz="1900" dirty="0"/>
          </a:p>
        </p:txBody>
      </p:sp>
      <p:sp>
        <p:nvSpPr>
          <p:cNvPr id="4" name="Google Shape;515;g3a6c8354d49_0_95">
            <a:extLst>
              <a:ext uri="{FF2B5EF4-FFF2-40B4-BE49-F238E27FC236}">
                <a16:creationId xmlns:a16="http://schemas.microsoft.com/office/drawing/2014/main" id="{E2B90995-6322-4E20-ABED-FF6761C7F65C}"/>
              </a:ext>
            </a:extLst>
          </p:cNvPr>
          <p:cNvSpPr txBox="1">
            <a:spLocks/>
          </p:cNvSpPr>
          <p:nvPr/>
        </p:nvSpPr>
        <p:spPr>
          <a:xfrm>
            <a:off x="290250" y="216798"/>
            <a:ext cx="873300" cy="597300"/>
          </a:xfrm>
          <a:prstGeom prst="rect">
            <a:avLst/>
          </a:prstGeom>
          <a:noFill/>
          <a:ln>
            <a:noFill/>
          </a:ln>
        </p:spPr>
        <p:txBody>
          <a:bodyPr spcFirstLastPara="1" vert="horz" wrap="square" lIns="91425" tIns="0" rIns="91425" bIns="36575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1600"/>
              </a:spcAft>
              <a:buSzPts val="3300"/>
              <a:buFont typeface="Arial" panose="020B0604020202020204" pitchFamily="34" charset="0"/>
              <a:buNone/>
            </a:pPr>
            <a:r>
              <a:rPr lang="en" sz="3300" b="1" dirty="0"/>
              <a:t>04</a:t>
            </a:r>
            <a:r>
              <a:rPr lang="en" sz="3300" b="1" dirty="0">
                <a:solidFill>
                  <a:schemeClr val="lt1"/>
                </a:solidFill>
              </a:rPr>
              <a:t>44</a:t>
            </a:r>
          </a:p>
        </p:txBody>
      </p:sp>
      <p:sp>
        <p:nvSpPr>
          <p:cNvPr id="5" name="TextBox 4">
            <a:extLst>
              <a:ext uri="{FF2B5EF4-FFF2-40B4-BE49-F238E27FC236}">
                <a16:creationId xmlns:a16="http://schemas.microsoft.com/office/drawing/2014/main" id="{9A64A268-E35F-48E4-8B2B-C659785C4D4F}"/>
              </a:ext>
            </a:extLst>
          </p:cNvPr>
          <p:cNvSpPr txBox="1"/>
          <p:nvPr/>
        </p:nvSpPr>
        <p:spPr>
          <a:xfrm>
            <a:off x="5638801" y="1283142"/>
            <a:ext cx="6011396" cy="2031325"/>
          </a:xfrm>
          <a:prstGeom prst="rect">
            <a:avLst/>
          </a:prstGeom>
          <a:noFill/>
        </p:spPr>
        <p:txBody>
          <a:bodyPr wrap="square" rtlCol="0">
            <a:spAutoFit/>
          </a:bodyPr>
          <a:lstStyle/>
          <a:p>
            <a:r>
              <a:rPr lang="vi-VN" dirty="0"/>
              <a:t>Chi phí kỳ vọng cho một nhu cầu tuyển dụng</a:t>
            </a:r>
            <a:r>
              <a:rPr lang="en-US" dirty="0"/>
              <a:t> </a:t>
            </a:r>
            <a:r>
              <a:rPr lang="en-US" dirty="0" err="1"/>
              <a:t>là</a:t>
            </a:r>
            <a:r>
              <a:rPr lang="en-US" dirty="0"/>
              <a:t> </a:t>
            </a:r>
            <a:r>
              <a:rPr lang="en-US" dirty="0" err="1"/>
              <a:t>tổng</a:t>
            </a:r>
            <a:r>
              <a:rPr lang="en-US" dirty="0"/>
              <a:t> chi </a:t>
            </a:r>
            <a:r>
              <a:rPr lang="en-US" dirty="0" err="1"/>
              <a:t>phí</a:t>
            </a:r>
            <a:r>
              <a:rPr lang="en-US" dirty="0"/>
              <a:t> </a:t>
            </a:r>
            <a:r>
              <a:rPr lang="en-US" dirty="0" err="1"/>
              <a:t>kỳ</a:t>
            </a:r>
            <a:r>
              <a:rPr lang="en-US" dirty="0"/>
              <a:t> </a:t>
            </a:r>
            <a:r>
              <a:rPr lang="en-US" dirty="0" err="1"/>
              <a:t>vọng</a:t>
            </a:r>
            <a:r>
              <a:rPr lang="en-US" dirty="0"/>
              <a:t> </a:t>
            </a:r>
            <a:r>
              <a:rPr lang="en-US" dirty="0" err="1"/>
              <a:t>cho</a:t>
            </a:r>
            <a:r>
              <a:rPr lang="en-US" dirty="0"/>
              <a:t> </a:t>
            </a:r>
            <a:r>
              <a:rPr lang="en-US" dirty="0" err="1"/>
              <a:t>từng</a:t>
            </a:r>
            <a:r>
              <a:rPr lang="en-US" dirty="0"/>
              <a:t> </a:t>
            </a:r>
            <a:r>
              <a:rPr lang="en-US" dirty="0" err="1"/>
              <a:t>giai</a:t>
            </a:r>
            <a:r>
              <a:rPr lang="en-US" dirty="0"/>
              <a:t> </a:t>
            </a:r>
            <a:r>
              <a:rPr lang="en-US" dirty="0" err="1"/>
              <a:t>đoạn</a:t>
            </a:r>
            <a:r>
              <a:rPr lang="en-US" dirty="0"/>
              <a:t>:</a:t>
            </a:r>
          </a:p>
          <a:p>
            <a:endParaRPr lang="en-US" dirty="0"/>
          </a:p>
          <a:p>
            <a:endParaRPr lang="en-US" dirty="0"/>
          </a:p>
          <a:p>
            <a:r>
              <a:rPr lang="en-US" dirty="0"/>
              <a:t>C ≈ 2.63 </a:t>
            </a:r>
            <a:r>
              <a:rPr lang="en-US" dirty="0" err="1"/>
              <a:t>triệu</a:t>
            </a:r>
            <a:r>
              <a:rPr lang="en-US" dirty="0"/>
              <a:t> </a:t>
            </a:r>
            <a:r>
              <a:rPr lang="en-US" dirty="0" err="1"/>
              <a:t>đồng</a:t>
            </a:r>
            <a:r>
              <a:rPr lang="en-US" dirty="0"/>
              <a:t>/</a:t>
            </a:r>
            <a:r>
              <a:rPr lang="en-US" dirty="0" err="1"/>
              <a:t>nhu</a:t>
            </a:r>
            <a:r>
              <a:rPr lang="en-US" dirty="0"/>
              <a:t> </a:t>
            </a:r>
            <a:r>
              <a:rPr lang="en-US" dirty="0" err="1"/>
              <a:t>cầu</a:t>
            </a:r>
            <a:r>
              <a:rPr lang="en-US" dirty="0"/>
              <a:t> </a:t>
            </a:r>
            <a:r>
              <a:rPr lang="en-US" dirty="0" err="1"/>
              <a:t>tuyển</a:t>
            </a:r>
            <a:r>
              <a:rPr lang="en-US" dirty="0"/>
              <a:t> </a:t>
            </a:r>
            <a:r>
              <a:rPr lang="en-US" dirty="0" err="1"/>
              <a:t>dụng</a:t>
            </a:r>
            <a:endParaRPr lang="en-US" dirty="0"/>
          </a:p>
          <a:p>
            <a:r>
              <a:rPr lang="vi-VN" dirty="0"/>
              <a:t>Chi phí từng giai đoạn được tính theo cùng cấu trúc xác suất đã sử dụng trong phân tích thời gian.</a:t>
            </a:r>
            <a:endParaRPr lang="en-US" dirty="0"/>
          </a:p>
        </p:txBody>
      </p:sp>
      <p:pic>
        <p:nvPicPr>
          <p:cNvPr id="7" name="Picture 6">
            <a:extLst>
              <a:ext uri="{FF2B5EF4-FFF2-40B4-BE49-F238E27FC236}">
                <a16:creationId xmlns:a16="http://schemas.microsoft.com/office/drawing/2014/main" id="{6D830717-8AE0-431D-8D08-67208138F59C}"/>
              </a:ext>
            </a:extLst>
          </p:cNvPr>
          <p:cNvPicPr>
            <a:picLocks noChangeAspect="1"/>
          </p:cNvPicPr>
          <p:nvPr/>
        </p:nvPicPr>
        <p:blipFill>
          <a:blip r:embed="rId2"/>
          <a:stretch>
            <a:fillRect/>
          </a:stretch>
        </p:blipFill>
        <p:spPr>
          <a:xfrm>
            <a:off x="5599437" y="1995225"/>
            <a:ext cx="5944430" cy="362001"/>
          </a:xfrm>
          <a:prstGeom prst="rect">
            <a:avLst/>
          </a:prstGeom>
        </p:spPr>
      </p:pic>
      <p:sp>
        <p:nvSpPr>
          <p:cNvPr id="8" name="TextBox 7">
            <a:extLst>
              <a:ext uri="{FF2B5EF4-FFF2-40B4-BE49-F238E27FC236}">
                <a16:creationId xmlns:a16="http://schemas.microsoft.com/office/drawing/2014/main" id="{F963F497-6AEB-4493-A54F-46117662CE7B}"/>
              </a:ext>
            </a:extLst>
          </p:cNvPr>
          <p:cNvSpPr txBox="1"/>
          <p:nvPr/>
        </p:nvSpPr>
        <p:spPr>
          <a:xfrm>
            <a:off x="5638801" y="3543534"/>
            <a:ext cx="5905066" cy="2585323"/>
          </a:xfrm>
          <a:prstGeom prst="rect">
            <a:avLst/>
          </a:prstGeom>
          <a:noFill/>
        </p:spPr>
        <p:txBody>
          <a:bodyPr wrap="square" rtlCol="0">
            <a:spAutoFit/>
          </a:bodyPr>
          <a:lstStyle/>
          <a:p>
            <a:pPr algn="just"/>
            <a:r>
              <a:rPr lang="en-US" dirty="0" err="1"/>
              <a:t>Nhận</a:t>
            </a:r>
            <a:r>
              <a:rPr lang="en-US" dirty="0"/>
              <a:t> </a:t>
            </a:r>
            <a:r>
              <a:rPr lang="en-US" dirty="0" err="1"/>
              <a:t>xét</a:t>
            </a:r>
            <a:r>
              <a:rPr lang="en-US" dirty="0"/>
              <a:t>:</a:t>
            </a:r>
          </a:p>
          <a:p>
            <a:pPr marL="285750" indent="-285750" algn="just">
              <a:buFontTx/>
              <a:buChar char="-"/>
            </a:pPr>
            <a:r>
              <a:rPr lang="vi-VN" dirty="0"/>
              <a:t>Chi phí tập trung chủ yếu ở đăng tuyển, xử lý/sàng lọc hồ sơ, onboarding và các bước có nhiều nguồn lực tham gia.</a:t>
            </a:r>
            <a:endParaRPr lang="en-US" dirty="0"/>
          </a:p>
          <a:p>
            <a:pPr marL="285750" indent="-285750" algn="just">
              <a:buFontTx/>
              <a:buChar char="-"/>
            </a:pPr>
            <a:r>
              <a:rPr lang="vi-VN" dirty="0"/>
              <a:t>Điều chỉnh yêu cầu, tuyển lại ứng viên hoặc ứng viên từ chối offer làm phát sinh thêm chi phí xử lý.</a:t>
            </a:r>
            <a:endParaRPr lang="en-US" dirty="0"/>
          </a:p>
          <a:p>
            <a:pPr marL="285750" indent="-285750" algn="just">
              <a:buFontTx/>
              <a:buChar char="-"/>
            </a:pPr>
            <a:r>
              <a:rPr lang="vi-VN" dirty="0"/>
              <a:t>Để giảm chi phí, cần chuẩn hóa yêu cầu tuyển dụng, nâng chất lượng nguồn ứng viên và giảm số lần xử lý lại.</a:t>
            </a:r>
            <a:endParaRPr lang="en-US" dirty="0"/>
          </a:p>
        </p:txBody>
      </p:sp>
      <p:graphicFrame>
        <p:nvGraphicFramePr>
          <p:cNvPr id="6" name="Table 5">
            <a:extLst>
              <a:ext uri="{FF2B5EF4-FFF2-40B4-BE49-F238E27FC236}">
                <a16:creationId xmlns:a16="http://schemas.microsoft.com/office/drawing/2014/main" id="{A32CE50C-55AE-4330-BFC8-BC32D8DE334E}"/>
              </a:ext>
            </a:extLst>
          </p:cNvPr>
          <p:cNvGraphicFramePr>
            <a:graphicFrameLocks noGrp="1"/>
          </p:cNvGraphicFramePr>
          <p:nvPr>
            <p:extLst>
              <p:ext uri="{D42A27DB-BD31-4B8C-83A1-F6EECF244321}">
                <p14:modId xmlns:p14="http://schemas.microsoft.com/office/powerpoint/2010/main" val="172840383"/>
              </p:ext>
            </p:extLst>
          </p:nvPr>
        </p:nvGraphicFramePr>
        <p:xfrm>
          <a:off x="825770" y="1371790"/>
          <a:ext cx="4475804" cy="4620448"/>
        </p:xfrm>
        <a:graphic>
          <a:graphicData uri="http://schemas.openxmlformats.org/drawingml/2006/table">
            <a:tbl>
              <a:tblPr firstRow="1" bandRow="1">
                <a:tableStyleId>{5C22544A-7EE6-4342-B048-85BDC9FD1C3A}</a:tableStyleId>
              </a:tblPr>
              <a:tblGrid>
                <a:gridCol w="2238443">
                  <a:extLst>
                    <a:ext uri="{9D8B030D-6E8A-4147-A177-3AD203B41FA5}">
                      <a16:colId xmlns:a16="http://schemas.microsoft.com/office/drawing/2014/main" val="686624044"/>
                    </a:ext>
                  </a:extLst>
                </a:gridCol>
                <a:gridCol w="2237361">
                  <a:extLst>
                    <a:ext uri="{9D8B030D-6E8A-4147-A177-3AD203B41FA5}">
                      <a16:colId xmlns:a16="http://schemas.microsoft.com/office/drawing/2014/main" val="195059654"/>
                    </a:ext>
                  </a:extLst>
                </a:gridCol>
              </a:tblGrid>
              <a:tr h="577556">
                <a:tc>
                  <a:txBody>
                    <a:bodyPr/>
                    <a:lstStyle/>
                    <a:p>
                      <a:pPr marL="0" marR="0" indent="0" algn="ctr">
                        <a:lnSpc>
                          <a:spcPct val="150000"/>
                        </a:lnSpc>
                        <a:spcBef>
                          <a:spcPts val="0"/>
                        </a:spcBef>
                        <a:spcAft>
                          <a:spcPts val="600"/>
                        </a:spcAft>
                      </a:pPr>
                      <a:r>
                        <a:rPr lang="en-US" sz="1200" b="1" dirty="0" err="1">
                          <a:effectLst/>
                          <a:latin typeface="Times New Roman" panose="02020603050405020304" pitchFamily="18" charset="0"/>
                          <a:ea typeface="Times New Roman" panose="02020603050405020304" pitchFamily="18" charset="0"/>
                          <a:cs typeface="Times New Roman" panose="02020603050405020304" pitchFamily="18" charset="0"/>
                        </a:rPr>
                        <a:t>Nguồn</a:t>
                      </a: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dirty="0" err="1">
                          <a:effectLst/>
                          <a:latin typeface="Times New Roman" panose="02020603050405020304" pitchFamily="18" charset="0"/>
                          <a:ea typeface="Times New Roman" panose="02020603050405020304" pitchFamily="18" charset="0"/>
                          <a:cs typeface="Times New Roman" panose="02020603050405020304" pitchFamily="18" charset="0"/>
                        </a:rPr>
                        <a:t>lực</a:t>
                      </a: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/Chi </a:t>
                      </a:r>
                      <a:r>
                        <a:rPr lang="en-US" sz="1200" b="1" dirty="0" err="1">
                          <a:effectLst/>
                          <a:latin typeface="Times New Roman" panose="02020603050405020304" pitchFamily="18" charset="0"/>
                          <a:ea typeface="Times New Roman" panose="02020603050405020304" pitchFamily="18" charset="0"/>
                          <a:cs typeface="Times New Roman" panose="02020603050405020304" pitchFamily="18" charset="0"/>
                        </a:rPr>
                        <a:t>phí</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indent="0" algn="ctr">
                        <a:lnSpc>
                          <a:spcPct val="150000"/>
                        </a:lnSpc>
                        <a:spcBef>
                          <a:spcPts val="0"/>
                        </a:spcBef>
                        <a:spcAft>
                          <a:spcPts val="600"/>
                        </a:spcAft>
                      </a:pPr>
                      <a:r>
                        <a:rPr lang="en-US" sz="1200" b="1" dirty="0" err="1">
                          <a:effectLst/>
                          <a:latin typeface="Times New Roman" panose="02020603050405020304" pitchFamily="18" charset="0"/>
                          <a:ea typeface="Times New Roman" panose="02020603050405020304" pitchFamily="18" charset="0"/>
                          <a:cs typeface="Times New Roman" panose="02020603050405020304" pitchFamily="18" charset="0"/>
                        </a:rPr>
                        <a:t>Đơn</a:t>
                      </a: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dirty="0" err="1">
                          <a:effectLst/>
                          <a:latin typeface="Times New Roman" panose="02020603050405020304" pitchFamily="18" charset="0"/>
                          <a:ea typeface="Times New Roman" panose="02020603050405020304" pitchFamily="18" charset="0"/>
                          <a:cs typeface="Times New Roman" panose="02020603050405020304" pitchFamily="18" charset="0"/>
                        </a:rPr>
                        <a:t>giá</a:t>
                      </a: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dirty="0" err="1">
                          <a:effectLst/>
                          <a:latin typeface="Times New Roman" panose="02020603050405020304" pitchFamily="18" charset="0"/>
                          <a:ea typeface="Times New Roman" panose="02020603050405020304" pitchFamily="18" charset="0"/>
                          <a:cs typeface="Times New Roman" panose="02020603050405020304" pitchFamily="18" charset="0"/>
                        </a:rPr>
                        <a:t>giả</a:t>
                      </a: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dirty="0" err="1">
                          <a:effectLst/>
                          <a:latin typeface="Times New Roman" panose="02020603050405020304" pitchFamily="18" charset="0"/>
                          <a:ea typeface="Times New Roman" panose="02020603050405020304" pitchFamily="18" charset="0"/>
                          <a:cs typeface="Times New Roman" panose="02020603050405020304" pitchFamily="18" charset="0"/>
                        </a:rPr>
                        <a:t>định</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57740663"/>
                  </a:ext>
                </a:extLst>
              </a:tr>
              <a:tr h="577556">
                <a:tc>
                  <a:txBody>
                    <a:bodyPr/>
                    <a:lstStyle/>
                    <a:p>
                      <a:pPr marL="0" marR="0" indent="0" algn="l">
                        <a:lnSpc>
                          <a:spcPct val="150000"/>
                        </a:lnSpc>
                        <a:spcBef>
                          <a:spcPts val="0"/>
                        </a:spcBef>
                        <a:spcAft>
                          <a:spcPts val="600"/>
                        </a:spcAft>
                      </a:pP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Nhân</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viên</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tuyển</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dụng</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/HR</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indent="360045" algn="just">
                        <a:lnSpc>
                          <a:spcPct val="150000"/>
                        </a:lnSpc>
                        <a:spcBef>
                          <a:spcPts val="0"/>
                        </a:spcBef>
                        <a:spcAft>
                          <a:spcPts val="6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100.000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đồng</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giờ</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51557481"/>
                  </a:ext>
                </a:extLst>
              </a:tr>
              <a:tr h="577556">
                <a:tc>
                  <a:txBody>
                    <a:bodyPr/>
                    <a:lstStyle/>
                    <a:p>
                      <a:pPr marL="0" marR="0" indent="0" algn="l">
                        <a:lnSpc>
                          <a:spcPct val="150000"/>
                        </a:lnSpc>
                        <a:spcBef>
                          <a:spcPts val="0"/>
                        </a:spcBef>
                        <a:spcAft>
                          <a:spcPts val="600"/>
                        </a:spcAft>
                      </a:pP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Quản</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lý</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Trưởng</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bộ</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phận</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indent="360045" algn="just">
                        <a:lnSpc>
                          <a:spcPct val="150000"/>
                        </a:lnSpc>
                        <a:spcBef>
                          <a:spcPts val="0"/>
                        </a:spcBef>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200.000 đồng/giờ</a:t>
                      </a:r>
                      <a:endParaRPr lang="en-US"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33527580"/>
                  </a:ext>
                </a:extLst>
              </a:tr>
              <a:tr h="577556">
                <a:tc>
                  <a:txBody>
                    <a:bodyPr/>
                    <a:lstStyle/>
                    <a:p>
                      <a:pPr marL="0" marR="0" indent="0" algn="l">
                        <a:lnSpc>
                          <a:spcPct val="150000"/>
                        </a:lnSpc>
                        <a:spcBef>
                          <a:spcPts val="0"/>
                        </a:spcBef>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Người phỏng vấn chuyên môn</a:t>
                      </a:r>
                      <a:endParaRPr lang="en-US"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indent="360045" algn="just">
                        <a:lnSpc>
                          <a:spcPct val="150000"/>
                        </a:lnSpc>
                        <a:spcBef>
                          <a:spcPts val="0"/>
                        </a:spcBef>
                        <a:spcAft>
                          <a:spcPts val="6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200.000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đồng</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giờ</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74755436"/>
                  </a:ext>
                </a:extLst>
              </a:tr>
              <a:tr h="577556">
                <a:tc>
                  <a:txBody>
                    <a:bodyPr/>
                    <a:lstStyle/>
                    <a:p>
                      <a:pPr marL="0" marR="0" indent="0" algn="l">
                        <a:lnSpc>
                          <a:spcPct val="150000"/>
                        </a:lnSpc>
                        <a:spcBef>
                          <a:spcPts val="0"/>
                        </a:spcBef>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IT/Hành chính</a:t>
                      </a:r>
                      <a:endParaRPr lang="en-US"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indent="360045" algn="just">
                        <a:lnSpc>
                          <a:spcPct val="150000"/>
                        </a:lnSpc>
                        <a:spcBef>
                          <a:spcPts val="0"/>
                        </a:spcBef>
                        <a:spcAft>
                          <a:spcPts val="6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100.000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đồng</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giờ</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78316758"/>
                  </a:ext>
                </a:extLst>
              </a:tr>
              <a:tr h="577556">
                <a:tc>
                  <a:txBody>
                    <a:bodyPr/>
                    <a:lstStyle/>
                    <a:p>
                      <a:pPr marL="0" marR="0" indent="0" algn="l">
                        <a:lnSpc>
                          <a:spcPct val="150000"/>
                        </a:lnSpc>
                        <a:spcBef>
                          <a:spcPts val="0"/>
                        </a:spcBef>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Chi phí đăng tuyển</a:t>
                      </a:r>
                      <a:endParaRPr lang="en-US"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indent="360045" algn="just">
                        <a:lnSpc>
                          <a:spcPct val="150000"/>
                        </a:lnSpc>
                        <a:spcBef>
                          <a:spcPts val="0"/>
                        </a:spcBef>
                        <a:spcAft>
                          <a:spcPts val="6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1.000.000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đồng</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vị</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trí</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53936157"/>
                  </a:ext>
                </a:extLst>
              </a:tr>
              <a:tr h="577556">
                <a:tc>
                  <a:txBody>
                    <a:bodyPr/>
                    <a:lstStyle/>
                    <a:p>
                      <a:pPr marL="0" marR="0" indent="0" algn="l">
                        <a:lnSpc>
                          <a:spcPct val="150000"/>
                        </a:lnSpc>
                        <a:spcBef>
                          <a:spcPts val="0"/>
                        </a:spcBef>
                        <a:spcAft>
                          <a:spcPts val="6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Chi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phí</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ATS/HRM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phân</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bổ</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indent="360045" algn="just">
                        <a:lnSpc>
                          <a:spcPct val="150000"/>
                        </a:lnSpc>
                        <a:spcBef>
                          <a:spcPts val="0"/>
                        </a:spcBef>
                        <a:spcAft>
                          <a:spcPts val="6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200.000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đồng</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vị</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trí</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68010816"/>
                  </a:ext>
                </a:extLst>
              </a:tr>
              <a:tr h="577556">
                <a:tc>
                  <a:txBody>
                    <a:bodyPr/>
                    <a:lstStyle/>
                    <a:p>
                      <a:pPr marL="0" marR="0" indent="0" algn="l">
                        <a:lnSpc>
                          <a:spcPct val="150000"/>
                        </a:lnSpc>
                        <a:spcBef>
                          <a:spcPts val="0"/>
                        </a:spcBef>
                        <a:spcAft>
                          <a:spcPts val="6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Chi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phí</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onboarding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trực</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tiếp</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indent="360045" algn="just">
                        <a:lnSpc>
                          <a:spcPct val="150000"/>
                        </a:lnSpc>
                        <a:spcBef>
                          <a:spcPts val="0"/>
                        </a:spcBef>
                        <a:spcAft>
                          <a:spcPts val="6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500.000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đồng</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nhân</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viên</a:t>
                      </a:r>
                      <a:endParaRPr lang="en-US"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38436307"/>
                  </a:ext>
                </a:extLst>
              </a:tr>
            </a:tbl>
          </a:graphicData>
        </a:graphic>
      </p:graphicFrame>
    </p:spTree>
    <p:extLst>
      <p:ext uri="{BB962C8B-B14F-4D97-AF65-F5344CB8AC3E}">
        <p14:creationId xmlns:p14="http://schemas.microsoft.com/office/powerpoint/2010/main" val="1351889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1577</TotalTime>
  <Words>1567</Words>
  <Application>Microsoft Office PowerPoint</Application>
  <PresentationFormat>Widescreen</PresentationFormat>
  <Paragraphs>192</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Bahnschrift Light Condensed</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Quy trình Tuyển dụng và phân bổ nhân sự Nhóm quy trình hỗ trợ</dc:title>
  <dc:creator>admin</dc:creator>
  <cp:lastModifiedBy>admin</cp:lastModifiedBy>
  <cp:revision>59</cp:revision>
  <dcterms:created xsi:type="dcterms:W3CDTF">2026-08-24T06:29:33Z</dcterms:created>
  <dcterms:modified xsi:type="dcterms:W3CDTF">2026-08-25T09:05:48Z</dcterms:modified>
</cp:coreProperties>
</file>