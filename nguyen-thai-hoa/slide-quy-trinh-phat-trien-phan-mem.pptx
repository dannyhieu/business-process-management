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0" r:id="rId2"/>
    <p:sldId id="272" r:id="rId3"/>
    <p:sldId id="286" r:id="rId4"/>
    <p:sldId id="285" r:id="rId5"/>
    <p:sldId id="274" r:id="rId6"/>
    <p:sldId id="294" r:id="rId7"/>
    <p:sldId id="287" r:id="rId8"/>
    <p:sldId id="292" r:id="rId9"/>
    <p:sldId id="288" r:id="rId10"/>
    <p:sldId id="289" r:id="rId11"/>
    <p:sldId id="293" r:id="rId12"/>
    <p:sldId id="290" r:id="rId13"/>
    <p:sldId id="29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8" d="100"/>
          <a:sy n="98" d="100"/>
        </p:scale>
        <p:origin x="-153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6C1F36-5477-4EC1-9E64-0AFAAEF04442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A2CA9-912F-4334-B3EA-86EE98B1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0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A2CA9-912F-4334-B3EA-86EE98B186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32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A2CA9-912F-4334-B3EA-86EE98B186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14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A41D2-C856-BF78-2DCD-3F279662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B777F-6683-EFDC-E578-FA15C425B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C7933-7E0B-65AF-2CD0-40AD67EA7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A5B9B-2A10-94BD-05D1-4D1A1C51F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A2CA9-912F-4334-B3EA-86EE98B186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39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7724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03920" y="1051560"/>
            <a:ext cx="2926080" cy="3657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"/>
            <a:ext cx="3840480" cy="256032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tlCol="0" anchor="ctr"/>
          <a:lstStyle/>
          <a:p>
            <a:pPr algn="ctr">
              <a:defRPr sz="950" b="1">
                <a:solidFill>
                  <a:srgbClr val="F37021"/>
                </a:solidFill>
                <a:latin typeface="Segoe UI"/>
              </a:defRPr>
            </a:pPr>
            <a:r>
              <a:t>PHẦN 4: QUY TRÌNH CỐT LÕI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8686800" cy="3385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Segoe UI"/>
              </a:defRPr>
            </a:pPr>
            <a:r>
              <a:rPr lang="en-US" dirty="0"/>
              <a:t>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: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</p:txBody>
      </p:sp>
      <p:pic>
        <p:nvPicPr>
          <p:cNvPr id="7" name="Picture 6" descr="fpt_softwar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01168"/>
            <a:ext cx="1691640" cy="42291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FPT Software | Hệ thống Quản trị Quy trình Nghiệp vụ (BPM) - Đồ án Môn học - Nhóm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5BAA"/>
                </a:solidFill>
                <a:latin typeface="Segoe UI"/>
              </a:defRPr>
            </a:pPr>
            <a:r>
              <a:t>15 / 27</a:t>
            </a:r>
          </a:p>
        </p:txBody>
      </p:sp>
      <p:pic>
        <p:nvPicPr>
          <p:cNvPr id="11" name="Picture 10" descr="slide_15_img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17320"/>
            <a:ext cx="10728655" cy="110259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1981" y="3028040"/>
            <a:ext cx="342900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5BAA"/>
                </a:solidFill>
                <a:latin typeface="Segoe UI"/>
              </a:defRPr>
            </a:pPr>
            <a:r>
              <a:rPr lang="vi-VN" sz="1300" b="1" dirty="0">
                <a:solidFill>
                  <a:srgbClr val="005BAA"/>
                </a:solidFill>
                <a:latin typeface="Segoe UI"/>
              </a:rPr>
              <a:t>5 GIAI ĐOẠN</a:t>
            </a:r>
          </a:p>
          <a:p>
            <a:pPr>
              <a:spcAft>
                <a:spcPts val="600"/>
              </a:spcAft>
              <a:defRPr sz="1300" b="1">
                <a:solidFill>
                  <a:srgbClr val="005BAA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Quy trình phát triển phần mềm theo mô hình outsource gồm 5 giai đoạn chính: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300" b="1">
                <a:solidFill>
                  <a:srgbClr val="005BAA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Khởi tạo &amp; báo giá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300" b="1">
                <a:solidFill>
                  <a:srgbClr val="005BAA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Chốt yêu cầu chi tiết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300" b="1">
                <a:solidFill>
                  <a:srgbClr val="005BAA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Phát triển &amp; kiểm thử nội bộ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300" b="1">
                <a:solidFill>
                  <a:srgbClr val="005BAA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Nghiệm thu người dùng (UAT)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300" b="1">
                <a:solidFill>
                  <a:srgbClr val="005BAA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Bàn giao &amp; đóng dự án.</a:t>
            </a:r>
            <a:endParaRPr sz="1050" dirty="0">
              <a:solidFill>
                <a:srgbClr val="1E293B"/>
              </a:solidFill>
              <a:latin typeface="Segoe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89120" y="3108960"/>
            <a:ext cx="342900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37021"/>
                </a:solidFill>
                <a:latin typeface="Segoe UI"/>
              </a:defRPr>
            </a:pPr>
            <a:r>
              <a:rPr lang="vi-VN" dirty="0"/>
              <a:t>MỤC TIÊU</a:t>
            </a:r>
          </a:p>
          <a:p>
            <a:pPr>
              <a:spcAft>
                <a:spcPts val="600"/>
              </a:spcAft>
              <a:defRPr sz="1300" b="1">
                <a:solidFill>
                  <a:srgbClr val="F37021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Mục tiêu của quy trình là đảm bảo: 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300" b="1">
                <a:solidFill>
                  <a:srgbClr val="F37021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Phạm vi công việc rõ ràng,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300" b="1">
                <a:solidFill>
                  <a:srgbClr val="F37021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Tiến độ được kiểm soát.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300" b="1">
                <a:solidFill>
                  <a:srgbClr val="F37021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Chất lượng phần mềm đạt yêu cầu,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300" b="1">
                <a:solidFill>
                  <a:srgbClr val="F37021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Sự đồng thuận giữa khách hàng và công ty.</a:t>
            </a:r>
            <a:endParaRPr sz="1050" dirty="0">
              <a:solidFill>
                <a:srgbClr val="1E293B"/>
              </a:solidFill>
              <a:latin typeface="Segoe U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20" y="3108960"/>
            <a:ext cx="3413455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DB14B"/>
                </a:solidFill>
                <a:latin typeface="Segoe UI"/>
              </a:defRPr>
            </a:pPr>
            <a:r>
              <a:rPr lang="vi-VN" dirty="0"/>
              <a:t>CÁC ĐIỂM QUYẾT ĐỊNH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b="1" dirty="0"/>
              <a:t>Quy trình thực hiện theo logic liên tục và có điểm quyết định rõ ràng: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b="1" dirty="0"/>
              <a:t>Khánh hàng đồng ý báo giá hay không,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b="1" dirty="0"/>
              <a:t>Tài liệu được duyệt hay cần chỉnh sửa,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b="1" dirty="0"/>
              <a:t>Phần mềm có lỗi hay không,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b="1" dirty="0"/>
              <a:t>UAT đạt yêu cầu hay cần xử lý Change Request,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b="1" dirty="0"/>
              <a:t>Khách hàng thanh toán và đóng dự án hay không.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7724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03920" y="1051560"/>
            <a:ext cx="2926080" cy="3657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"/>
            <a:ext cx="3840480" cy="256032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tlCol="0" anchor="ctr"/>
          <a:lstStyle/>
          <a:p>
            <a:pPr algn="ctr">
              <a:defRPr sz="950" b="1">
                <a:solidFill>
                  <a:srgbClr val="F37021"/>
                </a:solidFill>
                <a:latin typeface="Segoe UI"/>
              </a:defRPr>
            </a:pPr>
            <a:r>
              <a:t>PHẦN 4: QUY TRÌNH CỐT LÕI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8686800" cy="3385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Segoe UI"/>
              </a:defRPr>
            </a:pPr>
            <a:r>
              <a:rPr lang="en-US" dirty="0"/>
              <a:t>Các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Tham Gia &amp; </a:t>
            </a:r>
            <a:r>
              <a:rPr lang="vi-VN" dirty="0"/>
              <a:t>Các</a:t>
            </a:r>
            <a:r>
              <a:rPr lang="en-US" dirty="0"/>
              <a:t> </a:t>
            </a:r>
            <a:r>
              <a:rPr lang="en-US" dirty="0" err="1"/>
              <a:t>Kịch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Quy </a:t>
            </a:r>
            <a:r>
              <a:rPr lang="en-US" dirty="0" err="1"/>
              <a:t>Trình</a:t>
            </a:r>
            <a:endParaRPr lang="en-US" dirty="0"/>
          </a:p>
        </p:txBody>
      </p:sp>
      <p:pic>
        <p:nvPicPr>
          <p:cNvPr id="7" name="Picture 6" descr="fpt_softwar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01168"/>
            <a:ext cx="1691640" cy="42291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FPT Software | Hệ thống Quản trị Quy trình Nghiệp vụ (BPM) - Đồ án Môn học - Nhóm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5BAA"/>
                </a:solidFill>
                <a:latin typeface="Segoe UI"/>
              </a:defRPr>
            </a:pPr>
            <a:r>
              <a:t>17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A2540"/>
                </a:solidFill>
                <a:latin typeface="Segoe UI"/>
              </a:defRPr>
            </a:pPr>
            <a:r>
              <a:rPr sz="1050" b="1" dirty="0">
                <a:solidFill>
                  <a:srgbClr val="F37021"/>
                </a:solidFill>
                <a:latin typeface="Segoe UI"/>
              </a:rPr>
              <a:t>6 TÁC NHÂN THAM GIA QUY TRÌNH</a:t>
            </a:r>
            <a:endParaRPr lang="vi-VN" sz="1050" b="1" dirty="0">
              <a:solidFill>
                <a:srgbClr val="F37021"/>
              </a:solidFill>
              <a:latin typeface="Segoe UI"/>
            </a:endParaRP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sz="1050" b="1" dirty="0">
                <a:solidFill>
                  <a:srgbClr val="F37021"/>
                </a:solidFill>
                <a:latin typeface="Segoe UI"/>
              </a:rPr>
              <a:t>1. Khách hàng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Gửi yêu cầu phát triển phần mềm, duyệt báo giá, cung cấp tài liệu đặc tả, thực hiện UAT, ký nghiệm thu và thanh toán.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endParaRPr lang="vi-VN" dirty="0"/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sz="1050" b="1" dirty="0">
                <a:solidFill>
                  <a:srgbClr val="F37021"/>
                </a:solidFill>
                <a:latin typeface="Segoe UI"/>
              </a:rPr>
              <a:t>2. Sales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Tiếp nhận yêu cầu đầu vào, báo giá sơ bộ, chốt hợp đồng với khách hàng.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endParaRPr lang="vi-VN" dirty="0"/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sz="1050" b="1" dirty="0">
                <a:solidFill>
                  <a:srgbClr val="F37021"/>
                </a:solidFill>
                <a:latin typeface="Segoe UI"/>
              </a:rPr>
              <a:t>3. Business Analyst (BA)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Làm rõ yêu cầu, phân tích nghiệp vụ, viết tài liệu đặc tả phần mềm (SRS).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endParaRPr lang="vi-VN" dirty="0"/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sz="1050" b="1" dirty="0">
                <a:solidFill>
                  <a:srgbClr val="F37021"/>
                </a:solidFill>
                <a:latin typeface="Segoe UI"/>
              </a:rPr>
              <a:t>4. Project Manager (PM)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Lập kế hoạch và chốt phạm vi, giám sát tiến độ, quản lý Change Request, hướng dẫn tiến trình UAT và bàn giao.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endParaRPr lang="vi-VN" dirty="0"/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sz="1050" b="1" dirty="0">
                <a:solidFill>
                  <a:srgbClr val="F37021"/>
                </a:solidFill>
                <a:latin typeface="Segoe UI"/>
              </a:rPr>
              <a:t>5. Development Team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Đánh giá tính khả thi kỹ thuật, viết mã nguồn, chạy unit test, sửa lỗi và triển khai môi trường thử nghiệm.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endParaRPr lang="vi-VN" dirty="0"/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sz="1050" b="1" dirty="0">
                <a:solidFill>
                  <a:srgbClr val="F37021"/>
                </a:solidFill>
                <a:latin typeface="Segoe UI"/>
              </a:rPr>
              <a:t>6. QA Team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Viết kịch bản kiểm thử, thực hiện kiểm thử nội bộ, báo lỗi, xác nhận QA Sign-off.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37021"/>
                </a:solidFill>
                <a:latin typeface="Segoe UI"/>
              </a:defRPr>
            </a:pPr>
            <a:r>
              <a:rPr lang="vi-VN" dirty="0"/>
              <a:t>3 </a:t>
            </a:r>
            <a:r>
              <a:rPr dirty="0"/>
              <a:t>KỊCH BẢN KẾT QUẢ CỦA QUY TRÌNH (OUTCOMES)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050" b="1">
                <a:solidFill>
                  <a:srgbClr val="F37021"/>
                </a:solidFill>
                <a:latin typeface="Segoe UI"/>
              </a:defRPr>
            </a:pPr>
            <a:r>
              <a:rPr lang="vi-VN" dirty="0"/>
              <a:t>1. Khách hàng không ký hợp đồng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     - Xảy ra sau bước kiểm tra báo giá sơ bộ.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     - Kết quả: dự án dừng ngay ở giai đoạn khởi tạo.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endParaRPr lang="vi-VN" dirty="0"/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sz="1050" b="1" dirty="0">
                <a:solidFill>
                  <a:srgbClr val="F37021"/>
                </a:solidFill>
                <a:latin typeface="Segoe UI"/>
              </a:rPr>
              <a:t>  2. Dự án hoàn thành thành công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     - Xảy ra sau khi khách hàng thực hiện UAT sign-off và thanh toán.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     - Kết quả: phần mềm được triển khai lên môi trường production, bàn giao tài sản và đóng dự án.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endParaRPr lang="vi-VN" dirty="0"/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sz="1050" b="1" dirty="0">
                <a:solidFill>
                  <a:srgbClr val="F37021"/>
                </a:solidFill>
                <a:latin typeface="Segoe UI"/>
              </a:rPr>
              <a:t>  3. Kết thúc luồng nghiệp vụ sau thanh toán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     - Xuất hiện sau bước "Thanh toán".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     - Kết quả: chốt thanh toán thành công và đóng quy trình chính thức.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endParaRPr lang="vi-V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F117F-04C3-D09A-7332-CA5D6AA91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DC2BB7-F0A6-FA55-BBD9-5FBDDB360EC4}"/>
              </a:ext>
            </a:extLst>
          </p:cNvPr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BDE734-E015-1DE9-963D-B476DE47979B}"/>
              </a:ext>
            </a:extLst>
          </p:cNvPr>
          <p:cNvSpPr/>
          <p:nvPr/>
        </p:nvSpPr>
        <p:spPr>
          <a:xfrm>
            <a:off x="731520" y="1051560"/>
            <a:ext cx="77724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B094FB-0B79-4720-163F-713CE859DB08}"/>
              </a:ext>
            </a:extLst>
          </p:cNvPr>
          <p:cNvSpPr/>
          <p:nvPr/>
        </p:nvSpPr>
        <p:spPr>
          <a:xfrm>
            <a:off x="8503920" y="1051560"/>
            <a:ext cx="2926080" cy="3657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6F13F5-5808-5325-7111-470D5099D983}"/>
              </a:ext>
            </a:extLst>
          </p:cNvPr>
          <p:cNvSpPr/>
          <p:nvPr/>
        </p:nvSpPr>
        <p:spPr>
          <a:xfrm>
            <a:off x="731520" y="146304"/>
            <a:ext cx="3840480" cy="256032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tlCol="0" anchor="ctr"/>
          <a:lstStyle/>
          <a:p>
            <a:pPr algn="ctr">
              <a:defRPr sz="950" b="1">
                <a:solidFill>
                  <a:srgbClr val="F37021"/>
                </a:solidFill>
                <a:latin typeface="Segoe UI"/>
              </a:defRPr>
            </a:pPr>
            <a:r>
              <a:t>PHẦN 4: QUY TRÌNH CỐT LÕI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F4EC08-3EE3-42A4-7BE5-2DD1E3663937}"/>
              </a:ext>
            </a:extLst>
          </p:cNvPr>
          <p:cNvSpPr txBox="1"/>
          <p:nvPr/>
        </p:nvSpPr>
        <p:spPr>
          <a:xfrm>
            <a:off x="731520" y="438912"/>
            <a:ext cx="8686800" cy="3385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Segoe UI"/>
              </a:defRPr>
            </a:pPr>
            <a:r>
              <a:rPr lang="vi-VN" dirty="0"/>
              <a:t>Đối Tượng Khách Hàng Và Giá Trị Mang Lại Của Quy Trình</a:t>
            </a:r>
          </a:p>
        </p:txBody>
      </p:sp>
      <p:pic>
        <p:nvPicPr>
          <p:cNvPr id="7" name="Picture 6" descr="fpt_software_logo.png">
            <a:extLst>
              <a:ext uri="{FF2B5EF4-FFF2-40B4-BE49-F238E27FC236}">
                <a16:creationId xmlns:a16="http://schemas.microsoft.com/office/drawing/2014/main" id="{384D9F88-992C-0E08-E845-2E0658C54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01168"/>
            <a:ext cx="1691640" cy="4229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A7F06D7-A9C0-03E0-BC42-E4CA8FFB43D7}"/>
              </a:ext>
            </a:extLst>
          </p:cNvPr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4FD12F-9740-4729-9A9E-5E95CDE5D420}"/>
              </a:ext>
            </a:extLst>
          </p:cNvPr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FPT Software | Hệ thống Quản trị Quy trình Nghiệp vụ (BPM) - Đồ án Môn học - Nhóm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F75346-A23A-838E-CF13-47E6C929542E}"/>
              </a:ext>
            </a:extLst>
          </p:cNvPr>
          <p:cNvSpPr txBox="1"/>
          <p:nvPr/>
        </p:nvSpPr>
        <p:spPr>
          <a:xfrm>
            <a:off x="10058400" y="6473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5BAA"/>
                </a:solidFill>
                <a:latin typeface="Segoe UI"/>
              </a:defRPr>
            </a:pPr>
            <a:r>
              <a:t>17 / 27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213F77B-8D1E-A7EF-B29A-36FE24C61BF5}"/>
              </a:ext>
            </a:extLst>
          </p:cNvPr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A2540"/>
                </a:solidFill>
                <a:latin typeface="Segoe UI"/>
              </a:defRPr>
            </a:pPr>
            <a:r>
              <a:rPr lang="vi-VN" sz="1050" b="1" dirty="0">
                <a:solidFill>
                  <a:srgbClr val="F37021"/>
                </a:solidFill>
                <a:latin typeface="Segoe UI"/>
              </a:rPr>
              <a:t>ĐỐI TƯỢNG KHÁCH HÀNG</a:t>
            </a:r>
            <a:endParaRPr lang="en-US" sz="1050" b="1" dirty="0">
              <a:solidFill>
                <a:srgbClr val="F37021"/>
              </a:solidFill>
              <a:latin typeface="Segoe UI"/>
            </a:endParaRP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Doanh nghiệp hoặc cá nhân cần phát triển phần mềm nhưng không có đội ngũ kỹ thuật nội bộ. họ quan tâm đến: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Tính minh bạch.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Kiểm soát phạm vi.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Chất lượng phần mềm.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Ràng buộc về nghiệm thu và thanh toán.</a:t>
            </a:r>
            <a:endParaRPr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2E55590-D553-9DE8-DFD9-2049D3C46844}"/>
              </a:ext>
            </a:extLst>
          </p:cNvPr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37021"/>
                </a:solidFill>
                <a:latin typeface="Segoe UI"/>
              </a:defRPr>
            </a:pPr>
            <a:r>
              <a:rPr lang="vi-VN" dirty="0"/>
              <a:t>GIÁ TRỊ MANG LẠI CỦA QUY TRÌNH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Làm rõ yêu cầu từ đầu để giảm rủi ro scope creep.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Tạo cơ chế kiểm soát tiến độ và chất lượng phần mềm.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Đảm bảo phần mềm được xác nhận bởi khách hàng trước khi bàn giao.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Cung cấp minh bạch trong báo giá, nghiệm thu và thanh toán.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Giảm lãng phí do làm lại công việc và sửa lỗi muộn.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429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E0B13-CDA7-9E21-9775-D534B19A0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01CB83-988A-E88F-1164-621EB61DDFE3}"/>
              </a:ext>
            </a:extLst>
          </p:cNvPr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9F3ABF-6ED4-7210-C124-2D827BD01C44}"/>
              </a:ext>
            </a:extLst>
          </p:cNvPr>
          <p:cNvSpPr/>
          <p:nvPr/>
        </p:nvSpPr>
        <p:spPr>
          <a:xfrm>
            <a:off x="731520" y="1051560"/>
            <a:ext cx="77724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3AD670-1514-B421-8321-634177BD3C1B}"/>
              </a:ext>
            </a:extLst>
          </p:cNvPr>
          <p:cNvSpPr/>
          <p:nvPr/>
        </p:nvSpPr>
        <p:spPr>
          <a:xfrm>
            <a:off x="8503920" y="1051560"/>
            <a:ext cx="2926080" cy="3657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354EE6-63FA-CB0F-8C64-89E6E81851D6}"/>
              </a:ext>
            </a:extLst>
          </p:cNvPr>
          <p:cNvSpPr/>
          <p:nvPr/>
        </p:nvSpPr>
        <p:spPr>
          <a:xfrm>
            <a:off x="731520" y="146304"/>
            <a:ext cx="3840480" cy="256032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tlCol="0" anchor="ctr"/>
          <a:lstStyle/>
          <a:p>
            <a:pPr algn="ctr">
              <a:defRPr sz="950" b="1">
                <a:solidFill>
                  <a:srgbClr val="F37021"/>
                </a:solidFill>
                <a:latin typeface="Segoe UI"/>
              </a:defRPr>
            </a:pPr>
            <a:r>
              <a:t>PHẦN 4: QUY TRÌNH CỐT LÕI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82A774-C0F3-A72A-5DB0-B741D77A3586}"/>
              </a:ext>
            </a:extLst>
          </p:cNvPr>
          <p:cNvSpPr txBox="1"/>
          <p:nvPr/>
        </p:nvSpPr>
        <p:spPr>
          <a:xfrm>
            <a:off x="731520" y="438912"/>
            <a:ext cx="8686800" cy="3385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Segoe UI"/>
              </a:defRPr>
            </a:pPr>
            <a:r>
              <a:rPr lang="vi-VN" dirty="0"/>
              <a:t>Mô Hình BPMN Của Quy Trình Phát Triển Phần Mềm</a:t>
            </a:r>
          </a:p>
        </p:txBody>
      </p:sp>
      <p:pic>
        <p:nvPicPr>
          <p:cNvPr id="7" name="Picture 6" descr="fpt_software_logo.png">
            <a:extLst>
              <a:ext uri="{FF2B5EF4-FFF2-40B4-BE49-F238E27FC236}">
                <a16:creationId xmlns:a16="http://schemas.microsoft.com/office/drawing/2014/main" id="{37B4AE3A-1BD6-C899-08BB-2F82DF3FC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01168"/>
            <a:ext cx="1691640" cy="4229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93DF138-DC34-6321-AB71-3958F04094C8}"/>
              </a:ext>
            </a:extLst>
          </p:cNvPr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8502B-7D0D-4834-CB80-EAAE15BCB596}"/>
              </a:ext>
            </a:extLst>
          </p:cNvPr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FPT Software | Hệ thống Quản trị Quy trình Nghiệp vụ (BPM) - Đồ án Môn học - Nhóm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AA3055-0434-69C6-2338-F46B0879ED74}"/>
              </a:ext>
            </a:extLst>
          </p:cNvPr>
          <p:cNvSpPr txBox="1"/>
          <p:nvPr/>
        </p:nvSpPr>
        <p:spPr>
          <a:xfrm>
            <a:off x="10058400" y="6473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5BAA"/>
                </a:solidFill>
                <a:latin typeface="Segoe UI"/>
              </a:defRPr>
            </a:pPr>
            <a:r>
              <a:t>18 / 27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DE87032D-D9F4-D2EF-F3A2-19BF45CC3F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489"/>
          <a:stretch>
            <a:fillRect/>
          </a:stretch>
        </p:blipFill>
        <p:spPr>
          <a:xfrm>
            <a:off x="0" y="1987301"/>
            <a:ext cx="12177352" cy="30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78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7724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03920" y="1051560"/>
            <a:ext cx="2926080" cy="3657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"/>
            <a:ext cx="3840480" cy="256032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tlCol="0" anchor="ctr"/>
          <a:lstStyle/>
          <a:p>
            <a:pPr algn="ctr">
              <a:defRPr sz="950" b="1">
                <a:solidFill>
                  <a:srgbClr val="F37021"/>
                </a:solidFill>
                <a:latin typeface="Segoe UI"/>
              </a:defRPr>
            </a:pPr>
            <a:r>
              <a:t>PHẦN 4: QUY TRÌNH CỐT LÕI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8686800" cy="3385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Segoe UI"/>
              </a:defRPr>
            </a:pPr>
            <a:r>
              <a:rPr lang="vi-VN" dirty="0"/>
              <a:t>Phương Pháp Khai Phá Quy Trình</a:t>
            </a:r>
          </a:p>
        </p:txBody>
      </p:sp>
      <p:pic>
        <p:nvPicPr>
          <p:cNvPr id="7" name="Picture 6" descr="fpt_softwar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01168"/>
            <a:ext cx="1691640" cy="42291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FPT Software | Hệ thống Quản trị Quy trình Nghiệp vụ (BPM) - Đồ án Môn học - Nhóm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5BAA"/>
                </a:solidFill>
                <a:latin typeface="Segoe UI"/>
              </a:defRPr>
            </a:pPr>
            <a:r>
              <a:t>19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17904"/>
            <a:ext cx="4438127" cy="446843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DB14B"/>
                </a:solidFill>
                <a:latin typeface="Segoe UI"/>
              </a:defRPr>
            </a:pPr>
            <a:r>
              <a:rPr lang="vi-VN" dirty="0"/>
              <a:t>PHƯƠNG PHÁP TIẾP CẬN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Dựa trên bằng chứng (Evidence-based)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Nguồn dữ liệu thực tế: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Hợp đồng,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Tài liệu yêu cầu,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Biên bản nghiệm thu,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Workshop,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phỏng vấn trực tiếp với người thực thi và khách hàng.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9CD64-6F4E-4F4D-00DF-493B2B72D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AB6900-3A47-33BB-0C83-D99A6825545A}"/>
              </a:ext>
            </a:extLst>
          </p:cNvPr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429A3E-3CF4-421E-2090-0420326619AD}"/>
              </a:ext>
            </a:extLst>
          </p:cNvPr>
          <p:cNvSpPr/>
          <p:nvPr/>
        </p:nvSpPr>
        <p:spPr>
          <a:xfrm>
            <a:off x="731520" y="1051560"/>
            <a:ext cx="77724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B485F5-2A45-54BE-8931-2F71F65898AB}"/>
              </a:ext>
            </a:extLst>
          </p:cNvPr>
          <p:cNvSpPr/>
          <p:nvPr/>
        </p:nvSpPr>
        <p:spPr>
          <a:xfrm>
            <a:off x="8503920" y="1051560"/>
            <a:ext cx="2926080" cy="3657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04D3E9-4217-EFA0-14CA-B24265E30875}"/>
              </a:ext>
            </a:extLst>
          </p:cNvPr>
          <p:cNvSpPr/>
          <p:nvPr/>
        </p:nvSpPr>
        <p:spPr>
          <a:xfrm>
            <a:off x="731520" y="146304"/>
            <a:ext cx="3840480" cy="256032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tlCol="0" anchor="ctr"/>
          <a:lstStyle/>
          <a:p>
            <a:pPr algn="ctr">
              <a:defRPr sz="950" b="1">
                <a:solidFill>
                  <a:srgbClr val="F37021"/>
                </a:solidFill>
                <a:latin typeface="Segoe UI"/>
              </a:defRPr>
            </a:pPr>
            <a:r>
              <a:t>PHẦN 4: QUY TRÌNH CỐT LÕI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324C2C-06C6-5D4E-3401-9AF531EAC837}"/>
              </a:ext>
            </a:extLst>
          </p:cNvPr>
          <p:cNvSpPr txBox="1"/>
          <p:nvPr/>
        </p:nvSpPr>
        <p:spPr>
          <a:xfrm>
            <a:off x="731520" y="438912"/>
            <a:ext cx="8686800" cy="3385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Segoe UI"/>
              </a:defRPr>
            </a:pPr>
            <a:r>
              <a:rPr lang="vi-VN" dirty="0"/>
              <a:t>Khai Phá Quy Trình Bằng Các Câu Hỏi Định Tính</a:t>
            </a:r>
          </a:p>
        </p:txBody>
      </p:sp>
      <p:pic>
        <p:nvPicPr>
          <p:cNvPr id="7" name="Picture 6" descr="fpt_software_logo.png">
            <a:extLst>
              <a:ext uri="{FF2B5EF4-FFF2-40B4-BE49-F238E27FC236}">
                <a16:creationId xmlns:a16="http://schemas.microsoft.com/office/drawing/2014/main" id="{549466FE-71DF-C39A-15AE-16F6CF7D7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01168"/>
            <a:ext cx="1691640" cy="4229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0BB6B9-159C-5C3E-138C-3C4E4670F7B1}"/>
              </a:ext>
            </a:extLst>
          </p:cNvPr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DE067D-B018-C445-7C83-CAC5115FEB89}"/>
              </a:ext>
            </a:extLst>
          </p:cNvPr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FPT Software | Hệ thống Quản trị Quy trình Nghiệp vụ (BPM) - Đồ án Môn học - Nhóm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7B3378-56F1-7936-BB99-C8C4A2BC0924}"/>
              </a:ext>
            </a:extLst>
          </p:cNvPr>
          <p:cNvSpPr txBox="1"/>
          <p:nvPr/>
        </p:nvSpPr>
        <p:spPr>
          <a:xfrm>
            <a:off x="10058400" y="6473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5BAA"/>
                </a:solidFill>
                <a:latin typeface="Segoe UI"/>
              </a:defRPr>
            </a:pPr>
            <a:r>
              <a:t>19 / 27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53A2C5-D4F7-56F8-BFDC-DC8A7E1F9FE1}"/>
              </a:ext>
            </a:extLst>
          </p:cNvPr>
          <p:cNvSpPr/>
          <p:nvPr/>
        </p:nvSpPr>
        <p:spPr>
          <a:xfrm>
            <a:off x="731521" y="1179576"/>
            <a:ext cx="5242254" cy="51480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540"/>
                </a:solidFill>
                <a:latin typeface="Segoe UI"/>
              </a:defRPr>
            </a:pPr>
            <a:r>
              <a:rPr lang="vi-VN" dirty="0"/>
              <a:t>CÂU HỎI CÓ CẤU TRÚC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b="1" dirty="0">
                <a:solidFill>
                  <a:srgbClr val="F37021"/>
                </a:solidFill>
                <a:latin typeface="Segoe UI"/>
              </a:rPr>
              <a:t>PM: Anh/chị đánh giá thế nào về tính minh bạch của quy trình xử lý Change Request hiện tại?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Rất minh bạch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Bình thường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Không minh bạch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Rất không minh bạch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b="1" dirty="0">
                <a:solidFill>
                  <a:srgbClr val="F37021"/>
                </a:solidFill>
                <a:latin typeface="Segoe UI"/>
              </a:rPr>
              <a:t>BA: Khó khăn lớn nhất khi chốt tài liệu đặc tả (SRS) với khách hàng là gì?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Khách hàng không nắm rõ nghiệp vụ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Yêu cầu thay đổi liên tục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Tài liệu chưa rõ ràng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Khác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b="1" dirty="0">
                <a:solidFill>
                  <a:srgbClr val="F37021"/>
                </a:solidFill>
                <a:latin typeface="Segoe UI"/>
              </a:rPr>
              <a:t>QA: Theo anh/chị, nguyên nhân cốt lõi nào dẫn đến việc phát hiện lỗi trễ ở khâu UAT thay vì ở khâu Test nội bộ?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Test case chưa đầy đủ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Môi trường UAT không tương đồng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Khách hàng chưa có kịch bản rõ ràng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Khác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b="1" dirty="0">
                <a:solidFill>
                  <a:srgbClr val="F37021"/>
                </a:solidFill>
                <a:latin typeface="Segoe UI"/>
              </a:rPr>
              <a:t>Sales: Khách hàng thường phàn nàn về vấn đề gì nhất ở giai đoạn chốt báo giá sơ bộ?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Chi phí cao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Phạm vi chưa rõ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Thời gian chốt quá lâu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Khác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b="1" dirty="0">
                <a:solidFill>
                  <a:srgbClr val="F37021"/>
                </a:solidFill>
                <a:latin typeface="Segoe UI"/>
              </a:rPr>
              <a:t>Dev: Môi trường Test và UAT hiện tại có đáp ứng đủ nhu cầu triển khai độc lập của team không?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Hoàn toàn đáp ứng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Đáp ứng một phần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Không đáp ứng  </a:t>
            </a:r>
          </a:p>
          <a:p>
            <a:pPr marL="228600" indent="-228600">
              <a:spcAft>
                <a:spcPts val="300"/>
              </a:spcAft>
              <a:buFont typeface="+mj-lt"/>
              <a:buAutoNum type="alphaUcPeriod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Chưa đánh giá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327493-29FD-F874-94E2-883F087C51B8}"/>
              </a:ext>
            </a:extLst>
          </p:cNvPr>
          <p:cNvSpPr/>
          <p:nvPr/>
        </p:nvSpPr>
        <p:spPr>
          <a:xfrm>
            <a:off x="6233465" y="1170432"/>
            <a:ext cx="5242255" cy="515721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DB14B"/>
                </a:solidFill>
                <a:latin typeface="Segoe UI"/>
              </a:defRPr>
            </a:pPr>
            <a:r>
              <a:rPr lang="vi-VN" dirty="0"/>
              <a:t>CÂU HỎI KHÔNG CÓ CẤU TRÚC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Hãy kể về một dự án gần đây mà tình trạng "phình to phạm vi" (scope creep) xảy ra nghiêm trọng nhất. Anh/chị đã xử lý tình huống đó ra sao?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Điều gì làm anh/chị cảm thấy hoang mang hoặc chưa hài lòng nhất trong quá trình nghiệm thu phần mềm?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Giả sử được quyền thay đổi một bước duy nhất trong cách giao tiếp với khách hàng, anh/chị sẽ thay đổi điều gì để chốt scope nhanh hơn?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Kể lại một cuộc tranh luận đáng nhớ nhất giữa anh/chị và team Dev về việc xác định "đây là lỗi hay là tính năng mới".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Khi khách hàng ép tiến độ nhưng ngân sách thấp, anh/chị thường dùng cách gì để vừa ký được hợp đồng vừa bảo vệ team sản xuất?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613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45CAC-87A7-09D4-84CF-D034C2FC1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AB4506-F68B-ADAB-0410-BFA423BA56F5}"/>
              </a:ext>
            </a:extLst>
          </p:cNvPr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A367B1-3FC3-A418-EE54-335A519FF2DC}"/>
              </a:ext>
            </a:extLst>
          </p:cNvPr>
          <p:cNvSpPr/>
          <p:nvPr/>
        </p:nvSpPr>
        <p:spPr>
          <a:xfrm>
            <a:off x="731520" y="1051560"/>
            <a:ext cx="77724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1892CB-BC05-7D2E-C295-E61011381241}"/>
              </a:ext>
            </a:extLst>
          </p:cNvPr>
          <p:cNvSpPr/>
          <p:nvPr/>
        </p:nvSpPr>
        <p:spPr>
          <a:xfrm>
            <a:off x="8503920" y="1051560"/>
            <a:ext cx="2926080" cy="3657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C8B6C97-5484-9578-0408-195562E3FFD4}"/>
              </a:ext>
            </a:extLst>
          </p:cNvPr>
          <p:cNvSpPr/>
          <p:nvPr/>
        </p:nvSpPr>
        <p:spPr>
          <a:xfrm>
            <a:off x="731520" y="146304"/>
            <a:ext cx="3840480" cy="256032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tlCol="0" anchor="ctr"/>
          <a:lstStyle/>
          <a:p>
            <a:pPr algn="ctr">
              <a:defRPr sz="950" b="1">
                <a:solidFill>
                  <a:srgbClr val="F37021"/>
                </a:solidFill>
                <a:latin typeface="Segoe UI"/>
              </a:defRPr>
            </a:pPr>
            <a:r>
              <a:t>PHẦN 4: QUY TRÌNH CỐT LÕI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9AD5E-98C2-E49D-45C2-D03B4CBD2562}"/>
              </a:ext>
            </a:extLst>
          </p:cNvPr>
          <p:cNvSpPr txBox="1"/>
          <p:nvPr/>
        </p:nvSpPr>
        <p:spPr>
          <a:xfrm>
            <a:off x="731520" y="438912"/>
            <a:ext cx="8686800" cy="3385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Segoe UI"/>
              </a:defRPr>
            </a:pPr>
            <a:r>
              <a:rPr lang="vi-VN" dirty="0"/>
              <a:t>Khai Phá Quy Trình Bằng Các Câu Hỏi Định Lượng</a:t>
            </a:r>
          </a:p>
        </p:txBody>
      </p:sp>
      <p:pic>
        <p:nvPicPr>
          <p:cNvPr id="7" name="Picture 6" descr="fpt_software_logo.png">
            <a:extLst>
              <a:ext uri="{FF2B5EF4-FFF2-40B4-BE49-F238E27FC236}">
                <a16:creationId xmlns:a16="http://schemas.microsoft.com/office/drawing/2014/main" id="{B5962D7B-E8DB-C6DF-A61D-AE915D794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01168"/>
            <a:ext cx="1691640" cy="4229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E9766C8-D943-36BB-DACD-3BCED530365B}"/>
              </a:ext>
            </a:extLst>
          </p:cNvPr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3BFD3C-07E8-AC9B-681A-0812FF36D24E}"/>
              </a:ext>
            </a:extLst>
          </p:cNvPr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FPT Software | Hệ thống Quản trị Quy trình Nghiệp vụ (BPM) - Đồ án Môn học - Nhóm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B71E36-C26D-92F2-81D1-792E33B1EFA3}"/>
              </a:ext>
            </a:extLst>
          </p:cNvPr>
          <p:cNvSpPr txBox="1"/>
          <p:nvPr/>
        </p:nvSpPr>
        <p:spPr>
          <a:xfrm>
            <a:off x="10058400" y="6473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5BAA"/>
                </a:solidFill>
                <a:latin typeface="Segoe UI"/>
              </a:defRPr>
            </a:pPr>
            <a:r>
              <a:t>19 / 27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99252D6-7755-A30A-1577-50A1E38AF16C}"/>
              </a:ext>
            </a:extLst>
          </p:cNvPr>
          <p:cNvSpPr/>
          <p:nvPr/>
        </p:nvSpPr>
        <p:spPr>
          <a:xfrm>
            <a:off x="788165" y="1170432"/>
            <a:ext cx="5242254" cy="51480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540"/>
                </a:solidFill>
                <a:latin typeface="Segoe UI"/>
              </a:defRPr>
            </a:pPr>
            <a:r>
              <a:rPr lang="vi-VN" dirty="0"/>
              <a:t>CÂU HỎI CÓ CẤU TRÚC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b="1" dirty="0">
                <a:solidFill>
                  <a:srgbClr val="F37021"/>
                </a:solidFill>
                <a:latin typeface="Segoe UI"/>
              </a:rPr>
              <a:t>Dev: Đánh giá mức độ rõ ràng và hoàn thiện của tài liệu do BA cung cấp trên thang điểm từ 1 đến 5.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1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2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3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4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5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b="1" dirty="0">
                <a:solidFill>
                  <a:srgbClr val="F37021"/>
                </a:solidFill>
                <a:latin typeface="Segoe UI"/>
              </a:rPr>
              <a:t>PM: Trung bình mỗi dự án outsource hiện tại phát sinh bao nhiêu Change Request (CR)?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Dưới 3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Từ 3-5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Trên 5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b="1" dirty="0">
                <a:solidFill>
                  <a:srgbClr val="F37021"/>
                </a:solidFill>
                <a:latin typeface="Segoe UI"/>
              </a:rPr>
              <a:t>Khách hàng: Mức độ hài lòng của anh/chị về thời gian phản hồi (SLA) của đội ngũ hỗ trợ trên thang điểm từ 1 đến 10.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1-3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4-6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7-8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9-10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b="1" dirty="0">
                <a:solidFill>
                  <a:srgbClr val="F37021"/>
                </a:solidFill>
                <a:latin typeface="Segoe UI"/>
              </a:rPr>
              <a:t>Sales: Thời gian trung bình từ lúc nhận yêu cầu sơ bộ đến khi chốt được báo giá mất khoảng bao nhiêu ngày?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&lt;3 ngày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3-7 ngày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&gt;7 ngày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b="1" dirty="0">
                <a:solidFill>
                  <a:srgbClr val="F37021"/>
                </a:solidFill>
                <a:latin typeface="Segoe UI"/>
              </a:rPr>
              <a:t>QA: Đâu là tỷ lệ phần trăm các lỗi (bugs) bị đẩy ngược từ môi trường UAT về lại môi trường Test?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&lt;10%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10-20%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850" dirty="0"/>
              <a:t>&gt;20%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506EB4-1157-5C91-0E01-90690CDAF667}"/>
              </a:ext>
            </a:extLst>
          </p:cNvPr>
          <p:cNvSpPr/>
          <p:nvPr/>
        </p:nvSpPr>
        <p:spPr>
          <a:xfrm>
            <a:off x="6233465" y="1170432"/>
            <a:ext cx="5242255" cy="515721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DB14B"/>
                </a:solidFill>
                <a:latin typeface="Segoe UI"/>
              </a:defRPr>
            </a:pPr>
            <a:r>
              <a:rPr lang="vi-VN" dirty="0"/>
              <a:t>CÂU HỎI KHÔNG CÓ CẤU TRÚC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Dựa trên kinh nghiệm quản lý, chi phí phát sinh do việc phải làm lại (rework) chiếm khoảng bao nhiêu phần trăm tổng ngân sách dự án?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Anh/chị ước lượng mình bị lãng phí khoảng bao nhiêu giờ mỗi tuần chỉ để tạo test case cho những yêu cầu không được định nghĩa rõ ràng?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Theo sổ tay ghi nhận của anh/chị, khoảng bao nhiêu phần trăm tài liệu yêu cầu (SRS) bị khách hàng yêu cầu viết lại sau lần gửi đầu tiên?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Trong một Sprint kéo dài 2 tuần, anh/chị thường phải trích ra mấy ngày công (man-days) chỉ để tập trung fix bug UAT từ phía khách hàng?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Anh/chị ước tính tỷ lệ chuyển đổi thành công (Conversion rate) từ bước gửi báo giá sơ bộ sang bước chính thức ký hợp đồng là bao nhiêu phần trăm?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6568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43587-20BD-D215-C2AB-9B1466FD2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9B070F-5B84-8B39-E747-7844D06A6392}"/>
              </a:ext>
            </a:extLst>
          </p:cNvPr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B8395D-040E-C69A-EA00-8461DA7F4FE1}"/>
              </a:ext>
            </a:extLst>
          </p:cNvPr>
          <p:cNvSpPr/>
          <p:nvPr/>
        </p:nvSpPr>
        <p:spPr>
          <a:xfrm>
            <a:off x="731520" y="1051560"/>
            <a:ext cx="77724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3D3CA2-E0A5-7CB0-5CD5-F072D410B5D9}"/>
              </a:ext>
            </a:extLst>
          </p:cNvPr>
          <p:cNvSpPr/>
          <p:nvPr/>
        </p:nvSpPr>
        <p:spPr>
          <a:xfrm>
            <a:off x="8503920" y="1051560"/>
            <a:ext cx="2926080" cy="3657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3AE780-F143-72BC-AFCD-1CE2DD8687DD}"/>
              </a:ext>
            </a:extLst>
          </p:cNvPr>
          <p:cNvSpPr/>
          <p:nvPr/>
        </p:nvSpPr>
        <p:spPr>
          <a:xfrm>
            <a:off x="731520" y="146304"/>
            <a:ext cx="3840480" cy="256032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tlCol="0" anchor="ctr"/>
          <a:lstStyle/>
          <a:p>
            <a:pPr algn="ctr">
              <a:defRPr sz="950" b="1">
                <a:solidFill>
                  <a:srgbClr val="F37021"/>
                </a:solidFill>
                <a:latin typeface="Segoe UI"/>
              </a:defRPr>
            </a:pPr>
            <a:r>
              <a:t>PHẦN 3: QUY TRÌNH QUẢN LÝ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2115A-B580-B21D-860C-CE996E01D7EF}"/>
              </a:ext>
            </a:extLst>
          </p:cNvPr>
          <p:cNvSpPr txBox="1"/>
          <p:nvPr/>
        </p:nvSpPr>
        <p:spPr>
          <a:xfrm>
            <a:off x="731520" y="438912"/>
            <a:ext cx="8686800" cy="3385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Segoe UI"/>
              </a:defRPr>
            </a:pPr>
            <a:r>
              <a:rPr lang="vi-VN" dirty="0"/>
              <a:t>Phân Tích Quy Trình – Phân Tích Giá Trị Gia Tăng</a:t>
            </a:r>
            <a:endParaRPr dirty="0"/>
          </a:p>
        </p:txBody>
      </p:sp>
      <p:pic>
        <p:nvPicPr>
          <p:cNvPr id="7" name="Picture 6" descr="fpt_software_logo.png">
            <a:extLst>
              <a:ext uri="{FF2B5EF4-FFF2-40B4-BE49-F238E27FC236}">
                <a16:creationId xmlns:a16="http://schemas.microsoft.com/office/drawing/2014/main" id="{665AEA3E-A208-EEF4-34DC-E1892DFC5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01168"/>
            <a:ext cx="1691640" cy="4229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114F01A-BE6F-9D8F-0FAE-39D1A323987B}"/>
              </a:ext>
            </a:extLst>
          </p:cNvPr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6A4DC-FEC9-62FB-8AE1-0F85C2A26FF7}"/>
              </a:ext>
            </a:extLst>
          </p:cNvPr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FPT Software | Hệ thống Quản trị Quy trình Nghiệp vụ (BPM) - Đồ án Môn học - Nhóm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37DD7B-A2DA-1B70-25F0-E556C1B64432}"/>
              </a:ext>
            </a:extLst>
          </p:cNvPr>
          <p:cNvSpPr txBox="1"/>
          <p:nvPr/>
        </p:nvSpPr>
        <p:spPr>
          <a:xfrm>
            <a:off x="10058400" y="6473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5BAA"/>
                </a:solidFill>
                <a:latin typeface="Segoe UI"/>
              </a:defRPr>
            </a:pPr>
            <a:r>
              <a:t>9 / 27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85C83A9-82D7-02CE-218F-84A7692500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860160"/>
            <a:ext cx="12192000" cy="313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53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DC0B8-BE67-A74F-F169-E6645EFCB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9AB41C-3ACE-17A5-CAF3-1525B200DB21}"/>
              </a:ext>
            </a:extLst>
          </p:cNvPr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3E9361-3781-0042-37A2-2950E15B9710}"/>
              </a:ext>
            </a:extLst>
          </p:cNvPr>
          <p:cNvSpPr/>
          <p:nvPr/>
        </p:nvSpPr>
        <p:spPr>
          <a:xfrm>
            <a:off x="731520" y="1051560"/>
            <a:ext cx="77724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8A2773-E68F-13E0-CB9F-4A0827AC90D1}"/>
              </a:ext>
            </a:extLst>
          </p:cNvPr>
          <p:cNvSpPr/>
          <p:nvPr/>
        </p:nvSpPr>
        <p:spPr>
          <a:xfrm>
            <a:off x="8503920" y="1051560"/>
            <a:ext cx="2926080" cy="3657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90B9B37-025E-A1D7-ED3B-55C9DEC48D96}"/>
              </a:ext>
            </a:extLst>
          </p:cNvPr>
          <p:cNvSpPr/>
          <p:nvPr/>
        </p:nvSpPr>
        <p:spPr>
          <a:xfrm>
            <a:off x="731520" y="146304"/>
            <a:ext cx="3840480" cy="256032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tlCol="0" anchor="ctr"/>
          <a:lstStyle/>
          <a:p>
            <a:pPr algn="ctr">
              <a:defRPr sz="950" b="1">
                <a:solidFill>
                  <a:srgbClr val="F37021"/>
                </a:solidFill>
                <a:latin typeface="Segoe UI"/>
              </a:defRPr>
            </a:pPr>
            <a:r>
              <a:t>PHẦN 3: QUY TRÌNH QUẢN LÝ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0C5FE-7580-C126-D40C-CA118E88DC10}"/>
              </a:ext>
            </a:extLst>
          </p:cNvPr>
          <p:cNvSpPr txBox="1"/>
          <p:nvPr/>
        </p:nvSpPr>
        <p:spPr>
          <a:xfrm>
            <a:off x="731520" y="438912"/>
            <a:ext cx="8686800" cy="3385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Segoe UI"/>
              </a:defRPr>
            </a:pPr>
            <a:r>
              <a:rPr lang="vi-VN" dirty="0"/>
              <a:t>Phân Tích Quy Trình – Phân Tích Giá Trị Gia Tăng</a:t>
            </a:r>
            <a:endParaRPr dirty="0"/>
          </a:p>
        </p:txBody>
      </p:sp>
      <p:pic>
        <p:nvPicPr>
          <p:cNvPr id="7" name="Picture 6" descr="fpt_software_logo.png">
            <a:extLst>
              <a:ext uri="{FF2B5EF4-FFF2-40B4-BE49-F238E27FC236}">
                <a16:creationId xmlns:a16="http://schemas.microsoft.com/office/drawing/2014/main" id="{DD3A5178-ED8F-B81F-0C3A-C885A673D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01168"/>
            <a:ext cx="1691640" cy="4229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E6A1FEA-F937-7904-620B-7F435819AD1A}"/>
              </a:ext>
            </a:extLst>
          </p:cNvPr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A70B29-A3DC-7AC0-C5C4-8ED9742F0423}"/>
              </a:ext>
            </a:extLst>
          </p:cNvPr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FPT Software | Hệ thống Quản trị Quy trình Nghiệp vụ (BPM) - Đồ án Môn học - Nhóm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39C344-27E3-D013-3854-D230A62BF1BF}"/>
              </a:ext>
            </a:extLst>
          </p:cNvPr>
          <p:cNvSpPr txBox="1"/>
          <p:nvPr/>
        </p:nvSpPr>
        <p:spPr>
          <a:xfrm>
            <a:off x="10058400" y="6473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5BAA"/>
                </a:solidFill>
                <a:latin typeface="Segoe UI"/>
              </a:defRPr>
            </a:pPr>
            <a:r>
              <a:t>9 / 27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C342548-3F80-78F0-E816-2D9CD28BCE6B}"/>
              </a:ext>
            </a:extLst>
          </p:cNvPr>
          <p:cNvSpPr/>
          <p:nvPr/>
        </p:nvSpPr>
        <p:spPr>
          <a:xfrm>
            <a:off x="610140" y="137160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540"/>
                </a:solidFill>
                <a:latin typeface="Segoe UI"/>
              </a:defRPr>
            </a:pPr>
            <a:r>
              <a:rPr lang="vi-VN" sz="1300" b="1" dirty="0">
                <a:solidFill>
                  <a:srgbClr val="005BAA"/>
                </a:solidFill>
                <a:latin typeface="Segoe UI"/>
              </a:rPr>
              <a:t>VA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0A2540"/>
                </a:solidFill>
                <a:latin typeface="Segoe UI"/>
              </a:defRPr>
            </a:pPr>
            <a:r>
              <a:rPr lang="vi-VN" sz="1000" b="1" dirty="0">
                <a:solidFill>
                  <a:srgbClr val="005BAA"/>
                </a:solidFill>
                <a:latin typeface="Segoe UI"/>
              </a:rPr>
              <a:t>Là các hoạt động trực tiếp tạo ra giá trị mà khách hàng sẵn sàng chi trả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Gửi yêu cầu phát triển phần mềm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Cung cấp yêu cầu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Phân tích đặc tả phần mềm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Viết tài liệu SRS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Viết code và unit test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Triển khai lên môi trường UAT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Kiểm thử dựa trên trường hợp thực tế (UAT)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UAT Sign-off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Triển khai lên môi trường production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Bàn giao tài liệu kỹ thuật, source code và asset liên quan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Nghiệm thu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Thanh toán</a:t>
            </a:r>
            <a:endParaRPr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E3A26ED-8370-DFF0-0F7D-F6AA087C811D}"/>
              </a:ext>
            </a:extLst>
          </p:cNvPr>
          <p:cNvSpPr/>
          <p:nvPr/>
        </p:nvSpPr>
        <p:spPr>
          <a:xfrm>
            <a:off x="4389120" y="137160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37021"/>
                </a:solidFill>
                <a:latin typeface="Segoe UI"/>
              </a:defRPr>
            </a:pPr>
            <a:r>
              <a:rPr lang="vi-VN" dirty="0"/>
              <a:t>VBA</a:t>
            </a:r>
          </a:p>
          <a:p>
            <a:pPr>
              <a:spcAft>
                <a:spcPts val="600"/>
              </a:spcAft>
              <a:defRPr sz="1300" b="1">
                <a:solidFill>
                  <a:srgbClr val="F37021"/>
                </a:solidFill>
                <a:latin typeface="Segoe UI"/>
              </a:defRPr>
            </a:pPr>
            <a:r>
              <a:rPr lang="vi-VN" sz="1000" dirty="0">
                <a:solidFill>
                  <a:schemeClr val="accent6"/>
                </a:solidFill>
                <a:latin typeface="Segoe UI"/>
              </a:rPr>
              <a:t>Là các hoạt động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không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tạo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giá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trị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trực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tiếp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cho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khách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hàng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nhưng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cần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thiết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cho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hoạt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động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chemeClr val="accent6"/>
                </a:solidFill>
                <a:latin typeface="Segoe UI"/>
              </a:rPr>
              <a:t>doanh</a:t>
            </a:r>
            <a:r>
              <a:rPr lang="en-US" sz="1000" dirty="0">
                <a:solidFill>
                  <a:schemeClr val="accent6"/>
                </a:solidFill>
                <a:latin typeface="Segoe UI"/>
              </a:rPr>
              <a:t> </a:t>
            </a:r>
            <a:r>
              <a:rPr lang="vi-VN" sz="1000" dirty="0">
                <a:solidFill>
                  <a:schemeClr val="accent6"/>
                </a:solidFill>
                <a:latin typeface="Segoe UI"/>
              </a:rPr>
              <a:t>nghiệp.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Gửi phân tích sơ bộ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Phân tích yêu cầu sơ bộ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Đánh giá tính khả thi và estimate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Báo giá sơ bộ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Chốt phạm vi công việc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Lập kế hoạch công việc và mốc giao hàng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Viết test cases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QA Sign-off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Phân tích lỗi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Làm báo giá Change Request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Quy trình Change Request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endParaRPr lang="en-US" sz="105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endParaRPr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A5B3729-D579-22C0-4268-0C01E1D4B57F}"/>
              </a:ext>
            </a:extLst>
          </p:cNvPr>
          <p:cNvSpPr/>
          <p:nvPr/>
        </p:nvSpPr>
        <p:spPr>
          <a:xfrm>
            <a:off x="8046720" y="1371600"/>
            <a:ext cx="341345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5BAA"/>
                </a:solidFill>
                <a:latin typeface="Segoe UI"/>
              </a:defRPr>
            </a:pPr>
            <a:r>
              <a:rPr lang="vi-VN" sz="1300" b="1" dirty="0">
                <a:solidFill>
                  <a:srgbClr val="0DB14B"/>
                </a:solidFill>
                <a:latin typeface="Segoe UI"/>
              </a:rPr>
              <a:t>NVA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005BAA"/>
                </a:solidFill>
                <a:latin typeface="Segoe UI"/>
              </a:defRPr>
            </a:pPr>
            <a:r>
              <a:rPr lang="vi-VN" sz="1000" b="1" dirty="0">
                <a:solidFill>
                  <a:srgbClr val="0DB14B"/>
                </a:solidFill>
                <a:latin typeface="Segoe UI"/>
              </a:rPr>
              <a:t>Các </a:t>
            </a:r>
            <a:r>
              <a:rPr lang="en-US" sz="1000" b="1" dirty="0" err="1">
                <a:solidFill>
                  <a:srgbClr val="0DB14B"/>
                </a:solidFill>
                <a:latin typeface="Segoe UI"/>
              </a:rPr>
              <a:t>hoạt</a:t>
            </a:r>
            <a:r>
              <a:rPr lang="en-US" sz="1000" b="1" dirty="0">
                <a:solidFill>
                  <a:srgbClr val="0DB14B"/>
                </a:solidFill>
                <a:latin typeface="Segoe UI"/>
              </a:rPr>
              <a:t> </a:t>
            </a:r>
            <a:r>
              <a:rPr lang="en-US" sz="1000" b="1" dirty="0" err="1">
                <a:solidFill>
                  <a:srgbClr val="0DB14B"/>
                </a:solidFill>
                <a:latin typeface="Segoe UI"/>
              </a:rPr>
              <a:t>động</a:t>
            </a:r>
            <a:r>
              <a:rPr lang="en-US" sz="1000" b="1" dirty="0">
                <a:solidFill>
                  <a:srgbClr val="0DB14B"/>
                </a:solidFill>
                <a:latin typeface="Segoe UI"/>
              </a:rPr>
              <a:t> </a:t>
            </a:r>
            <a:r>
              <a:rPr lang="en-US" sz="1000" b="1" dirty="0" err="1">
                <a:solidFill>
                  <a:srgbClr val="0DB14B"/>
                </a:solidFill>
                <a:latin typeface="Segoe UI"/>
              </a:rPr>
              <a:t>lãng</a:t>
            </a:r>
            <a:r>
              <a:rPr lang="en-US" sz="1000" b="1" dirty="0">
                <a:solidFill>
                  <a:srgbClr val="0DB14B"/>
                </a:solidFill>
                <a:latin typeface="Segoe UI"/>
              </a:rPr>
              <a:t> </a:t>
            </a:r>
            <a:r>
              <a:rPr lang="en-US" sz="1000" b="1" dirty="0" err="1">
                <a:solidFill>
                  <a:srgbClr val="0DB14B"/>
                </a:solidFill>
                <a:latin typeface="Segoe UI"/>
              </a:rPr>
              <a:t>phí</a:t>
            </a:r>
            <a:r>
              <a:rPr lang="en-US" sz="1000" b="1" dirty="0">
                <a:solidFill>
                  <a:srgbClr val="0DB14B"/>
                </a:solidFill>
                <a:latin typeface="Segoe UI"/>
              </a:rPr>
              <a:t> </a:t>
            </a:r>
            <a:r>
              <a:rPr lang="en-US" sz="1000" b="1" dirty="0" err="1">
                <a:solidFill>
                  <a:srgbClr val="0DB14B"/>
                </a:solidFill>
                <a:latin typeface="Segoe UI"/>
              </a:rPr>
              <a:t>nên</a:t>
            </a:r>
            <a:r>
              <a:rPr lang="en-US" sz="1000" b="1" dirty="0">
                <a:solidFill>
                  <a:srgbClr val="0DB14B"/>
                </a:solidFill>
                <a:latin typeface="Segoe UI"/>
              </a:rPr>
              <a:t> </a:t>
            </a:r>
            <a:r>
              <a:rPr lang="en-US" sz="1000" b="1" dirty="0" err="1">
                <a:solidFill>
                  <a:srgbClr val="0DB14B"/>
                </a:solidFill>
                <a:latin typeface="Segoe UI"/>
              </a:rPr>
              <a:t>giảm</a:t>
            </a:r>
            <a:r>
              <a:rPr lang="en-US" sz="1000" b="1" dirty="0">
                <a:solidFill>
                  <a:srgbClr val="0DB14B"/>
                </a:solidFill>
                <a:latin typeface="Segoe UI"/>
              </a:rPr>
              <a:t> </a:t>
            </a:r>
            <a:r>
              <a:rPr lang="en-US" sz="1000" b="1" dirty="0" err="1">
                <a:solidFill>
                  <a:srgbClr val="0DB14B"/>
                </a:solidFill>
                <a:latin typeface="Segoe UI"/>
              </a:rPr>
              <a:t>tối</a:t>
            </a:r>
            <a:r>
              <a:rPr lang="en-US" sz="1000" b="1" dirty="0">
                <a:solidFill>
                  <a:srgbClr val="0DB14B"/>
                </a:solidFill>
                <a:latin typeface="Segoe UI"/>
              </a:rPr>
              <a:t> </a:t>
            </a:r>
            <a:r>
              <a:rPr lang="en-US" sz="1000" b="1" dirty="0" err="1">
                <a:solidFill>
                  <a:srgbClr val="0DB14B"/>
                </a:solidFill>
                <a:latin typeface="Segoe UI"/>
              </a:rPr>
              <a:t>thiểu</a:t>
            </a:r>
            <a:endParaRPr lang="vi-VN" sz="1000" b="1" dirty="0">
              <a:solidFill>
                <a:srgbClr val="0DB14B"/>
              </a:solidFill>
              <a:latin typeface="Segoe UI"/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Yêu cầu chỉnh sửa do tài liệu chưa được khách hàng chấp thuận,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Báo bug do sai từ đầu,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Sửa bug (rework),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Thông báo lỗi UAT.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310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50985-65D0-9DCC-6D6B-0618F0DE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3B49D-49CF-A197-DA7F-2306AD3364C2}"/>
              </a:ext>
            </a:extLst>
          </p:cNvPr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C9C5E-0D5B-0849-6A84-64B8332F673D}"/>
              </a:ext>
            </a:extLst>
          </p:cNvPr>
          <p:cNvSpPr/>
          <p:nvPr/>
        </p:nvSpPr>
        <p:spPr>
          <a:xfrm>
            <a:off x="731520" y="1051560"/>
            <a:ext cx="77724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9F23B0-29CC-D972-FCDE-1E4DC06E42E5}"/>
              </a:ext>
            </a:extLst>
          </p:cNvPr>
          <p:cNvSpPr/>
          <p:nvPr/>
        </p:nvSpPr>
        <p:spPr>
          <a:xfrm>
            <a:off x="8503920" y="1051560"/>
            <a:ext cx="2926080" cy="3657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1FEA4B8-B8A8-0C0E-CBB7-527449897E7D}"/>
              </a:ext>
            </a:extLst>
          </p:cNvPr>
          <p:cNvSpPr/>
          <p:nvPr/>
        </p:nvSpPr>
        <p:spPr>
          <a:xfrm>
            <a:off x="731520" y="146304"/>
            <a:ext cx="3840480" cy="256032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tlCol="0" anchor="ctr"/>
          <a:lstStyle/>
          <a:p>
            <a:pPr algn="ctr">
              <a:defRPr sz="950" b="1">
                <a:solidFill>
                  <a:srgbClr val="F37021"/>
                </a:solidFill>
                <a:latin typeface="Segoe UI"/>
              </a:defRPr>
            </a:pPr>
            <a:r>
              <a:t>PHẦN 3: QUY TRÌNH QUẢN LÝ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A6BF32-7C30-2E10-85DB-1FBC509DD62D}"/>
              </a:ext>
            </a:extLst>
          </p:cNvPr>
          <p:cNvSpPr txBox="1"/>
          <p:nvPr/>
        </p:nvSpPr>
        <p:spPr>
          <a:xfrm>
            <a:off x="731520" y="438912"/>
            <a:ext cx="8686800" cy="3385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Segoe UI"/>
              </a:defRPr>
            </a:pPr>
            <a:r>
              <a:rPr lang="vi-VN" dirty="0"/>
              <a:t>Phân Tích Quy Trình – Phân Tích Sự Lãng Phí</a:t>
            </a:r>
            <a:endParaRPr dirty="0"/>
          </a:p>
        </p:txBody>
      </p:sp>
      <p:pic>
        <p:nvPicPr>
          <p:cNvPr id="7" name="Picture 6" descr="fpt_software_logo.png">
            <a:extLst>
              <a:ext uri="{FF2B5EF4-FFF2-40B4-BE49-F238E27FC236}">
                <a16:creationId xmlns:a16="http://schemas.microsoft.com/office/drawing/2014/main" id="{525D0DDB-4032-BB55-4B51-C84D6E2A4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01168"/>
            <a:ext cx="1691640" cy="4229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9CE5EEA-69C0-1C17-3DC3-230A71C367A2}"/>
              </a:ext>
            </a:extLst>
          </p:cNvPr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175763-DA5F-9B86-06AC-89E4A59F32B3}"/>
              </a:ext>
            </a:extLst>
          </p:cNvPr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FPT Software | Hệ thống Quản trị Quy trình Nghiệp vụ (BPM) - Đồ án Môn học - Nhóm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FB1E46-ADEA-F55D-BA16-843C80809752}"/>
              </a:ext>
            </a:extLst>
          </p:cNvPr>
          <p:cNvSpPr txBox="1"/>
          <p:nvPr/>
        </p:nvSpPr>
        <p:spPr>
          <a:xfrm>
            <a:off x="10058400" y="6473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5BAA"/>
                </a:solidFill>
                <a:latin typeface="Segoe UI"/>
              </a:defRPr>
            </a:pPr>
            <a:r>
              <a:t>9 / 27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3BCB8687-94E4-6D5E-F3C8-49DA0B8717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987301"/>
            <a:ext cx="12192000" cy="288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398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B9CB1-DE63-4E2B-086C-AC2EF4F2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F07798-152E-98A0-F525-A9CF955B0B1F}"/>
              </a:ext>
            </a:extLst>
          </p:cNvPr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D41831-3A55-BE92-9A7B-EA66154C70A5}"/>
              </a:ext>
            </a:extLst>
          </p:cNvPr>
          <p:cNvSpPr/>
          <p:nvPr/>
        </p:nvSpPr>
        <p:spPr>
          <a:xfrm>
            <a:off x="731520" y="1051560"/>
            <a:ext cx="77724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732185-51B8-5306-9102-C5814395CDF4}"/>
              </a:ext>
            </a:extLst>
          </p:cNvPr>
          <p:cNvSpPr/>
          <p:nvPr/>
        </p:nvSpPr>
        <p:spPr>
          <a:xfrm>
            <a:off x="8503920" y="1051560"/>
            <a:ext cx="2926080" cy="3657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860CA3-B666-0DC3-F801-68DBB4153969}"/>
              </a:ext>
            </a:extLst>
          </p:cNvPr>
          <p:cNvSpPr/>
          <p:nvPr/>
        </p:nvSpPr>
        <p:spPr>
          <a:xfrm>
            <a:off x="731520" y="146304"/>
            <a:ext cx="3840480" cy="256032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tlCol="0" anchor="ctr"/>
          <a:lstStyle/>
          <a:p>
            <a:pPr algn="ctr">
              <a:defRPr sz="950" b="1">
                <a:solidFill>
                  <a:srgbClr val="F37021"/>
                </a:solidFill>
                <a:latin typeface="Segoe UI"/>
              </a:defRPr>
            </a:pPr>
            <a:r>
              <a:t>PHẦN 3: QUY TRÌNH QUẢN LÝ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D183C-C62E-02D0-B09B-B00E41709F68}"/>
              </a:ext>
            </a:extLst>
          </p:cNvPr>
          <p:cNvSpPr txBox="1"/>
          <p:nvPr/>
        </p:nvSpPr>
        <p:spPr>
          <a:xfrm>
            <a:off x="731520" y="438912"/>
            <a:ext cx="8686800" cy="3385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Segoe UI"/>
              </a:defRPr>
            </a:pPr>
            <a:r>
              <a:rPr lang="vi-VN" dirty="0"/>
              <a:t>Phân Tích Quy Trình – Phân Tích Sự Lãng Phí</a:t>
            </a:r>
            <a:endParaRPr dirty="0"/>
          </a:p>
        </p:txBody>
      </p:sp>
      <p:pic>
        <p:nvPicPr>
          <p:cNvPr id="7" name="Picture 6" descr="fpt_software_logo.png">
            <a:extLst>
              <a:ext uri="{FF2B5EF4-FFF2-40B4-BE49-F238E27FC236}">
                <a16:creationId xmlns:a16="http://schemas.microsoft.com/office/drawing/2014/main" id="{F14F3063-619B-A65D-C298-839709804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01168"/>
            <a:ext cx="1691640" cy="4229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C5764F-337D-B7F2-9A36-B52DE2339F97}"/>
              </a:ext>
            </a:extLst>
          </p:cNvPr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4D755D-71BE-662A-EFC9-444EA126515B}"/>
              </a:ext>
            </a:extLst>
          </p:cNvPr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FPT Software | Hệ thống Quản trị Quy trình Nghiệp vụ (BPM) - Đồ án Môn học - Nhóm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35655E-306F-D54F-83B3-AF20F7E2FB04}"/>
              </a:ext>
            </a:extLst>
          </p:cNvPr>
          <p:cNvSpPr txBox="1"/>
          <p:nvPr/>
        </p:nvSpPr>
        <p:spPr>
          <a:xfrm>
            <a:off x="10058400" y="6473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5BAA"/>
                </a:solidFill>
                <a:latin typeface="Segoe UI"/>
              </a:defRPr>
            </a:pPr>
            <a:r>
              <a:t>9 / 27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021F190-E785-0BBE-2F9F-436A06DBA5ED}"/>
              </a:ext>
            </a:extLst>
          </p:cNvPr>
          <p:cNvSpPr/>
          <p:nvPr/>
        </p:nvSpPr>
        <p:spPr>
          <a:xfrm>
            <a:off x="610140" y="137160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540"/>
                </a:solidFill>
                <a:latin typeface="Segoe UI"/>
              </a:defRPr>
            </a:pPr>
            <a:r>
              <a:rPr lang="vi-VN" sz="1300" b="1" dirty="0">
                <a:solidFill>
                  <a:srgbClr val="005BAA"/>
                </a:solidFill>
                <a:latin typeface="Segoe UI"/>
              </a:rPr>
              <a:t>MOVE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0A2540"/>
                </a:solidFill>
                <a:latin typeface="Segoe UI"/>
              </a:defRPr>
            </a:pPr>
            <a:r>
              <a:rPr lang="vi-VN" sz="1000" b="1" dirty="0">
                <a:solidFill>
                  <a:srgbClr val="005BAA"/>
                </a:solidFill>
                <a:latin typeface="Segoe UI"/>
              </a:rPr>
              <a:t>Chuyển giao thông tin.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Luồng tin nhắn, yêu cầu chỉnh sửa và gửi lại tài liệu.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Báo bug từ QA sang Dev thiếu thông tin, dẫn đến phải trao đổi lại nhiều lần.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Nguyên nhân: giao tiếp qua file rời/emails khiến thông tin bị phân mảnh, dễ hiểu sai ý nhau.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Giải pháp: dùng công cụ cộng tác trực tuyến như Figma, Google Docs và chuẩn hóa ticket lỗi.</a:t>
            </a:r>
            <a:endParaRPr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6433645-147A-7F78-EBB0-33456C18EB9D}"/>
              </a:ext>
            </a:extLst>
          </p:cNvPr>
          <p:cNvSpPr/>
          <p:nvPr/>
        </p:nvSpPr>
        <p:spPr>
          <a:xfrm>
            <a:off x="4389120" y="137160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37021"/>
                </a:solidFill>
                <a:latin typeface="Segoe UI"/>
              </a:defRPr>
            </a:pPr>
            <a:r>
              <a:rPr lang="vi-VN" dirty="0"/>
              <a:t>HOLD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37021"/>
                </a:solidFill>
                <a:latin typeface="Segoe UI"/>
              </a:defRPr>
            </a:pPr>
            <a:r>
              <a:rPr lang="vi-VN" sz="1000" dirty="0">
                <a:solidFill>
                  <a:schemeClr val="accent6"/>
                </a:solidFill>
                <a:latin typeface="Segoe UI"/>
              </a:rPr>
              <a:t>Chờ đợi.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Event chờ phản hồi UAT.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Event chờ xác nhận thanh toán.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Nguyên nhân: khách hàng bận công việc, quy trình kế toán và hồ sơ bàn giao rườm rà.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sz="1050" dirty="0">
                <a:solidFill>
                  <a:srgbClr val="1E293B"/>
                </a:solidFill>
                <a:latin typeface="Segoe UI"/>
              </a:rPr>
              <a:t>Giải pháp: thỏa thuận SLA UAT và chuẩn bị sẵn hồ sơ nghiệm thu từ trước.</a:t>
            </a:r>
            <a:endParaRPr lang="en-US" sz="105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endParaRPr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4DFB28-D816-A4D4-C6C7-01E978BB1070}"/>
              </a:ext>
            </a:extLst>
          </p:cNvPr>
          <p:cNvSpPr/>
          <p:nvPr/>
        </p:nvSpPr>
        <p:spPr>
          <a:xfrm>
            <a:off x="8046720" y="1371600"/>
            <a:ext cx="341345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5BAA"/>
                </a:solidFill>
                <a:latin typeface="Segoe UI"/>
              </a:defRPr>
            </a:pPr>
            <a:r>
              <a:rPr lang="vi-VN" sz="1300" b="1" dirty="0">
                <a:solidFill>
                  <a:srgbClr val="0DB14B"/>
                </a:solidFill>
                <a:latin typeface="Segoe UI"/>
              </a:rPr>
              <a:t>OVERDO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005BAA"/>
                </a:solidFill>
                <a:latin typeface="Segoe UI"/>
              </a:defRPr>
            </a:pPr>
            <a:r>
              <a:rPr lang="vi-VN" sz="1000" b="1" dirty="0">
                <a:solidFill>
                  <a:srgbClr val="0DB14B"/>
                </a:solidFill>
                <a:latin typeface="Segoe UI"/>
              </a:rPr>
              <a:t>Làm quá mức.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Làm báo giá Change Request cho các sửa đổi quá nhỏ như đổi màu nút bấm, sửa vài chữ.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Viết test case ở mức độ chi tiết thái quá khi yêu cầu chưa được chốt cứng.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Nguyên nhân: quy trình quá cứng nhắc, yêu cầu chưa đúng scope.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  <a:defRPr sz="1050">
                <a:solidFill>
                  <a:srgbClr val="1E293B"/>
                </a:solidFill>
                <a:latin typeface="Segoe UI"/>
              </a:defRPr>
            </a:pPr>
            <a:r>
              <a:rPr lang="vi-VN" dirty="0"/>
              <a:t>Giải pháp: dành buffer time 10% dự án và áp dụng checklist thay vì viết test case quá sâu ngay từ đầu.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1832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DF38A-5E8A-0F10-240C-76634376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C4108E-80A8-09B6-A237-B871C1180618}"/>
              </a:ext>
            </a:extLst>
          </p:cNvPr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60EE2-B3C2-5BEB-ED61-8F340E4FBEDD}"/>
              </a:ext>
            </a:extLst>
          </p:cNvPr>
          <p:cNvSpPr/>
          <p:nvPr/>
        </p:nvSpPr>
        <p:spPr>
          <a:xfrm>
            <a:off x="731520" y="1051560"/>
            <a:ext cx="77724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9BB8C1-84B9-8777-086C-B32427ABA798}"/>
              </a:ext>
            </a:extLst>
          </p:cNvPr>
          <p:cNvSpPr/>
          <p:nvPr/>
        </p:nvSpPr>
        <p:spPr>
          <a:xfrm>
            <a:off x="8503920" y="1051560"/>
            <a:ext cx="2926080" cy="3657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CEE898-6120-6ABC-D7FC-7F459F16230D}"/>
              </a:ext>
            </a:extLst>
          </p:cNvPr>
          <p:cNvSpPr/>
          <p:nvPr/>
        </p:nvSpPr>
        <p:spPr>
          <a:xfrm>
            <a:off x="731520" y="146304"/>
            <a:ext cx="3840480" cy="256032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tlCol="0" anchor="ctr"/>
          <a:lstStyle/>
          <a:p>
            <a:pPr algn="ctr">
              <a:defRPr sz="950" b="1">
                <a:solidFill>
                  <a:srgbClr val="F37021"/>
                </a:solidFill>
                <a:latin typeface="Segoe UI"/>
              </a:defRPr>
            </a:pPr>
            <a:r>
              <a:t>PHẦN 3: QUY TRÌNH QUẢN LÝ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F48E84-6BDE-49AB-5E8A-B6234F668599}"/>
              </a:ext>
            </a:extLst>
          </p:cNvPr>
          <p:cNvSpPr txBox="1"/>
          <p:nvPr/>
        </p:nvSpPr>
        <p:spPr>
          <a:xfrm>
            <a:off x="731520" y="438912"/>
            <a:ext cx="8686800" cy="3385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Segoe UI"/>
              </a:defRPr>
            </a:pPr>
            <a:r>
              <a:rPr lang="vi-VN" dirty="0"/>
              <a:t>Phân Tích Quy Trình – Phân Tích Các Bên Liên Quan</a:t>
            </a:r>
            <a:endParaRPr dirty="0"/>
          </a:p>
        </p:txBody>
      </p:sp>
      <p:pic>
        <p:nvPicPr>
          <p:cNvPr id="7" name="Picture 6" descr="fpt_software_logo.png">
            <a:extLst>
              <a:ext uri="{FF2B5EF4-FFF2-40B4-BE49-F238E27FC236}">
                <a16:creationId xmlns:a16="http://schemas.microsoft.com/office/drawing/2014/main" id="{05F3184E-6F51-8C2A-07F3-62F04B940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01168"/>
            <a:ext cx="1691640" cy="4229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FBD875A-5F73-402E-77B8-41C65E3E5EB2}"/>
              </a:ext>
            </a:extLst>
          </p:cNvPr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BD5769-6AD6-177B-E44F-4A0625048B10}"/>
              </a:ext>
            </a:extLst>
          </p:cNvPr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FPT Software | Hệ thống Quản trị Quy trình Nghiệp vụ (BPM) - Đồ án Môn học - Nhóm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03FB04-A3F9-7C26-18CA-6F7114C8AD31}"/>
              </a:ext>
            </a:extLst>
          </p:cNvPr>
          <p:cNvSpPr txBox="1"/>
          <p:nvPr/>
        </p:nvSpPr>
        <p:spPr>
          <a:xfrm>
            <a:off x="10058400" y="6473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5BAA"/>
                </a:solidFill>
                <a:latin typeface="Segoe UI"/>
              </a:defRPr>
            </a:pPr>
            <a:r>
              <a:t>9 / 27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8BE5CD-C3FE-5F45-E7AE-50543C31C0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37"/>
          <a:stretch>
            <a:fillRect/>
          </a:stretch>
        </p:blipFill>
        <p:spPr>
          <a:xfrm>
            <a:off x="2086016" y="1453896"/>
            <a:ext cx="7880944" cy="484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731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85C5B-D5B0-723B-854F-9826C61BD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2F7C74-EE05-4596-042B-281C9C01BC40}"/>
              </a:ext>
            </a:extLst>
          </p:cNvPr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9BCC2A-B947-95E0-5B1C-329DFAAC6156}"/>
              </a:ext>
            </a:extLst>
          </p:cNvPr>
          <p:cNvSpPr/>
          <p:nvPr/>
        </p:nvSpPr>
        <p:spPr>
          <a:xfrm>
            <a:off x="731520" y="1051560"/>
            <a:ext cx="77724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36EC51-1D15-A399-8A64-7C199793290A}"/>
              </a:ext>
            </a:extLst>
          </p:cNvPr>
          <p:cNvSpPr/>
          <p:nvPr/>
        </p:nvSpPr>
        <p:spPr>
          <a:xfrm>
            <a:off x="8503920" y="1051560"/>
            <a:ext cx="2926080" cy="36576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E458763-FCB3-B8D4-D8C0-6610A92A92EF}"/>
              </a:ext>
            </a:extLst>
          </p:cNvPr>
          <p:cNvSpPr/>
          <p:nvPr/>
        </p:nvSpPr>
        <p:spPr>
          <a:xfrm>
            <a:off x="731520" y="146304"/>
            <a:ext cx="3840480" cy="256032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tlCol="0" anchor="ctr"/>
          <a:lstStyle/>
          <a:p>
            <a:pPr algn="ctr">
              <a:defRPr sz="950" b="1">
                <a:solidFill>
                  <a:srgbClr val="F37021"/>
                </a:solidFill>
                <a:latin typeface="Segoe UI"/>
              </a:defRPr>
            </a:pPr>
            <a:r>
              <a:t>PHẦN 4: QUY TRÌNH CỐT LÕI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CC9BEF-DA88-CE9C-F053-8BE7AD31C432}"/>
              </a:ext>
            </a:extLst>
          </p:cNvPr>
          <p:cNvSpPr txBox="1"/>
          <p:nvPr/>
        </p:nvSpPr>
        <p:spPr>
          <a:xfrm>
            <a:off x="731520" y="438912"/>
            <a:ext cx="8686800" cy="3385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0A2540"/>
                </a:solidFill>
                <a:latin typeface="Segoe UI"/>
              </a:defRPr>
            </a:pPr>
            <a:r>
              <a:rPr lang="vi-VN" dirty="0"/>
              <a:t>PHÂN TÍCH QUY TRÌNH – PHÂN TÍCH ĐỊNH LƯỢNG</a:t>
            </a:r>
            <a:endParaRPr dirty="0"/>
          </a:p>
        </p:txBody>
      </p:sp>
      <p:pic>
        <p:nvPicPr>
          <p:cNvPr id="7" name="Picture 6" descr="fpt_software_logo.png">
            <a:extLst>
              <a:ext uri="{FF2B5EF4-FFF2-40B4-BE49-F238E27FC236}">
                <a16:creationId xmlns:a16="http://schemas.microsoft.com/office/drawing/2014/main" id="{14437CE6-3585-F051-AC8D-9E56B137A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01168"/>
            <a:ext cx="1691640" cy="4229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061BD1-18B6-2B40-5445-8933F41716AE}"/>
              </a:ext>
            </a:extLst>
          </p:cNvPr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7A047-751C-272C-8A61-0A0147A27863}"/>
              </a:ext>
            </a:extLst>
          </p:cNvPr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FPT Software | Hệ thống Quản trị Quy trình Nghiệp vụ (BPM) - Đồ án Môn học - Nhóm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7D7DA9-981B-933A-CE49-CDB746B873B6}"/>
              </a:ext>
            </a:extLst>
          </p:cNvPr>
          <p:cNvSpPr txBox="1"/>
          <p:nvPr/>
        </p:nvSpPr>
        <p:spPr>
          <a:xfrm>
            <a:off x="10058400" y="6473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5BAA"/>
                </a:solidFill>
                <a:latin typeface="Segoe UI"/>
              </a:defRPr>
            </a:pPr>
            <a:r>
              <a:t>16 / 27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683A64E-849D-7F3B-633D-D5CE32202152}"/>
              </a:ext>
            </a:extLst>
          </p:cNvPr>
          <p:cNvSpPr/>
          <p:nvPr/>
        </p:nvSpPr>
        <p:spPr>
          <a:xfrm>
            <a:off x="731520" y="1325880"/>
            <a:ext cx="6268091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4A21C59-A6CC-1308-6850-637C00723BC5}"/>
              </a:ext>
            </a:extLst>
          </p:cNvPr>
          <p:cNvSpPr/>
          <p:nvPr/>
        </p:nvSpPr>
        <p:spPr>
          <a:xfrm>
            <a:off x="731520" y="1325880"/>
            <a:ext cx="109728" cy="89611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C5D5FC-1646-0352-6AEA-8D36C1BEE1FB}"/>
              </a:ext>
            </a:extLst>
          </p:cNvPr>
          <p:cNvSpPr txBox="1"/>
          <p:nvPr/>
        </p:nvSpPr>
        <p:spPr>
          <a:xfrm>
            <a:off x="1005840" y="1417320"/>
            <a:ext cx="6126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BAA"/>
                </a:solidFill>
                <a:latin typeface="Segoe UI"/>
              </a:defRPr>
            </a:pPr>
            <a:r>
              <a:rPr lang="vi-VN" dirty="0"/>
              <a:t>KHỐI </a:t>
            </a:r>
            <a:r>
              <a:rPr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F6F20C-474F-E65C-4A61-9DC7C62A7843}"/>
              </a:ext>
            </a:extLst>
          </p:cNvPr>
          <p:cNvSpPr txBox="1"/>
          <p:nvPr/>
        </p:nvSpPr>
        <p:spPr>
          <a:xfrm>
            <a:off x="1005840" y="1645920"/>
            <a:ext cx="204414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rPr dirty="0"/>
              <a:t>KHỞI TẠO &amp; </a:t>
            </a:r>
            <a:r>
              <a:rPr lang="vi-VN" dirty="0"/>
              <a:t>KÝ HỢP ĐỒNG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3A7973-EC14-42B2-FE20-F194EAB2851A}"/>
              </a:ext>
            </a:extLst>
          </p:cNvPr>
          <p:cNvSpPr txBox="1"/>
          <p:nvPr/>
        </p:nvSpPr>
        <p:spPr>
          <a:xfrm>
            <a:off x="3108960" y="1682348"/>
            <a:ext cx="82296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en-US" dirty="0"/>
              <a:t>T1 = 3 </a:t>
            </a:r>
            <a:r>
              <a:rPr lang="en-US" dirty="0" err="1"/>
              <a:t>ngày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F23F90D-DEAE-8CE8-FF0C-2EDD7DE59C84}"/>
              </a:ext>
            </a:extLst>
          </p:cNvPr>
          <p:cNvSpPr/>
          <p:nvPr/>
        </p:nvSpPr>
        <p:spPr>
          <a:xfrm>
            <a:off x="731520" y="2313432"/>
            <a:ext cx="6268091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361713E-0B14-08C8-66DE-5320A349CCAB}"/>
              </a:ext>
            </a:extLst>
          </p:cNvPr>
          <p:cNvSpPr/>
          <p:nvPr/>
        </p:nvSpPr>
        <p:spPr>
          <a:xfrm>
            <a:off x="731520" y="2313432"/>
            <a:ext cx="109728" cy="89611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278BA0-A246-C1EF-0586-0900B21D6845}"/>
              </a:ext>
            </a:extLst>
          </p:cNvPr>
          <p:cNvSpPr txBox="1"/>
          <p:nvPr/>
        </p:nvSpPr>
        <p:spPr>
          <a:xfrm>
            <a:off x="1005840" y="24048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37021"/>
                </a:solidFill>
                <a:latin typeface="Segoe UI"/>
              </a:defRPr>
            </a:pPr>
            <a:r>
              <a:t>GIAI ĐOẠN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E4DD88-6D75-E62D-30D5-D1BAAD59D704}"/>
              </a:ext>
            </a:extLst>
          </p:cNvPr>
          <p:cNvSpPr txBox="1"/>
          <p:nvPr/>
        </p:nvSpPr>
        <p:spPr>
          <a:xfrm>
            <a:off x="1005840" y="2633472"/>
            <a:ext cx="213552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rPr lang="vi-VN" dirty="0"/>
              <a:t>PHÂN TÍCH &amp; CHỐT TÀI LIỆU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C43EEF-F2DF-59BB-DF93-B6665F81B5D6}"/>
              </a:ext>
            </a:extLst>
          </p:cNvPr>
          <p:cNvSpPr txBox="1"/>
          <p:nvPr/>
        </p:nvSpPr>
        <p:spPr>
          <a:xfrm>
            <a:off x="3108960" y="2386584"/>
            <a:ext cx="8229600" cy="41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en-US" dirty="0"/>
              <a:t>T2 = 5 </a:t>
            </a:r>
            <a:r>
              <a:rPr lang="en-US" dirty="0" err="1"/>
              <a:t>ngày</a:t>
            </a:r>
            <a:r>
              <a:rPr lang="en-US" dirty="0"/>
              <a:t>;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r1 = 20%.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chu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: CT2 = 5 / (1 - 0.2) = 6.25 </a:t>
            </a:r>
            <a:r>
              <a:rPr lang="en-US" dirty="0" err="1"/>
              <a:t>ngày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BB49AFC-FD0D-930B-50F1-A9FD2365008A}"/>
              </a:ext>
            </a:extLst>
          </p:cNvPr>
          <p:cNvSpPr/>
          <p:nvPr/>
        </p:nvSpPr>
        <p:spPr>
          <a:xfrm>
            <a:off x="731520" y="3300984"/>
            <a:ext cx="6268091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F2E6B7C-2520-5A32-AA32-D14B635E1F8E}"/>
              </a:ext>
            </a:extLst>
          </p:cNvPr>
          <p:cNvSpPr/>
          <p:nvPr/>
        </p:nvSpPr>
        <p:spPr>
          <a:xfrm>
            <a:off x="731520" y="3300984"/>
            <a:ext cx="109728" cy="89611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64313A-33F4-B6F8-57D4-9744BE0EC7B2}"/>
              </a:ext>
            </a:extLst>
          </p:cNvPr>
          <p:cNvSpPr txBox="1"/>
          <p:nvPr/>
        </p:nvSpPr>
        <p:spPr>
          <a:xfrm>
            <a:off x="1005840" y="339242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BAA"/>
                </a:solidFill>
                <a:latin typeface="Segoe UI"/>
              </a:defRPr>
            </a:pPr>
            <a:r>
              <a:t>GIAI ĐOẠN 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83CD61-9F09-E716-0516-C570B1B9ECF6}"/>
              </a:ext>
            </a:extLst>
          </p:cNvPr>
          <p:cNvSpPr txBox="1"/>
          <p:nvPr/>
        </p:nvSpPr>
        <p:spPr>
          <a:xfrm>
            <a:off x="1005840" y="3621024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rPr lang="en-US" dirty="0"/>
              <a:t>PHÁT TRIỂN &amp; TEST NỘI BỘ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03FF54-7D51-A1A2-D9A9-DAFCF4128E6B}"/>
              </a:ext>
            </a:extLst>
          </p:cNvPr>
          <p:cNvSpPr txBox="1"/>
          <p:nvPr/>
        </p:nvSpPr>
        <p:spPr>
          <a:xfrm>
            <a:off x="3108960" y="3374136"/>
            <a:ext cx="8229600" cy="582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en-US" dirty="0"/>
              <a:t>Dev </a:t>
            </a:r>
            <a:r>
              <a:rPr lang="en-US" dirty="0" err="1"/>
              <a:t>viết</a:t>
            </a:r>
            <a:r>
              <a:rPr lang="en-US" dirty="0"/>
              <a:t> code: T3A = 15 </a:t>
            </a:r>
            <a:r>
              <a:rPr lang="en-US" dirty="0" err="1"/>
              <a:t>ngày</a:t>
            </a:r>
            <a:r>
              <a:rPr lang="en-US" dirty="0"/>
              <a:t>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en-US" dirty="0"/>
              <a:t>QA </a:t>
            </a:r>
            <a:r>
              <a:rPr lang="en-US" dirty="0" err="1"/>
              <a:t>viết</a:t>
            </a:r>
            <a:r>
              <a:rPr lang="en-US" dirty="0"/>
              <a:t> test case: T3B = 3 </a:t>
            </a:r>
            <a:r>
              <a:rPr lang="en-US" dirty="0" err="1"/>
              <a:t>ngày</a:t>
            </a:r>
            <a:r>
              <a:rPr lang="en-US" dirty="0"/>
              <a:t>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chu </a:t>
            </a:r>
            <a:r>
              <a:rPr lang="en-US" dirty="0" err="1"/>
              <a:t>kỳ</a:t>
            </a:r>
            <a:r>
              <a:rPr lang="en-US" dirty="0"/>
              <a:t>: CT3 = max(15, 3) = 15 </a:t>
            </a:r>
            <a:r>
              <a:rPr lang="en-US" dirty="0" err="1"/>
              <a:t>ngày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17DEB8B-647B-2DF9-D2F6-11AACB77A9FD}"/>
              </a:ext>
            </a:extLst>
          </p:cNvPr>
          <p:cNvSpPr/>
          <p:nvPr/>
        </p:nvSpPr>
        <p:spPr>
          <a:xfrm>
            <a:off x="731520" y="4288536"/>
            <a:ext cx="6268091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DB89624-B166-FAA3-92C8-71B3DA622994}"/>
              </a:ext>
            </a:extLst>
          </p:cNvPr>
          <p:cNvSpPr/>
          <p:nvPr/>
        </p:nvSpPr>
        <p:spPr>
          <a:xfrm>
            <a:off x="731520" y="4288536"/>
            <a:ext cx="109728" cy="89611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B5F96F-D791-5021-9D43-97D6AE612C65}"/>
              </a:ext>
            </a:extLst>
          </p:cNvPr>
          <p:cNvSpPr txBox="1"/>
          <p:nvPr/>
        </p:nvSpPr>
        <p:spPr>
          <a:xfrm>
            <a:off x="1005840" y="437997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37021"/>
                </a:solidFill>
                <a:latin typeface="Segoe UI"/>
              </a:defRPr>
            </a:pPr>
            <a:r>
              <a:rPr dirty="0"/>
              <a:t>GIAI ĐOẠN 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9E6132-7D06-D32B-BF1E-47B3701F0132}"/>
              </a:ext>
            </a:extLst>
          </p:cNvPr>
          <p:cNvSpPr txBox="1"/>
          <p:nvPr/>
        </p:nvSpPr>
        <p:spPr>
          <a:xfrm>
            <a:off x="1005840" y="4608576"/>
            <a:ext cx="206659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rPr dirty="0"/>
              <a:t>NGHIỆM THU NGƯỜI </a:t>
            </a:r>
            <a:r>
              <a:rPr lang="vi-VN" dirty="0"/>
              <a:t>DÙNG</a:t>
            </a:r>
            <a:endParaRPr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B4BC07-B424-B85E-7747-FE5C0C97CBF7}"/>
              </a:ext>
            </a:extLst>
          </p:cNvPr>
          <p:cNvSpPr txBox="1"/>
          <p:nvPr/>
        </p:nvSpPr>
        <p:spPr>
          <a:xfrm>
            <a:off x="3108960" y="4361688"/>
            <a:ext cx="8229600" cy="41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en-US" dirty="0"/>
              <a:t>T4 = 2 </a:t>
            </a:r>
            <a:r>
              <a:rPr lang="en-US" dirty="0" err="1"/>
              <a:t>ngày</a:t>
            </a:r>
            <a:r>
              <a:rPr lang="en-US" dirty="0"/>
              <a:t>;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r2 = 30%.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chu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: CT4 = 2 / (1 - 0.3) ≈ 2.86 </a:t>
            </a:r>
            <a:r>
              <a:rPr lang="en-US" dirty="0" err="1"/>
              <a:t>ngày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1CA8C80-CFA4-F906-F0B9-EC36D87F8095}"/>
              </a:ext>
            </a:extLst>
          </p:cNvPr>
          <p:cNvSpPr/>
          <p:nvPr/>
        </p:nvSpPr>
        <p:spPr>
          <a:xfrm>
            <a:off x="731520" y="5276088"/>
            <a:ext cx="6268091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50DBDE6-9573-F206-87FD-A88040238C88}"/>
              </a:ext>
            </a:extLst>
          </p:cNvPr>
          <p:cNvSpPr/>
          <p:nvPr/>
        </p:nvSpPr>
        <p:spPr>
          <a:xfrm>
            <a:off x="731520" y="5276088"/>
            <a:ext cx="109728" cy="896112"/>
          </a:xfrm>
          <a:prstGeom prst="roundRect">
            <a:avLst/>
          </a:prstGeom>
          <a:solidFill>
            <a:srgbClr val="0D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27935A-C865-F9A6-2386-B31C06125586}"/>
              </a:ext>
            </a:extLst>
          </p:cNvPr>
          <p:cNvSpPr txBox="1"/>
          <p:nvPr/>
        </p:nvSpPr>
        <p:spPr>
          <a:xfrm>
            <a:off x="1005840" y="536752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B14B"/>
                </a:solidFill>
                <a:latin typeface="Segoe UI"/>
              </a:defRPr>
            </a:pPr>
            <a:r>
              <a:rPr dirty="0"/>
              <a:t>GIAI ĐOẠN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0F1BF1-4D11-ACF2-2987-AD3FBD935A29}"/>
              </a:ext>
            </a:extLst>
          </p:cNvPr>
          <p:cNvSpPr txBox="1"/>
          <p:nvPr/>
        </p:nvSpPr>
        <p:spPr>
          <a:xfrm>
            <a:off x="1005840" y="5596128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BÀN GIAO &amp; ĐÓNG DỰ ÁN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FD74E6-8970-E243-0683-2DB6F4A15D4A}"/>
              </a:ext>
            </a:extLst>
          </p:cNvPr>
          <p:cNvSpPr txBox="1"/>
          <p:nvPr/>
        </p:nvSpPr>
        <p:spPr>
          <a:xfrm>
            <a:off x="3108960" y="5349240"/>
            <a:ext cx="8229600" cy="41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en-US" dirty="0"/>
              <a:t>T5 = 4 </a:t>
            </a:r>
            <a:r>
              <a:rPr lang="en-US" dirty="0" err="1"/>
              <a:t>ngày</a:t>
            </a:r>
            <a:r>
              <a:rPr lang="en-US" dirty="0"/>
              <a:t>;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UAT r3 = 20%.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chu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: CT5 = 4 / (1 - 0.2) = 5 </a:t>
            </a:r>
            <a:r>
              <a:rPr lang="en-US" dirty="0" err="1"/>
              <a:t>ngày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6" name="Rounded Rectangle 10">
            <a:extLst>
              <a:ext uri="{FF2B5EF4-FFF2-40B4-BE49-F238E27FC236}">
                <a16:creationId xmlns:a16="http://schemas.microsoft.com/office/drawing/2014/main" id="{AA699E6B-D35A-AD0A-3D1D-4786E1EB8347}"/>
              </a:ext>
            </a:extLst>
          </p:cNvPr>
          <p:cNvSpPr/>
          <p:nvPr/>
        </p:nvSpPr>
        <p:spPr>
          <a:xfrm>
            <a:off x="7223760" y="1360514"/>
            <a:ext cx="4598488" cy="197247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950" b="1" dirty="0">
                <a:solidFill>
                  <a:srgbClr val="1E293B"/>
                </a:solidFill>
                <a:latin typeface="Segoe UI"/>
              </a:rPr>
              <a:t>Tổng thời gian chu kỳ của dự án</a:t>
            </a:r>
          </a:p>
          <a:p>
            <a:endParaRPr lang="vi-VN" sz="950" b="1" dirty="0">
              <a:solidFill>
                <a:srgbClr val="1E293B"/>
              </a:solidFill>
              <a:latin typeface="Segoe UI"/>
            </a:endParaRPr>
          </a:p>
          <a:p>
            <a:r>
              <a:rPr lang="vi-VN" sz="950" dirty="0">
                <a:solidFill>
                  <a:srgbClr val="1E293B"/>
                </a:solidFill>
                <a:latin typeface="Segoe UI"/>
              </a:rPr>
              <a:t>CT = 3 + 6.25 + 15 + 2.86 + 5 = 32.11 ngày.</a:t>
            </a:r>
          </a:p>
          <a:p>
            <a:endParaRPr lang="vi-VN" sz="950" b="1" dirty="0">
              <a:solidFill>
                <a:srgbClr val="1E293B"/>
              </a:solidFill>
              <a:latin typeface="Segoe UI"/>
            </a:endParaRPr>
          </a:p>
          <a:p>
            <a:r>
              <a:rPr lang="vi-VN" sz="950" b="1" dirty="0">
                <a:solidFill>
                  <a:srgbClr val="1E293B"/>
                </a:solidFill>
                <a:latin typeface="Segoe UI"/>
              </a:rPr>
              <a:t>Hiệu suất thời gian</a:t>
            </a:r>
          </a:p>
          <a:p>
            <a:endParaRPr lang="vi-VN" sz="950" b="1" dirty="0">
              <a:solidFill>
                <a:srgbClr val="1E293B"/>
              </a:solidFill>
              <a:latin typeface="Segoe UI"/>
            </a:endParaRPr>
          </a:p>
          <a:p>
            <a:r>
              <a:rPr lang="vi-VN" sz="950" dirty="0">
                <a:solidFill>
                  <a:srgbClr val="1E293B"/>
                </a:solidFill>
                <a:latin typeface="Segoe UI"/>
              </a:rPr>
              <a:t>Thời gian xử lý lý tưởng nếu không có rework: PT = 29 ngày.</a:t>
            </a:r>
          </a:p>
          <a:p>
            <a:r>
              <a:rPr lang="vi-VN" sz="950" dirty="0">
                <a:solidFill>
                  <a:srgbClr val="1E293B"/>
                </a:solidFill>
                <a:latin typeface="Segoe UI"/>
              </a:rPr>
              <a:t>Hiệu suất = 29 / 32.11 ≈ 90.3%.</a:t>
            </a:r>
            <a:endParaRPr lang="en-US" sz="950" dirty="0">
              <a:solidFill>
                <a:srgbClr val="1E293B"/>
              </a:solidFill>
              <a:latin typeface="Segoe UI"/>
            </a:endParaRPr>
          </a:p>
        </p:txBody>
      </p:sp>
      <p:sp>
        <p:nvSpPr>
          <p:cNvPr id="37" name="Rounded Rectangle 10">
            <a:extLst>
              <a:ext uri="{FF2B5EF4-FFF2-40B4-BE49-F238E27FC236}">
                <a16:creationId xmlns:a16="http://schemas.microsoft.com/office/drawing/2014/main" id="{67093B96-1848-D79E-3692-A91EE6E504B8}"/>
              </a:ext>
            </a:extLst>
          </p:cNvPr>
          <p:cNvSpPr/>
          <p:nvPr/>
        </p:nvSpPr>
        <p:spPr>
          <a:xfrm>
            <a:off x="7257747" y="3579876"/>
            <a:ext cx="4598488" cy="197247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00" b="1" dirty="0">
                <a:solidFill>
                  <a:srgbClr val="F37021"/>
                </a:solidFill>
                <a:latin typeface="Segoe UI"/>
              </a:rPr>
              <a:t>KẾT LUẬN</a:t>
            </a:r>
          </a:p>
          <a:p>
            <a:endParaRPr lang="vi-VN" sz="1100" b="1" dirty="0">
              <a:solidFill>
                <a:srgbClr val="0A2540"/>
              </a:solidFill>
              <a:latin typeface="Segoe UI"/>
            </a:endParaRPr>
          </a:p>
          <a:p>
            <a:r>
              <a:rPr lang="en-US" sz="950" dirty="0" err="1">
                <a:solidFill>
                  <a:srgbClr val="1E293B"/>
                </a:solidFill>
                <a:latin typeface="Segoe UI"/>
              </a:rPr>
              <a:t>Nút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thắt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cổ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chai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nằm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ở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các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vòng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lặp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rework (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sửa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tài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liệu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,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kiểm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thử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nội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bộ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, UAT).</a:t>
            </a:r>
          </a:p>
          <a:p>
            <a:r>
              <a:rPr lang="en-US" sz="950" dirty="0" err="1">
                <a:solidFill>
                  <a:srgbClr val="1E293B"/>
                </a:solidFill>
                <a:latin typeface="Segoe UI"/>
              </a:rPr>
              <a:t>Việc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chạy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song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song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giữa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Dev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và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QA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giúp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tối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ưu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thời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gian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,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nhưng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rework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vẫn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là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yếu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tố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chính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làm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tăng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chu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kỳ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dự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Segoe UI"/>
              </a:rPr>
              <a:t>án</a:t>
            </a:r>
            <a:r>
              <a:rPr lang="en-US" sz="95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8707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2612</Words>
  <Application>Microsoft Office PowerPoint</Application>
  <PresentationFormat>Widescreen</PresentationFormat>
  <Paragraphs>271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Hoa Nguyen</cp:lastModifiedBy>
  <cp:revision>10</cp:revision>
  <dcterms:created xsi:type="dcterms:W3CDTF">2013-01-27T09:14:16Z</dcterms:created>
  <dcterms:modified xsi:type="dcterms:W3CDTF">2026-09-05T14:00:45Z</dcterms:modified>
  <cp:category/>
</cp:coreProperties>
</file>