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Quy Trình Phát Triển Phần Mềm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Mô hình hóa, phân tích và cải tiến quy trình</a:t>
            </a:r>
          </a:p>
          <a:p>
            <a:r>
              <a:t>Nguyễn Thái Hòa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Mục Lục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1. Tổng quan về quy trình phát triển phần mềm</a:t>
            </a:r>
          </a:p>
          <a:p>
            <a:pPr/>
            <a:r>
              <a:rPr sz="1800"/>
              <a:t>2. Mô hình hóa quy trình (BPMN)</a:t>
            </a:r>
          </a:p>
          <a:p>
            <a:pPr/>
            <a:r>
              <a:rPr sz="1800"/>
              <a:t>3. Các bên tham gia và phân công vai trò</a:t>
            </a:r>
          </a:p>
          <a:p>
            <a:pPr/>
            <a:r>
              <a:rPr sz="1800"/>
              <a:t>4. Quy trình chi tiết – Giai đoạn tiền hợp đồng</a:t>
            </a:r>
          </a:p>
          <a:p>
            <a:pPr/>
            <a:r>
              <a:rPr sz="1800"/>
              <a:t>5. Quy trình chi tiết – Giai đoạn thực thi</a:t>
            </a:r>
          </a:p>
          <a:p>
            <a:pPr/>
            <a:r>
              <a:rPr sz="1800"/>
              <a:t>6. Quy trình chi tiết – Giai đoạn kiểm thử &amp; bàn giao</a:t>
            </a:r>
          </a:p>
          <a:p>
            <a:pPr/>
            <a:r>
              <a:rPr sz="1800"/>
              <a:t>7. Phương pháp thực hiện – Phân tích giá trị gia tăng (GTGT)</a:t>
            </a:r>
          </a:p>
          <a:p>
            <a:pPr/>
            <a:r>
              <a:rPr sz="1800"/>
              <a:t>8. Phương pháp thực hiện – Khai phá quy trình (Process Mining)</a:t>
            </a:r>
          </a:p>
          <a:p>
            <a:pPr/>
            <a:r>
              <a:rPr sz="1800"/>
              <a:t>9. Phân tích quy trình – Chỉ số hiệu suất (KPI)</a:t>
            </a:r>
          </a:p>
          <a:p>
            <a:pPr/>
            <a:r>
              <a:rPr sz="1800"/>
              <a:t>10. Phân tích quy trình – Điểm nghẽn &amp; rủi ro</a:t>
            </a:r>
          </a:p>
          <a:p>
            <a:pPr/>
            <a:r>
              <a:rPr sz="1800"/>
              <a:t>11. Đề xuất cải tiến quy trình</a:t>
            </a:r>
          </a:p>
          <a:p>
            <a:pPr/>
            <a:r>
              <a:rPr sz="1800"/>
              <a:t>12. Kết luận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Tổng Quan Quy Trình Phát Triển Phần Mềm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Quy trình phát triển phần mềm là tập hợp các hoạt động có cấu trúc từ khi tiếp nhận yêu cầu đến khi bàn giao sản phẩm.</a:t>
            </a:r>
          </a:p>
          <a:p>
            <a:pPr/>
          </a:p>
          <a:p>
            <a:pPr/>
            <a:r>
              <a:rPr sz="1800"/>
              <a:t>Các giai đoạn chính:</a:t>
            </a:r>
          </a:p>
          <a:p>
            <a:pPr lvl="1"/>
            <a:r>
              <a:rPr sz="1800"/>
              <a:t>Tiền hợp đồng: Tiếp nhận yêu cầu, phân tích sơ bộ, báo giá, ký hợp đồng</a:t>
            </a:r>
          </a:p>
          <a:p>
            <a:pPr lvl="1"/>
            <a:r>
              <a:rPr sz="1800"/>
              <a:t>Phân tích &amp; Thiết kế: Lấy yêu cầu chi tiết, viết tài liệu đặc tả, lập kế hoạch</a:t>
            </a:r>
          </a:p>
          <a:p>
            <a:pPr lvl="1"/>
            <a:r>
              <a:rPr sz="1800"/>
              <a:t>Phát triển: Viết code, unit test, kiểm thử nội bộ</a:t>
            </a:r>
          </a:p>
          <a:p>
            <a:pPr lvl="1"/>
            <a:r>
              <a:rPr sz="1800"/>
              <a:t>Kiểm thử &amp; Nghiệm thu: Triển khai UAT, xử lý lỗi, sign-off</a:t>
            </a:r>
          </a:p>
          <a:p>
            <a:pPr lvl="1"/>
            <a:r>
              <a:rPr sz="1800"/>
              <a:t>Bàn giao: Triển khai production, bàn giao tài liệu, thanh toán</a:t>
            </a:r>
          </a:p>
          <a:p>
            <a:pPr/>
          </a:p>
          <a:p>
            <a:pPr/>
            <a:r>
              <a:rPr sz="1800"/>
              <a:t>Hai bên tham gia chính: Công ty phần mềm và Khách hàng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Mô Hình Hóa Quy Trình – BPMN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Công cụ mô hình hóa: BPMN 2.0 (Business Process Model and Notation)</a:t>
            </a:r>
          </a:p>
          <a:p>
            <a:pPr/>
          </a:p>
          <a:p>
            <a:pPr/>
            <a:r>
              <a:rPr sz="1800"/>
              <a:t>Cấu trúc mô hình:</a:t>
            </a:r>
          </a:p>
          <a:p>
            <a:pPr lvl="1"/>
            <a:r>
              <a:rPr sz="1800"/>
              <a:t>Pool: Công ty phần mềm | Khách hàng</a:t>
            </a:r>
          </a:p>
          <a:p>
            <a:pPr lvl="1"/>
            <a:r>
              <a:rPr sz="1800"/>
              <a:t>Lane (phân luồng trong Công ty phần mềm):</a:t>
            </a:r>
          </a:p>
          <a:p>
            <a:pPr lvl="2"/>
            <a:r>
              <a:rPr sz="1800"/>
              <a:t>  • Sales</a:t>
            </a:r>
          </a:p>
          <a:p>
            <a:pPr lvl="2"/>
            <a:r>
              <a:rPr sz="1800"/>
              <a:t>  • Project Manager</a:t>
            </a:r>
          </a:p>
          <a:p>
            <a:pPr lvl="2"/>
            <a:r>
              <a:rPr sz="1800"/>
              <a:t>  • Business Analysis (BA)</a:t>
            </a:r>
          </a:p>
          <a:p>
            <a:pPr lvl="2"/>
            <a:r>
              <a:rPr sz="1800"/>
              <a:t>  • Development Team</a:t>
            </a:r>
          </a:p>
          <a:p>
            <a:pPr lvl="2"/>
            <a:r>
              <a:rPr sz="1800"/>
              <a:t>  • QA Team</a:t>
            </a:r>
          </a:p>
          <a:p>
            <a:pPr/>
          </a:p>
          <a:p>
            <a:pPr/>
            <a:r>
              <a:rPr sz="1800"/>
              <a:t>Luồng thông điệp (Message Flow) giữa hai Pool thể hiện sự trao đổi chính thức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Các Bên Tham Gia Và Phân Công Vai Trò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Sales:</a:t>
            </a:r>
          </a:p>
          <a:p>
            <a:pPr lvl="1"/>
            <a:r>
              <a:rPr sz="1800"/>
              <a:t>Tiếp nhận yêu cầu, phân tích sơ bộ, báo giá, hỗ trợ ký hợp đồng</a:t>
            </a:r>
          </a:p>
          <a:p>
            <a:pPr/>
            <a:r>
              <a:rPr sz="1800"/>
              <a:t>Project Manager:</a:t>
            </a:r>
          </a:p>
          <a:p>
            <a:pPr lvl="1"/>
            <a:r>
              <a:rPr sz="1800"/>
              <a:t>Lập kế hoạch, chốt phạm vi công việc, lịch giao hàng, điều phối tổng thể</a:t>
            </a:r>
          </a:p>
          <a:p>
            <a:pPr/>
            <a:r>
              <a:rPr sz="1800"/>
              <a:t>Business Analysis (BA):</a:t>
            </a:r>
          </a:p>
          <a:p>
            <a:pPr lvl="1"/>
            <a:r>
              <a:rPr sz="1800"/>
              <a:t>Lấy yêu cầu chi tiết, viết tài liệu đặc tả, phân tích đặc tả phần mềm</a:t>
            </a:r>
          </a:p>
          <a:p>
            <a:pPr/>
            <a:r>
              <a:rPr sz="1800"/>
              <a:t>Development Team:</a:t>
            </a:r>
          </a:p>
          <a:p>
            <a:pPr lvl="1"/>
            <a:r>
              <a:rPr sz="1800"/>
              <a:t>Viết code, unit test, sửa bug, bàn giao tài liệu kỹ thuật và source code</a:t>
            </a:r>
          </a:p>
          <a:p>
            <a:pPr/>
            <a:r>
              <a:rPr sz="1800"/>
              <a:t>QA Team:</a:t>
            </a:r>
          </a:p>
          <a:p>
            <a:pPr lvl="1"/>
            <a:r>
              <a:rPr sz="1800"/>
              <a:t>Viết test cases, kiểm thử, triển khai lên môi trường UAT và kiểm thử, QA Sign-off</a:t>
            </a:r>
          </a:p>
          <a:p>
            <a:pPr/>
            <a:r>
              <a:rPr sz="1800"/>
              <a:t>Khách hàng:</a:t>
            </a:r>
          </a:p>
          <a:p>
            <a:pPr lvl="1"/>
            <a:r>
              <a:rPr sz="1800"/>
              <a:t>Gửi yêu cầu, kiểm tra báo giá, ký hợp đồng, UAT, nghiệm thu, thanh toán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Quy Trình Chi Tiết – Giai Đoạn Tiền Hợp Đồng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1. Khách hàng gửi yêu cầu phát triển phần mềm</a:t>
            </a:r>
          </a:p>
          <a:p>
            <a:pPr/>
            <a:r>
              <a:rPr sz="1800"/>
              <a:t>2. Sales tiếp nhận yêu cầu → phân tích yêu cầu sơ bộ</a:t>
            </a:r>
          </a:p>
          <a:p>
            <a:pPr/>
            <a:r>
              <a:rPr sz="1800"/>
              <a:t>3. Sales phối hợp với BA đánh giá tính khả thi và estimate</a:t>
            </a:r>
          </a:p>
          <a:p>
            <a:pPr/>
            <a:r>
              <a:rPr sz="1800"/>
              <a:t>4. Sales gửi phân tích sơ bộ và báo giá sơ bộ cho khách hàng</a:t>
            </a:r>
          </a:p>
          <a:p>
            <a:pPr/>
            <a:r>
              <a:rPr sz="1800"/>
              <a:t>5. Khách hàng kiểm tra báo giá:</a:t>
            </a:r>
          </a:p>
          <a:p>
            <a:pPr lvl="1"/>
            <a:r>
              <a:rPr sz="1800"/>
              <a:t>Không đồng ý → kết thúc quy trình</a:t>
            </a:r>
          </a:p>
          <a:p>
            <a:pPr lvl="1"/>
            <a:r>
              <a:rPr sz="1800"/>
              <a:t>Đồng ý → ký hợp đồng</a:t>
            </a:r>
          </a:p>
          <a:p>
            <a:pPr/>
            <a:r>
              <a:rPr sz="1800"/>
              <a:t>6. Hợp đồng được ký → chuyển sang giai đoạn thực thi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Quy Trình Chi Tiết – Giai Đoạn Thực Thi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Sau khi hợp đồng được ký, các hoạt động diễn ra song song:</a:t>
            </a:r>
          </a:p>
          <a:p>
            <a:pPr/>
          </a:p>
          <a:p>
            <a:pPr/>
            <a:r>
              <a:rPr sz="1800"/>
              <a:t>Business Analysis:</a:t>
            </a:r>
          </a:p>
          <a:p>
            <a:pPr lvl="1"/>
            <a:r>
              <a:rPr sz="1800"/>
              <a:t>BA lấy yêu cầu chi tiết từ khách hàng</a:t>
            </a:r>
          </a:p>
          <a:p>
            <a:pPr lvl="1"/>
            <a:r>
              <a:rPr sz="1800"/>
              <a:t>BA viết tài liệu đặc tả → gửi cho khách hàng review</a:t>
            </a:r>
          </a:p>
          <a:p>
            <a:pPr lvl="1"/>
            <a:r>
              <a:rPr sz="1800"/>
              <a:t>Khách hàng duyệt tài liệu (có thể yêu cầu chỉnh sửa)</a:t>
            </a:r>
          </a:p>
          <a:p>
            <a:pPr/>
          </a:p>
          <a:p>
            <a:pPr/>
            <a:r>
              <a:rPr sz="1800"/>
              <a:t>Project Manager:</a:t>
            </a:r>
          </a:p>
          <a:p>
            <a:pPr lvl="1"/>
            <a:r>
              <a:rPr sz="1800"/>
              <a:t>Chốt phạm vi công việc</a:t>
            </a:r>
          </a:p>
          <a:p>
            <a:pPr lvl="1"/>
            <a:r>
              <a:rPr sz="1800"/>
              <a:t>Lập kế hoạch công việc và các mốc giao hàng</a:t>
            </a:r>
          </a:p>
          <a:p>
            <a:pPr/>
          </a:p>
          <a:p>
            <a:pPr/>
            <a:r>
              <a:rPr sz="1800"/>
              <a:t>Development Team:</a:t>
            </a:r>
          </a:p>
          <a:p>
            <a:pPr lvl="1"/>
            <a:r>
              <a:rPr sz="1800"/>
              <a:t>Phân tích đặc tả → Viết code và unit test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Quy Trình Chi Tiết – Kiểm Thử &amp; Bàn Giao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QA Team:</a:t>
            </a:r>
          </a:p>
          <a:p>
            <a:pPr lvl="1"/>
            <a:r>
              <a:rPr sz="1800"/>
              <a:t>Viết test cases</a:t>
            </a:r>
          </a:p>
          <a:p>
            <a:pPr lvl="1"/>
            <a:r>
              <a:rPr sz="1800"/>
              <a:t>Triển khai lên môi trường kiểm thử → Kiểm thử nội bộ</a:t>
            </a:r>
          </a:p>
          <a:p>
            <a:pPr lvl="1"/>
            <a:r>
              <a:rPr sz="1800"/>
              <a:t>Nếu có lỗi → báo bug → Dev sửa bug</a:t>
            </a:r>
          </a:p>
          <a:p>
            <a:pPr lvl="1"/>
            <a:r>
              <a:rPr sz="1800"/>
              <a:t>QA Sign-off → triển khai lên UAT</a:t>
            </a:r>
          </a:p>
          <a:p>
            <a:pPr/>
          </a:p>
          <a:p>
            <a:pPr/>
            <a:r>
              <a:rPr sz="1800"/>
              <a:t>Khách hàng thực hiện UAT:</a:t>
            </a:r>
          </a:p>
          <a:p>
            <a:pPr lvl="1"/>
            <a:r>
              <a:rPr sz="1800"/>
              <a:t>Nếu có lỗi → phân tích: là bug hay tính năng mới (Change Request)?</a:t>
            </a:r>
          </a:p>
          <a:p>
            <a:pPr lvl="1"/>
            <a:r>
              <a:rPr sz="1800"/>
              <a:t>Bug → Dev sửa; Change Request → làm báo giá CR, xử lý theo quy trình riêng</a:t>
            </a:r>
          </a:p>
          <a:p>
            <a:pPr lvl="1"/>
            <a:r>
              <a:rPr sz="1800"/>
              <a:t>Không có lỗi → UAT Sign-off</a:t>
            </a:r>
          </a:p>
          <a:p>
            <a:pPr/>
          </a:p>
          <a:p>
            <a:pPr/>
            <a:r>
              <a:rPr sz="1800"/>
              <a:t>Bàn giao:</a:t>
            </a:r>
          </a:p>
          <a:p>
            <a:pPr lvl="1"/>
            <a:r>
              <a:rPr sz="1800"/>
              <a:t>Triển khai lên production → bàn giao tài liệu, source code → Khách hàng nghiệm thu → Thanh toán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Phương Pháp Thực Hiện – Phân Tích Giá Trị Gia Tăng (GTGT)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Mục tiêu: Phân loại các hoạt động trong quy trình theo giá trị tạo ra</a:t>
            </a:r>
          </a:p>
          <a:p>
            <a:pPr/>
          </a:p>
          <a:p>
            <a:pPr/>
            <a:r>
              <a:rPr sz="1800"/>
              <a:t>Phân loại hoạt động:</a:t>
            </a:r>
          </a:p>
          <a:p>
            <a:pPr lvl="1"/>
            <a:r>
              <a:rPr sz="1800"/>
              <a:t>Giá trị gia tăng thực sự (Real Value-Added – RVA): Hoạt động trực tiếp tạo ra giá trị cho khách hàng</a:t>
            </a:r>
          </a:p>
          <a:p>
            <a:pPr lvl="1"/>
            <a:r>
              <a:rPr sz="1800"/>
              <a:t>Giá trị gia tăng nội bộ (Business Value-Added – BVA): Cần thiết cho hoạt động kinh doanh nhưng khách hàng không trả tiền</a:t>
            </a:r>
          </a:p>
          <a:p>
            <a:pPr lvl="1"/>
            <a:r>
              <a:rPr sz="1800"/>
              <a:t>Không tạo giá trị (Non-Value-Added – NVA): Lãng phí, cần loại bỏ hoặc tối giản</a:t>
            </a:r>
          </a:p>
          <a:p>
            <a:pPr/>
          </a:p>
          <a:p>
            <a:pPr/>
            <a:r>
              <a:rPr sz="1800"/>
              <a:t>Ứng dụng trong quy trình PTPM:</a:t>
            </a:r>
          </a:p>
          <a:p>
            <a:pPr lvl="1"/>
            <a:r>
              <a:rPr sz="1800"/>
              <a:t>RVA: Phân tích yêu cầu, viết code, kiểm thử chức năng, triển khai</a:t>
            </a:r>
          </a:p>
          <a:p>
            <a:pPr lvl="1"/>
            <a:r>
              <a:rPr sz="1800"/>
              <a:t>BVA: Báo giá, lập kế hoạch, viết tài liệu nội bộ, QA Sign-off</a:t>
            </a:r>
          </a:p>
          <a:p>
            <a:pPr lvl="1"/>
            <a:r>
              <a:rPr sz="1800"/>
              <a:t>NVA: Chờ phê duyệt tài liệu kéo dài, re-work do yêu cầu không rõ ràng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Phương Pháp Thực Hiện – Khai Phá Quy Trình (Process Mining)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Process Mining là phương pháp phân tích quy trình dựa trên dữ liệu thực tế từ event log</a:t>
            </a:r>
          </a:p>
          <a:p>
            <a:pPr/>
          </a:p>
          <a:p>
            <a:pPr/>
            <a:r>
              <a:rPr sz="1800"/>
              <a:t>Các kỹ thuật chính:</a:t>
            </a:r>
          </a:p>
          <a:p>
            <a:pPr lvl="1"/>
            <a:r>
              <a:rPr sz="1800"/>
              <a:t>Process Discovery: Tự động xây dựng mô hình quy trình từ event log</a:t>
            </a:r>
          </a:p>
          <a:p>
            <a:pPr lvl="1"/>
            <a:r>
              <a:rPr sz="1800"/>
              <a:t>Conformance Checking: So sánh quy trình thực tế với mô hình chuẩn, phát hiện sai lệch</a:t>
            </a:r>
          </a:p>
          <a:p>
            <a:pPr lvl="1"/>
            <a:r>
              <a:rPr sz="1800"/>
              <a:t>Enhancement: Cải thiện mô hình dựa trên dữ liệu thực tế (thời gian, tần suất)</a:t>
            </a:r>
          </a:p>
          <a:p>
            <a:pPr/>
          </a:p>
          <a:p>
            <a:pPr/>
            <a:r>
              <a:rPr sz="1800"/>
              <a:t>Kết quả từ khai phá quy trình PTPM:</a:t>
            </a:r>
          </a:p>
          <a:p>
            <a:pPr lvl="1"/>
            <a:r>
              <a:rPr sz="1800"/>
              <a:t>Xác định được các điểm nghẽn (bottleneck) trong quy trình</a:t>
            </a:r>
          </a:p>
          <a:p>
            <a:pPr lvl="1"/>
            <a:r>
              <a:rPr sz="1800"/>
              <a:t>Phát hiện các sai lệch so với quy trình chuẩn</a:t>
            </a:r>
          </a:p>
          <a:p>
            <a:pPr lvl="1"/>
            <a:r>
              <a:rPr sz="1800"/>
              <a:t>Đo lường thời gian thực hiện từng hoạt động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Phân Tích Quy Trình – Chỉ Số Hiệu Suất (KPI)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Các chỉ số đo lường hiệu suất quy trình:</a:t>
            </a:r>
          </a:p>
          <a:p>
            <a:pPr/>
          </a:p>
          <a:p>
            <a:pPr lvl="1"/>
            <a:r>
              <a:rPr sz="1800"/>
              <a:t>Thời gian chu kỳ (Cycle Time): Tổng thời gian từ khi nhận yêu cầu đến khi bàn giao</a:t>
            </a:r>
          </a:p>
          <a:p>
            <a:pPr lvl="1"/>
            <a:r>
              <a:rPr sz="1800"/>
              <a:t>Thời gian xử lý (Processing Time): Thời gian thực sự thực hiện công việc</a:t>
            </a:r>
          </a:p>
          <a:p>
            <a:pPr lvl="1"/>
            <a:r>
              <a:rPr sz="1800"/>
              <a:t>Thời gian chờ (Waiting Time): Thời gian không có giá trị (chờ phê duyệt, chờ phản hồi)</a:t>
            </a:r>
          </a:p>
          <a:p>
            <a:pPr lvl="1"/>
            <a:r>
              <a:rPr sz="1800"/>
              <a:t>Tỷ lệ lỗi (Defect Rate): Số lượng bug phát sinh trên mỗi sprint/giai đoạn</a:t>
            </a:r>
          </a:p>
          <a:p>
            <a:pPr lvl="1"/>
            <a:r>
              <a:rPr sz="1800"/>
              <a:t>Tỷ lệ re-work: Số lần phải làm lại do thay đổi yêu cầu hoặc lỗi</a:t>
            </a:r>
          </a:p>
          <a:p>
            <a:pPr lvl="1"/>
            <a:r>
              <a:rPr sz="1800"/>
              <a:t>Tỷ lệ Change Request: Số CR phát sinh so với phạm vi ban đầu</a:t>
            </a:r>
          </a:p>
          <a:p>
            <a:pPr/>
          </a:p>
          <a:p>
            <a:pPr/>
            <a:r>
              <a:rPr sz="1800"/>
              <a:t>Mục tiêu: Giảm Cycle Time, tăng tỷ lệ hoàn thành đúng hạn, giảm tỷ lệ re-work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Phân Tích &amp; Đề Xuất Cải Tiến Quy Trình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Các điểm nghẽn được xác định:</a:t>
            </a:r>
          </a:p>
          <a:p>
            <a:pPr lvl="1"/>
            <a:r>
              <a:rPr sz="1800"/>
              <a:t>Chờ phê duyệt tài liệu đặc tả từ khách hàng → kéo dài tiến độ</a:t>
            </a:r>
          </a:p>
          <a:p>
            <a:pPr lvl="1"/>
            <a:r>
              <a:rPr sz="1800"/>
              <a:t>Yêu cầu không rõ ràng → tái phát sinh bug sau UAT</a:t>
            </a:r>
          </a:p>
          <a:p>
            <a:pPr lvl="1"/>
            <a:r>
              <a:rPr sz="1800"/>
              <a:t>Quy trình Change Request chưa được tự động hóa → xử lý thủ công, chậm</a:t>
            </a:r>
          </a:p>
          <a:p>
            <a:pPr lvl="1"/>
            <a:r>
              <a:rPr sz="1800"/>
              <a:t>Thời gian chờ giữa QA Sign-off và triển khai UAT còn dài</a:t>
            </a:r>
          </a:p>
          <a:p>
            <a:pPr/>
          </a:p>
          <a:p>
            <a:pPr/>
            <a:r>
              <a:rPr sz="1800"/>
              <a:t>Đề xuất cải tiến:</a:t>
            </a:r>
          </a:p>
          <a:p>
            <a:pPr lvl="1"/>
            <a:r>
              <a:rPr sz="1800"/>
              <a:t>Áp dụng checklist review tài liệu trước khi gửi khách hàng để giảm vòng lặp chỉnh sửa</a:t>
            </a:r>
          </a:p>
          <a:p>
            <a:pPr lvl="1"/>
            <a:r>
              <a:rPr sz="1800"/>
              <a:t>Thiết lập SLA (Service Level Agreement) cho từng giai đoạn phê duyệt</a:t>
            </a:r>
          </a:p>
          <a:p>
            <a:pPr lvl="1"/>
            <a:r>
              <a:rPr sz="1800"/>
              <a:t>Tự động hóa quy trình Change Request bằng hệ thống quản lý yêu cầu (JIRA, Azure DevOps)</a:t>
            </a:r>
          </a:p>
          <a:p>
            <a:pPr lvl="1"/>
            <a:r>
              <a:rPr sz="1800"/>
              <a:t>Tổ chức họp kick-off chi tiết để làm rõ yêu cầu ngay từ đầu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Kết Luận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Quy trình phát triển phần mềm được mô hình hóa bằng BPMN 2.0, thể hiện đầy đủ các luồng công việc và tương tác giữa các bên.</a:t>
            </a:r>
          </a:p>
          <a:p>
            <a:pPr/>
          </a:p>
          <a:p>
            <a:pPr/>
            <a:r>
              <a:rPr sz="1800"/>
              <a:t>Kết quả đạt được:</a:t>
            </a:r>
          </a:p>
          <a:p>
            <a:pPr lvl="1"/>
            <a:r>
              <a:rPr sz="1800"/>
              <a:t>Mô hình hóa toàn bộ quy trình với 2 Pool (Công ty phần mềm, Khách hàng) và 5 Lane</a:t>
            </a:r>
          </a:p>
          <a:p>
            <a:pPr lvl="1"/>
            <a:r>
              <a:rPr sz="1800"/>
              <a:t>Xác định và phân loại các hoạt động theo phân tích giá trị gia tăng (GTGT)</a:t>
            </a:r>
          </a:p>
          <a:p>
            <a:pPr lvl="1"/>
            <a:r>
              <a:rPr sz="1800"/>
              <a:t>Áp dụng Process Mining để phân tích sự tuân thủ và phát hiện điểm nghẽn</a:t>
            </a:r>
          </a:p>
          <a:p>
            <a:pPr lvl="1"/>
            <a:r>
              <a:rPr sz="1800"/>
              <a:t>Đề xuất các cải tiến cụ thể, có cơ sở dữ liệu thực tế</a:t>
            </a:r>
          </a:p>
          <a:p>
            <a:pPr/>
          </a:p>
          <a:p>
            <a:pPr/>
            <a:r>
              <a:rPr sz="1800"/>
              <a:t>Hướng phát triển tiếp theo:</a:t>
            </a:r>
          </a:p>
          <a:p>
            <a:pPr lvl="1"/>
            <a:r>
              <a:rPr sz="1800"/>
              <a:t>Tích hợp hệ thống theo dõi thời gian thực cho từng hoạt động trong quy trình</a:t>
            </a:r>
          </a:p>
          <a:p>
            <a:pPr lvl="1"/>
            <a:r>
              <a:rPr sz="1800"/>
              <a:t>Xây dựng dashboard KPI tự động cập nhật từ dữ liệu dự án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