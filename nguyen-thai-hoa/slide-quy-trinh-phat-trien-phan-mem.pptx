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70" r:id="rId2"/>
    <p:sldId id="272" r:id="rId3"/>
    <p:sldId id="286" r:id="rId4"/>
    <p:sldId id="285" r:id="rId5"/>
    <p:sldId id="274" r:id="rId6"/>
    <p:sldId id="287" r:id="rId7"/>
    <p:sldId id="288" r:id="rId8"/>
    <p:sldId id="289" r:id="rId9"/>
    <p:sldId id="290" r:id="rId10"/>
    <p:sldId id="291" r:id="rId11"/>
    <p:sldId id="271" r:id="rId1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p:scale>
          <a:sx n="118" d="100"/>
          <a:sy n="118" d="100"/>
        </p:scale>
        <p:origin x="1896" y="73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E6C1F36-5477-4EC1-9E64-0AFAAEF04442}" type="datetimeFigureOut">
              <a:rPr lang="en-US" smtClean="0"/>
              <a:t>05-Sep-26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56A2CA9-912F-4334-B3EA-86EE98B18678}" type="slidenum">
              <a:rPr lang="en-US" smtClean="0"/>
              <a:t>‹#›</a:t>
            </a:fld>
            <a:endParaRPr lang="en-US"/>
          </a:p>
        </p:txBody>
      </p:sp>
    </p:spTree>
    <p:extLst>
      <p:ext uri="{BB962C8B-B14F-4D97-AF65-F5344CB8AC3E}">
        <p14:creationId xmlns:p14="http://schemas.microsoft.com/office/powerpoint/2010/main" val="22099058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56A2CA9-912F-4334-B3EA-86EE98B18678}" type="slidenum">
              <a:rPr lang="en-US" smtClean="0"/>
              <a:t>1</a:t>
            </a:fld>
            <a:endParaRPr lang="en-US"/>
          </a:p>
        </p:txBody>
      </p:sp>
    </p:spTree>
    <p:extLst>
      <p:ext uri="{BB962C8B-B14F-4D97-AF65-F5344CB8AC3E}">
        <p14:creationId xmlns:p14="http://schemas.microsoft.com/office/powerpoint/2010/main" val="249483276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56A2CA9-912F-4334-B3EA-86EE98B18678}" type="slidenum">
              <a:rPr lang="en-US" smtClean="0"/>
              <a:t>2</a:t>
            </a:fld>
            <a:endParaRPr lang="en-US"/>
          </a:p>
        </p:txBody>
      </p:sp>
    </p:spTree>
    <p:extLst>
      <p:ext uri="{BB962C8B-B14F-4D97-AF65-F5344CB8AC3E}">
        <p14:creationId xmlns:p14="http://schemas.microsoft.com/office/powerpoint/2010/main" val="157741489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EA41D2-C856-BF78-2DCD-3F27966287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FB777F-6683-EFDC-E578-FA15C425B2B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A6C7933-7E0B-65AF-2CD0-40AD67EA709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4AA5B9B-2A10-94BD-05D1-4D1A1C51F0ED}"/>
              </a:ext>
            </a:extLst>
          </p:cNvPr>
          <p:cNvSpPr>
            <a:spLocks noGrp="1"/>
          </p:cNvSpPr>
          <p:nvPr>
            <p:ph type="sldNum" sz="quarter" idx="5"/>
          </p:nvPr>
        </p:nvSpPr>
        <p:spPr/>
        <p:txBody>
          <a:bodyPr/>
          <a:lstStyle/>
          <a:p>
            <a:fld id="{956A2CA9-912F-4334-B3EA-86EE98B18678}" type="slidenum">
              <a:rPr lang="en-US" smtClean="0"/>
              <a:t>3</a:t>
            </a:fld>
            <a:endParaRPr lang="en-US"/>
          </a:p>
        </p:txBody>
      </p:sp>
    </p:spTree>
    <p:extLst>
      <p:ext uri="{BB962C8B-B14F-4D97-AF65-F5344CB8AC3E}">
        <p14:creationId xmlns:p14="http://schemas.microsoft.com/office/powerpoint/2010/main" val="365093911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05-Sep-26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05-Sep-26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05-Sep-26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05-Sep-26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05-Sep-26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05-Sep-26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05-Sep-26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05-Sep-26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05-Sep-26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05-Sep-26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05-Sep-26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05-Sep-26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7899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731520" y="1051560"/>
            <a:ext cx="7772400" cy="36576"/>
          </a:xfrm>
          <a:prstGeom prst="rect">
            <a:avLst/>
          </a:prstGeom>
          <a:solidFill>
            <a:srgbClr val="005B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8503920" y="1051560"/>
            <a:ext cx="2926080" cy="36576"/>
          </a:xfrm>
          <a:prstGeom prst="rect">
            <a:avLst/>
          </a:prstGeom>
          <a:solidFill>
            <a:srgbClr val="F370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731520" y="146304"/>
            <a:ext cx="3840480" cy="256032"/>
          </a:xfrm>
          <a:prstGeom prst="roundRect">
            <a:avLst/>
          </a:prstGeom>
          <a:solidFill>
            <a:srgbClr val="FFF7ED"/>
          </a:solidFill>
          <a:ln w="9525">
            <a:solidFill>
              <a:srgbClr val="F37021"/>
            </a:solidFill>
          </a:ln>
        </p:spPr>
        <p:style>
          <a:lnRef idx="1">
            <a:schemeClr val="accent1"/>
          </a:lnRef>
          <a:fillRef idx="3">
            <a:schemeClr val="accent1"/>
          </a:fillRef>
          <a:effectRef idx="2">
            <a:schemeClr val="accent1"/>
          </a:effectRef>
          <a:fontRef idx="minor">
            <a:schemeClr val="lt1"/>
          </a:fontRef>
        </p:style>
        <p:txBody>
          <a:bodyPr wrap="square" lIns="109728" tIns="18288" rtlCol="0" anchor="ctr"/>
          <a:lstStyle/>
          <a:p>
            <a:pPr algn="ctr">
              <a:defRPr sz="950" b="1">
                <a:solidFill>
                  <a:srgbClr val="F37021"/>
                </a:solidFill>
                <a:latin typeface="Segoe UI"/>
              </a:defRPr>
            </a:pPr>
            <a:r>
              <a:t>PHẦN 4: QUY TRÌNH CỐT LÕI</a:t>
            </a:r>
          </a:p>
        </p:txBody>
      </p:sp>
      <p:sp>
        <p:nvSpPr>
          <p:cNvPr id="6" name="TextBox 5"/>
          <p:cNvSpPr txBox="1"/>
          <p:nvPr/>
        </p:nvSpPr>
        <p:spPr>
          <a:xfrm>
            <a:off x="731520" y="438912"/>
            <a:ext cx="8686800" cy="338554"/>
          </a:xfrm>
          <a:prstGeom prst="rect">
            <a:avLst/>
          </a:prstGeom>
          <a:noFill/>
        </p:spPr>
        <p:txBody>
          <a:bodyPr wrap="square" lIns="0" tIns="0">
            <a:spAutoFit/>
          </a:bodyPr>
          <a:lstStyle/>
          <a:p>
            <a:pPr>
              <a:defRPr sz="1900" b="1">
                <a:solidFill>
                  <a:srgbClr val="0A2540"/>
                </a:solidFill>
                <a:latin typeface="Segoe UI"/>
              </a:defRPr>
            </a:pPr>
            <a:r>
              <a:rPr lang="en-US" dirty="0"/>
              <a:t>Quy </a:t>
            </a:r>
            <a:r>
              <a:rPr lang="en-US" dirty="0" err="1"/>
              <a:t>Trình</a:t>
            </a:r>
            <a:r>
              <a:rPr lang="en-US" dirty="0"/>
              <a:t> </a:t>
            </a:r>
            <a:r>
              <a:rPr lang="en-US" dirty="0" err="1"/>
              <a:t>Cốt</a:t>
            </a:r>
            <a:r>
              <a:rPr lang="en-US" dirty="0"/>
              <a:t> </a:t>
            </a:r>
            <a:r>
              <a:rPr lang="en-US" dirty="0" err="1"/>
              <a:t>Lõi</a:t>
            </a:r>
            <a:r>
              <a:rPr lang="en-US" dirty="0"/>
              <a:t>: </a:t>
            </a:r>
            <a:r>
              <a:rPr lang="en-US" dirty="0" err="1"/>
              <a:t>Phân</a:t>
            </a:r>
            <a:r>
              <a:rPr lang="en-US" dirty="0"/>
              <a:t> </a:t>
            </a:r>
            <a:r>
              <a:rPr lang="en-US" dirty="0" err="1"/>
              <a:t>Tích</a:t>
            </a:r>
            <a:r>
              <a:rPr lang="en-US" dirty="0"/>
              <a:t> </a:t>
            </a:r>
            <a:r>
              <a:rPr lang="en-US" dirty="0" err="1"/>
              <a:t>Và</a:t>
            </a:r>
            <a:r>
              <a:rPr lang="en-US" dirty="0"/>
              <a:t> </a:t>
            </a:r>
            <a:r>
              <a:rPr lang="en-US" dirty="0" err="1"/>
              <a:t>Phát</a:t>
            </a:r>
            <a:r>
              <a:rPr lang="en-US" dirty="0"/>
              <a:t> </a:t>
            </a:r>
            <a:r>
              <a:rPr lang="en-US" dirty="0" err="1"/>
              <a:t>Triển</a:t>
            </a:r>
            <a:r>
              <a:rPr lang="en-US" dirty="0"/>
              <a:t> </a:t>
            </a:r>
            <a:r>
              <a:rPr lang="en-US" dirty="0" err="1"/>
              <a:t>Phần</a:t>
            </a:r>
            <a:r>
              <a:rPr lang="en-US" dirty="0"/>
              <a:t> </a:t>
            </a:r>
            <a:r>
              <a:rPr lang="en-US" dirty="0" err="1"/>
              <a:t>Mềm</a:t>
            </a:r>
            <a:endParaRPr lang="en-US" dirty="0"/>
          </a:p>
        </p:txBody>
      </p:sp>
      <p:pic>
        <p:nvPicPr>
          <p:cNvPr id="7" name="Picture 6" descr="fpt_software_logo.png"/>
          <p:cNvPicPr>
            <a:picLocks noChangeAspect="1"/>
          </p:cNvPicPr>
          <p:nvPr/>
        </p:nvPicPr>
        <p:blipFill>
          <a:blip r:embed="rId3"/>
          <a:stretch>
            <a:fillRect/>
          </a:stretch>
        </p:blipFill>
        <p:spPr>
          <a:xfrm>
            <a:off x="9784080" y="201168"/>
            <a:ext cx="1691640" cy="422910"/>
          </a:xfrm>
          <a:prstGeom prst="rect">
            <a:avLst/>
          </a:prstGeom>
        </p:spPr>
      </p:pic>
      <p:sp>
        <p:nvSpPr>
          <p:cNvPr id="8" name="Rectangle 7"/>
          <p:cNvSpPr/>
          <p:nvPr/>
        </p:nvSpPr>
        <p:spPr>
          <a:xfrm>
            <a:off x="731520" y="6419088"/>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31520" y="6473952"/>
            <a:ext cx="7772400" cy="274320"/>
          </a:xfrm>
          <a:prstGeom prst="rect">
            <a:avLst/>
          </a:prstGeom>
          <a:noFill/>
        </p:spPr>
        <p:txBody>
          <a:bodyPr wrap="none">
            <a:spAutoFit/>
          </a:bodyPr>
          <a:lstStyle/>
          <a:p>
            <a:pPr>
              <a:defRPr sz="850">
                <a:solidFill>
                  <a:srgbClr val="64748B"/>
                </a:solidFill>
                <a:latin typeface="Segoe UI"/>
              </a:defRPr>
            </a:pPr>
            <a:r>
              <a:t>FPT Software | Hệ thống Quản trị Quy trình Nghiệp vụ (BPM) - Đồ án Môn học - Nhóm 8</a:t>
            </a:r>
          </a:p>
        </p:txBody>
      </p:sp>
      <p:sp>
        <p:nvSpPr>
          <p:cNvPr id="10" name="TextBox 9"/>
          <p:cNvSpPr txBox="1"/>
          <p:nvPr/>
        </p:nvSpPr>
        <p:spPr>
          <a:xfrm>
            <a:off x="10058400" y="6473952"/>
            <a:ext cx="1371600" cy="274320"/>
          </a:xfrm>
          <a:prstGeom prst="rect">
            <a:avLst/>
          </a:prstGeom>
          <a:noFill/>
        </p:spPr>
        <p:txBody>
          <a:bodyPr wrap="none">
            <a:spAutoFit/>
          </a:bodyPr>
          <a:lstStyle/>
          <a:p>
            <a:pPr algn="r">
              <a:defRPr sz="850" b="1">
                <a:solidFill>
                  <a:srgbClr val="005BAA"/>
                </a:solidFill>
                <a:latin typeface="Segoe UI"/>
              </a:defRPr>
            </a:pPr>
            <a:r>
              <a:t>15 / 27</a:t>
            </a:r>
          </a:p>
        </p:txBody>
      </p:sp>
      <p:pic>
        <p:nvPicPr>
          <p:cNvPr id="11" name="Picture 10" descr="slide_15_img_0.png"/>
          <p:cNvPicPr>
            <a:picLocks noChangeAspect="1"/>
          </p:cNvPicPr>
          <p:nvPr/>
        </p:nvPicPr>
        <p:blipFill>
          <a:blip r:embed="rId4"/>
          <a:stretch>
            <a:fillRect/>
          </a:stretch>
        </p:blipFill>
        <p:spPr>
          <a:xfrm>
            <a:off x="731520" y="1417320"/>
            <a:ext cx="10728655" cy="1102598"/>
          </a:xfrm>
          <a:prstGeom prst="rect">
            <a:avLst/>
          </a:prstGeom>
        </p:spPr>
      </p:pic>
      <p:sp>
        <p:nvSpPr>
          <p:cNvPr id="12" name="Rounded Rectangle 11"/>
          <p:cNvSpPr/>
          <p:nvPr/>
        </p:nvSpPr>
        <p:spPr>
          <a:xfrm>
            <a:off x="601981" y="3028040"/>
            <a:ext cx="3429000" cy="31089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wrap="square" lIns="182880" tIns="164592" rIns="182880" bIns="164592" rtlCol="0" anchor="ctr"/>
          <a:lstStyle/>
          <a:p>
            <a:pPr algn="ctr">
              <a:spcAft>
                <a:spcPts val="600"/>
              </a:spcAft>
              <a:defRPr sz="1300" b="1">
                <a:solidFill>
                  <a:srgbClr val="005BAA"/>
                </a:solidFill>
                <a:latin typeface="Segoe UI"/>
              </a:defRPr>
            </a:pPr>
            <a:r>
              <a:rPr lang="vi-VN" sz="1300" b="1" dirty="0">
                <a:solidFill>
                  <a:srgbClr val="005BAA"/>
                </a:solidFill>
                <a:latin typeface="Segoe UI"/>
              </a:rPr>
              <a:t>5 GIAI ĐOẠN</a:t>
            </a:r>
          </a:p>
          <a:p>
            <a:pPr>
              <a:spcAft>
                <a:spcPts val="600"/>
              </a:spcAft>
              <a:defRPr sz="1300" b="1">
                <a:solidFill>
                  <a:srgbClr val="005BAA"/>
                </a:solidFill>
                <a:latin typeface="Segoe UI"/>
              </a:defRPr>
            </a:pPr>
            <a:r>
              <a:rPr lang="vi-VN" sz="1050" dirty="0">
                <a:solidFill>
                  <a:srgbClr val="1E293B"/>
                </a:solidFill>
                <a:latin typeface="Segoe UI"/>
              </a:rPr>
              <a:t>Quy trình phát triển phần mềm theo mô hình outsource gồm 5 giai đoạn chính: </a:t>
            </a:r>
          </a:p>
          <a:p>
            <a:pPr marL="171450" indent="-171450">
              <a:spcAft>
                <a:spcPts val="600"/>
              </a:spcAft>
              <a:buFont typeface="Arial" panose="020B0604020202020204" pitchFamily="34" charset="0"/>
              <a:buChar char="•"/>
              <a:defRPr sz="1300" b="1">
                <a:solidFill>
                  <a:srgbClr val="005BAA"/>
                </a:solidFill>
                <a:latin typeface="Segoe UI"/>
              </a:defRPr>
            </a:pPr>
            <a:r>
              <a:rPr lang="vi-VN" sz="1050" dirty="0">
                <a:solidFill>
                  <a:srgbClr val="1E293B"/>
                </a:solidFill>
                <a:latin typeface="Segoe UI"/>
              </a:rPr>
              <a:t>Khởi tạo &amp; báo giá</a:t>
            </a:r>
          </a:p>
          <a:p>
            <a:pPr marL="171450" indent="-171450">
              <a:spcAft>
                <a:spcPts val="600"/>
              </a:spcAft>
              <a:buFont typeface="Arial" panose="020B0604020202020204" pitchFamily="34" charset="0"/>
              <a:buChar char="•"/>
              <a:defRPr sz="1300" b="1">
                <a:solidFill>
                  <a:srgbClr val="005BAA"/>
                </a:solidFill>
                <a:latin typeface="Segoe UI"/>
              </a:defRPr>
            </a:pPr>
            <a:r>
              <a:rPr lang="vi-VN" sz="1050" dirty="0">
                <a:solidFill>
                  <a:srgbClr val="1E293B"/>
                </a:solidFill>
                <a:latin typeface="Segoe UI"/>
              </a:rPr>
              <a:t>Chốt yêu cầu chi tiết</a:t>
            </a:r>
          </a:p>
          <a:p>
            <a:pPr marL="171450" indent="-171450">
              <a:spcAft>
                <a:spcPts val="600"/>
              </a:spcAft>
              <a:buFont typeface="Arial" panose="020B0604020202020204" pitchFamily="34" charset="0"/>
              <a:buChar char="•"/>
              <a:defRPr sz="1300" b="1">
                <a:solidFill>
                  <a:srgbClr val="005BAA"/>
                </a:solidFill>
                <a:latin typeface="Segoe UI"/>
              </a:defRPr>
            </a:pPr>
            <a:r>
              <a:rPr lang="vi-VN" sz="1050" dirty="0">
                <a:solidFill>
                  <a:srgbClr val="1E293B"/>
                </a:solidFill>
                <a:latin typeface="Segoe UI"/>
              </a:rPr>
              <a:t>Phát triển &amp; kiểm thử nội bộ</a:t>
            </a:r>
          </a:p>
          <a:p>
            <a:pPr marL="171450" indent="-171450">
              <a:spcAft>
                <a:spcPts val="600"/>
              </a:spcAft>
              <a:buFont typeface="Arial" panose="020B0604020202020204" pitchFamily="34" charset="0"/>
              <a:buChar char="•"/>
              <a:defRPr sz="1300" b="1">
                <a:solidFill>
                  <a:srgbClr val="005BAA"/>
                </a:solidFill>
                <a:latin typeface="Segoe UI"/>
              </a:defRPr>
            </a:pPr>
            <a:r>
              <a:rPr lang="vi-VN" sz="1050" dirty="0">
                <a:solidFill>
                  <a:srgbClr val="1E293B"/>
                </a:solidFill>
                <a:latin typeface="Segoe UI"/>
              </a:rPr>
              <a:t>Nghiệm thu người dùng (UAT)</a:t>
            </a:r>
          </a:p>
          <a:p>
            <a:pPr marL="171450" indent="-171450">
              <a:spcAft>
                <a:spcPts val="600"/>
              </a:spcAft>
              <a:buFont typeface="Arial" panose="020B0604020202020204" pitchFamily="34" charset="0"/>
              <a:buChar char="•"/>
              <a:defRPr sz="1300" b="1">
                <a:solidFill>
                  <a:srgbClr val="005BAA"/>
                </a:solidFill>
                <a:latin typeface="Segoe UI"/>
              </a:defRPr>
            </a:pPr>
            <a:r>
              <a:rPr lang="vi-VN" sz="1050" dirty="0">
                <a:solidFill>
                  <a:srgbClr val="1E293B"/>
                </a:solidFill>
                <a:latin typeface="Segoe UI"/>
              </a:rPr>
              <a:t>Bàn giao &amp; đóng dự án.</a:t>
            </a:r>
            <a:endParaRPr sz="1050" dirty="0">
              <a:solidFill>
                <a:srgbClr val="1E293B"/>
              </a:solidFill>
              <a:latin typeface="Segoe UI"/>
            </a:endParaRPr>
          </a:p>
        </p:txBody>
      </p:sp>
      <p:sp>
        <p:nvSpPr>
          <p:cNvPr id="13" name="Rounded Rectangle 12"/>
          <p:cNvSpPr/>
          <p:nvPr/>
        </p:nvSpPr>
        <p:spPr>
          <a:xfrm>
            <a:off x="4389120" y="3108960"/>
            <a:ext cx="3429000" cy="31089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wrap="square" lIns="182880" tIns="164592" rIns="182880" bIns="164592" rtlCol="0" anchor="ctr"/>
          <a:lstStyle/>
          <a:p>
            <a:pPr algn="ctr">
              <a:spcAft>
                <a:spcPts val="600"/>
              </a:spcAft>
              <a:defRPr sz="1300" b="1">
                <a:solidFill>
                  <a:srgbClr val="F37021"/>
                </a:solidFill>
                <a:latin typeface="Segoe UI"/>
              </a:defRPr>
            </a:pPr>
            <a:r>
              <a:rPr lang="vi-VN" dirty="0"/>
              <a:t>MỤC TIÊU</a:t>
            </a:r>
          </a:p>
          <a:p>
            <a:pPr>
              <a:spcAft>
                <a:spcPts val="600"/>
              </a:spcAft>
              <a:defRPr sz="1300" b="1">
                <a:solidFill>
                  <a:srgbClr val="F37021"/>
                </a:solidFill>
                <a:latin typeface="Segoe UI"/>
              </a:defRPr>
            </a:pPr>
            <a:r>
              <a:rPr lang="vi-VN" sz="1050" dirty="0">
                <a:solidFill>
                  <a:srgbClr val="1E293B"/>
                </a:solidFill>
                <a:latin typeface="Segoe UI"/>
              </a:rPr>
              <a:t>Mục tiêu của quy trình là đảm bảo:  </a:t>
            </a:r>
          </a:p>
          <a:p>
            <a:pPr marL="171450" indent="-171450">
              <a:spcAft>
                <a:spcPts val="600"/>
              </a:spcAft>
              <a:buFont typeface="Arial" panose="020B0604020202020204" pitchFamily="34" charset="0"/>
              <a:buChar char="•"/>
              <a:defRPr sz="1300" b="1">
                <a:solidFill>
                  <a:srgbClr val="F37021"/>
                </a:solidFill>
                <a:latin typeface="Segoe UI"/>
              </a:defRPr>
            </a:pPr>
            <a:r>
              <a:rPr lang="vi-VN" sz="1050" dirty="0">
                <a:solidFill>
                  <a:srgbClr val="1E293B"/>
                </a:solidFill>
                <a:latin typeface="Segoe UI"/>
              </a:rPr>
              <a:t>Phạm vi công việc rõ ràng,</a:t>
            </a:r>
          </a:p>
          <a:p>
            <a:pPr marL="171450" indent="-171450">
              <a:spcAft>
                <a:spcPts val="600"/>
              </a:spcAft>
              <a:buFont typeface="Arial" panose="020B0604020202020204" pitchFamily="34" charset="0"/>
              <a:buChar char="•"/>
              <a:defRPr sz="1300" b="1">
                <a:solidFill>
                  <a:srgbClr val="F37021"/>
                </a:solidFill>
                <a:latin typeface="Segoe UI"/>
              </a:defRPr>
            </a:pPr>
            <a:r>
              <a:rPr lang="vi-VN" sz="1050" dirty="0">
                <a:solidFill>
                  <a:srgbClr val="1E293B"/>
                </a:solidFill>
                <a:latin typeface="Segoe UI"/>
              </a:rPr>
              <a:t>Tiến độ được kiểm soát.</a:t>
            </a:r>
          </a:p>
          <a:p>
            <a:pPr marL="171450" indent="-171450">
              <a:spcAft>
                <a:spcPts val="600"/>
              </a:spcAft>
              <a:buFont typeface="Arial" panose="020B0604020202020204" pitchFamily="34" charset="0"/>
              <a:buChar char="•"/>
              <a:defRPr sz="1300" b="1">
                <a:solidFill>
                  <a:srgbClr val="F37021"/>
                </a:solidFill>
                <a:latin typeface="Segoe UI"/>
              </a:defRPr>
            </a:pPr>
            <a:r>
              <a:rPr lang="vi-VN" sz="1050" dirty="0">
                <a:solidFill>
                  <a:srgbClr val="1E293B"/>
                </a:solidFill>
                <a:latin typeface="Segoe UI"/>
              </a:rPr>
              <a:t>Chất lượng phần mềm đạt yêu cầu,</a:t>
            </a:r>
          </a:p>
          <a:p>
            <a:pPr marL="171450" indent="-171450">
              <a:spcAft>
                <a:spcPts val="600"/>
              </a:spcAft>
              <a:buFont typeface="Arial" panose="020B0604020202020204" pitchFamily="34" charset="0"/>
              <a:buChar char="•"/>
              <a:defRPr sz="1300" b="1">
                <a:solidFill>
                  <a:srgbClr val="F37021"/>
                </a:solidFill>
                <a:latin typeface="Segoe UI"/>
              </a:defRPr>
            </a:pPr>
            <a:r>
              <a:rPr lang="vi-VN" sz="1050" dirty="0">
                <a:solidFill>
                  <a:srgbClr val="1E293B"/>
                </a:solidFill>
                <a:latin typeface="Segoe UI"/>
              </a:rPr>
              <a:t>Sự đồng thuận giữa khách hàng và công ty.</a:t>
            </a:r>
            <a:endParaRPr sz="1050" dirty="0">
              <a:solidFill>
                <a:srgbClr val="1E293B"/>
              </a:solidFill>
              <a:latin typeface="Segoe UI"/>
            </a:endParaRPr>
          </a:p>
        </p:txBody>
      </p:sp>
      <p:sp>
        <p:nvSpPr>
          <p:cNvPr id="14" name="Rounded Rectangle 13"/>
          <p:cNvSpPr/>
          <p:nvPr/>
        </p:nvSpPr>
        <p:spPr>
          <a:xfrm>
            <a:off x="8046720" y="3108960"/>
            <a:ext cx="3413455" cy="31089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wrap="square" lIns="182880" tIns="164592" rIns="182880" bIns="164592" rtlCol="0" anchor="ctr"/>
          <a:lstStyle/>
          <a:p>
            <a:pPr algn="ctr">
              <a:spcAft>
                <a:spcPts val="600"/>
              </a:spcAft>
              <a:defRPr sz="1300" b="1">
                <a:solidFill>
                  <a:srgbClr val="0DB14B"/>
                </a:solidFill>
                <a:latin typeface="Segoe UI"/>
              </a:defRPr>
            </a:pPr>
            <a:r>
              <a:rPr lang="vi-VN" dirty="0"/>
              <a:t>CÁC ĐIỂM QUYẾT ĐỊNH</a:t>
            </a:r>
          </a:p>
          <a:p>
            <a:pPr>
              <a:spcAft>
                <a:spcPts val="300"/>
              </a:spcAft>
              <a:defRPr sz="1050">
                <a:solidFill>
                  <a:srgbClr val="1E293B"/>
                </a:solidFill>
                <a:latin typeface="Segoe UI"/>
              </a:defRPr>
            </a:pPr>
            <a:r>
              <a:rPr lang="vi-VN" b="1" dirty="0"/>
              <a:t>Quy trình thực hiện theo logic liên tục và có điểm quyết định rõ ràng:</a:t>
            </a:r>
          </a:p>
          <a:p>
            <a:pPr marL="171450" indent="-171450">
              <a:spcAft>
                <a:spcPts val="300"/>
              </a:spcAft>
              <a:buFont typeface="Arial" panose="020B0604020202020204" pitchFamily="34" charset="0"/>
              <a:buChar char="•"/>
              <a:defRPr sz="1050">
                <a:solidFill>
                  <a:srgbClr val="1E293B"/>
                </a:solidFill>
                <a:latin typeface="Segoe UI"/>
              </a:defRPr>
            </a:pPr>
            <a:r>
              <a:rPr lang="vi-VN" b="1" dirty="0"/>
              <a:t>Khánh hàng đồng ý báo giá hay không,</a:t>
            </a:r>
          </a:p>
          <a:p>
            <a:pPr marL="171450" indent="-171450">
              <a:spcAft>
                <a:spcPts val="300"/>
              </a:spcAft>
              <a:buFont typeface="Arial" panose="020B0604020202020204" pitchFamily="34" charset="0"/>
              <a:buChar char="•"/>
              <a:defRPr sz="1050">
                <a:solidFill>
                  <a:srgbClr val="1E293B"/>
                </a:solidFill>
                <a:latin typeface="Segoe UI"/>
              </a:defRPr>
            </a:pPr>
            <a:r>
              <a:rPr lang="vi-VN" b="1" dirty="0"/>
              <a:t>Tài liệu được duyệt hay cần chỉnh sửa,</a:t>
            </a:r>
          </a:p>
          <a:p>
            <a:pPr marL="171450" indent="-171450">
              <a:spcAft>
                <a:spcPts val="300"/>
              </a:spcAft>
              <a:buFont typeface="Arial" panose="020B0604020202020204" pitchFamily="34" charset="0"/>
              <a:buChar char="•"/>
              <a:defRPr sz="1050">
                <a:solidFill>
                  <a:srgbClr val="1E293B"/>
                </a:solidFill>
                <a:latin typeface="Segoe UI"/>
              </a:defRPr>
            </a:pPr>
            <a:r>
              <a:rPr lang="vi-VN" b="1" dirty="0"/>
              <a:t>Phần mềm có lỗi hay không,</a:t>
            </a:r>
          </a:p>
          <a:p>
            <a:pPr marL="171450" indent="-171450">
              <a:spcAft>
                <a:spcPts val="300"/>
              </a:spcAft>
              <a:buFont typeface="Arial" panose="020B0604020202020204" pitchFamily="34" charset="0"/>
              <a:buChar char="•"/>
              <a:defRPr sz="1050">
                <a:solidFill>
                  <a:srgbClr val="1E293B"/>
                </a:solidFill>
                <a:latin typeface="Segoe UI"/>
              </a:defRPr>
            </a:pPr>
            <a:r>
              <a:rPr lang="vi-VN" b="1" dirty="0"/>
              <a:t>UAT đạt yêu cầu hay cần xử lý Change Request,</a:t>
            </a:r>
          </a:p>
          <a:p>
            <a:pPr marL="171450" indent="-171450">
              <a:spcAft>
                <a:spcPts val="300"/>
              </a:spcAft>
              <a:buFont typeface="Arial" panose="020B0604020202020204" pitchFamily="34" charset="0"/>
              <a:buChar char="•"/>
              <a:defRPr sz="1050">
                <a:solidFill>
                  <a:srgbClr val="1E293B"/>
                </a:solidFill>
                <a:latin typeface="Segoe UI"/>
              </a:defRPr>
            </a:pPr>
            <a:r>
              <a:rPr lang="vi-VN" b="1" dirty="0"/>
              <a:t>Khách hàng thanh toán và đóng dự án hay không.</a:t>
            </a:r>
          </a:p>
          <a:p>
            <a:pPr>
              <a:spcAft>
                <a:spcPts val="300"/>
              </a:spcAft>
              <a:defRPr sz="1050">
                <a:solidFill>
                  <a:srgbClr val="1E293B"/>
                </a:solidFill>
                <a:latin typeface="Segoe UI"/>
              </a:defRPr>
            </a:pPr>
            <a:r>
              <a:rPr lang="vi-VN" dirty="0"/>
              <a:t> </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7899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731520" y="1051560"/>
            <a:ext cx="7772400" cy="36576"/>
          </a:xfrm>
          <a:prstGeom prst="rect">
            <a:avLst/>
          </a:prstGeom>
          <a:solidFill>
            <a:srgbClr val="005B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8503920" y="1051560"/>
            <a:ext cx="2926080" cy="36576"/>
          </a:xfrm>
          <a:prstGeom prst="rect">
            <a:avLst/>
          </a:prstGeom>
          <a:solidFill>
            <a:srgbClr val="F370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731520" y="146304"/>
            <a:ext cx="3840480" cy="256032"/>
          </a:xfrm>
          <a:prstGeom prst="roundRect">
            <a:avLst/>
          </a:prstGeom>
          <a:solidFill>
            <a:srgbClr val="FFF7ED"/>
          </a:solidFill>
          <a:ln w="9525">
            <a:solidFill>
              <a:srgbClr val="F37021"/>
            </a:solidFill>
          </a:ln>
        </p:spPr>
        <p:style>
          <a:lnRef idx="1">
            <a:schemeClr val="accent1"/>
          </a:lnRef>
          <a:fillRef idx="3">
            <a:schemeClr val="accent1"/>
          </a:fillRef>
          <a:effectRef idx="2">
            <a:schemeClr val="accent1"/>
          </a:effectRef>
          <a:fontRef idx="minor">
            <a:schemeClr val="lt1"/>
          </a:fontRef>
        </p:style>
        <p:txBody>
          <a:bodyPr wrap="square" lIns="109728" tIns="18288" rtlCol="0" anchor="ctr"/>
          <a:lstStyle/>
          <a:p>
            <a:pPr algn="ctr">
              <a:defRPr sz="950" b="1">
                <a:solidFill>
                  <a:srgbClr val="F37021"/>
                </a:solidFill>
                <a:latin typeface="Segoe UI"/>
              </a:defRPr>
            </a:pPr>
            <a:r>
              <a:t>PHẦN 4: QUY TRÌNH CỐT LÕI</a:t>
            </a:r>
          </a:p>
        </p:txBody>
      </p:sp>
      <p:sp>
        <p:nvSpPr>
          <p:cNvPr id="6" name="TextBox 5"/>
          <p:cNvSpPr txBox="1"/>
          <p:nvPr/>
        </p:nvSpPr>
        <p:spPr>
          <a:xfrm>
            <a:off x="731520" y="438912"/>
            <a:ext cx="8686800" cy="338554"/>
          </a:xfrm>
          <a:prstGeom prst="rect">
            <a:avLst/>
          </a:prstGeom>
          <a:noFill/>
        </p:spPr>
        <p:txBody>
          <a:bodyPr wrap="square" lIns="0" tIns="0">
            <a:spAutoFit/>
          </a:bodyPr>
          <a:lstStyle/>
          <a:p>
            <a:pPr>
              <a:defRPr sz="1900" b="1">
                <a:solidFill>
                  <a:srgbClr val="0A2540"/>
                </a:solidFill>
                <a:latin typeface="Segoe UI"/>
              </a:defRPr>
            </a:pPr>
            <a:r>
              <a:rPr lang="en-US" dirty="0"/>
              <a:t>Các </a:t>
            </a:r>
            <a:r>
              <a:rPr lang="en-US" dirty="0" err="1"/>
              <a:t>Tác</a:t>
            </a:r>
            <a:r>
              <a:rPr lang="en-US" dirty="0"/>
              <a:t> </a:t>
            </a:r>
            <a:r>
              <a:rPr lang="en-US" dirty="0" err="1"/>
              <a:t>Nhân</a:t>
            </a:r>
            <a:r>
              <a:rPr lang="en-US" dirty="0"/>
              <a:t> Tham Gia &amp; </a:t>
            </a:r>
            <a:r>
              <a:rPr lang="vi-VN" dirty="0"/>
              <a:t>Các</a:t>
            </a:r>
            <a:r>
              <a:rPr lang="en-US" dirty="0"/>
              <a:t> </a:t>
            </a:r>
            <a:r>
              <a:rPr lang="en-US" dirty="0" err="1"/>
              <a:t>Kịch</a:t>
            </a:r>
            <a:r>
              <a:rPr lang="en-US" dirty="0"/>
              <a:t> </a:t>
            </a:r>
            <a:r>
              <a:rPr lang="en-US" dirty="0" err="1"/>
              <a:t>Bản</a:t>
            </a:r>
            <a:r>
              <a:rPr lang="en-US" dirty="0"/>
              <a:t> </a:t>
            </a:r>
            <a:r>
              <a:rPr lang="en-US" dirty="0" err="1"/>
              <a:t>Kết</a:t>
            </a:r>
            <a:r>
              <a:rPr lang="en-US" dirty="0"/>
              <a:t> </a:t>
            </a:r>
            <a:r>
              <a:rPr lang="en-US" dirty="0" err="1"/>
              <a:t>Quả</a:t>
            </a:r>
            <a:r>
              <a:rPr lang="en-US" dirty="0"/>
              <a:t> Quy </a:t>
            </a:r>
            <a:r>
              <a:rPr lang="en-US" dirty="0" err="1"/>
              <a:t>Trình</a:t>
            </a:r>
            <a:endParaRPr lang="en-US" dirty="0"/>
          </a:p>
        </p:txBody>
      </p:sp>
      <p:pic>
        <p:nvPicPr>
          <p:cNvPr id="7" name="Picture 6" descr="fpt_software_logo.png"/>
          <p:cNvPicPr>
            <a:picLocks noChangeAspect="1"/>
          </p:cNvPicPr>
          <p:nvPr/>
        </p:nvPicPr>
        <p:blipFill>
          <a:blip r:embed="rId3"/>
          <a:stretch>
            <a:fillRect/>
          </a:stretch>
        </p:blipFill>
        <p:spPr>
          <a:xfrm>
            <a:off x="9784080" y="201168"/>
            <a:ext cx="1691640" cy="422910"/>
          </a:xfrm>
          <a:prstGeom prst="rect">
            <a:avLst/>
          </a:prstGeom>
        </p:spPr>
      </p:pic>
      <p:sp>
        <p:nvSpPr>
          <p:cNvPr id="8" name="Rectangle 7"/>
          <p:cNvSpPr/>
          <p:nvPr/>
        </p:nvSpPr>
        <p:spPr>
          <a:xfrm>
            <a:off x="731520" y="6419088"/>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31520" y="6473952"/>
            <a:ext cx="7772400" cy="274320"/>
          </a:xfrm>
          <a:prstGeom prst="rect">
            <a:avLst/>
          </a:prstGeom>
          <a:noFill/>
        </p:spPr>
        <p:txBody>
          <a:bodyPr wrap="none">
            <a:spAutoFit/>
          </a:bodyPr>
          <a:lstStyle/>
          <a:p>
            <a:pPr>
              <a:defRPr sz="850">
                <a:solidFill>
                  <a:srgbClr val="64748B"/>
                </a:solidFill>
                <a:latin typeface="Segoe UI"/>
              </a:defRPr>
            </a:pPr>
            <a:r>
              <a:t>FPT Software | Hệ thống Quản trị Quy trình Nghiệp vụ (BPM) - Đồ án Môn học - Nhóm 8</a:t>
            </a:r>
          </a:p>
        </p:txBody>
      </p:sp>
      <p:sp>
        <p:nvSpPr>
          <p:cNvPr id="10" name="TextBox 9"/>
          <p:cNvSpPr txBox="1"/>
          <p:nvPr/>
        </p:nvSpPr>
        <p:spPr>
          <a:xfrm>
            <a:off x="10058400" y="6473952"/>
            <a:ext cx="1371600" cy="274320"/>
          </a:xfrm>
          <a:prstGeom prst="rect">
            <a:avLst/>
          </a:prstGeom>
          <a:noFill/>
        </p:spPr>
        <p:txBody>
          <a:bodyPr wrap="none">
            <a:spAutoFit/>
          </a:bodyPr>
          <a:lstStyle/>
          <a:p>
            <a:pPr algn="r">
              <a:defRPr sz="850" b="1">
                <a:solidFill>
                  <a:srgbClr val="005BAA"/>
                </a:solidFill>
                <a:latin typeface="Segoe UI"/>
              </a:defRPr>
            </a:pPr>
            <a:r>
              <a:t>17 / 27</a:t>
            </a:r>
          </a:p>
        </p:txBody>
      </p:sp>
      <p:sp>
        <p:nvSpPr>
          <p:cNvPr id="11" name="Rounded Rectangle 10"/>
          <p:cNvSpPr/>
          <p:nvPr/>
        </p:nvSpPr>
        <p:spPr>
          <a:xfrm>
            <a:off x="731520" y="1371600"/>
            <a:ext cx="5257800" cy="48463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wrap="square" lIns="182880" tIns="164592" rIns="182880" bIns="164592" rtlCol="0" anchor="ctr"/>
          <a:lstStyle/>
          <a:p>
            <a:pPr algn="ctr">
              <a:spcAft>
                <a:spcPts val="600"/>
              </a:spcAft>
              <a:defRPr sz="1200" b="1">
                <a:solidFill>
                  <a:srgbClr val="0A2540"/>
                </a:solidFill>
                <a:latin typeface="Segoe UI"/>
              </a:defRPr>
            </a:pPr>
            <a:r>
              <a:rPr sz="1050" b="1" dirty="0">
                <a:solidFill>
                  <a:srgbClr val="F37021"/>
                </a:solidFill>
                <a:latin typeface="Segoe UI"/>
              </a:rPr>
              <a:t>6 TÁC NHÂN THAM GIA QUY TRÌNH</a:t>
            </a:r>
            <a:endParaRPr lang="vi-VN" sz="1050" b="1" dirty="0">
              <a:solidFill>
                <a:srgbClr val="F37021"/>
              </a:solidFill>
              <a:latin typeface="Segoe UI"/>
            </a:endParaRPr>
          </a:p>
          <a:p>
            <a:pPr>
              <a:spcAft>
                <a:spcPts val="300"/>
              </a:spcAft>
              <a:defRPr sz="950">
                <a:solidFill>
                  <a:srgbClr val="1E293B"/>
                </a:solidFill>
                <a:latin typeface="Segoe UI"/>
              </a:defRPr>
            </a:pPr>
            <a:r>
              <a:rPr lang="vi-VN" sz="1050" b="1" dirty="0">
                <a:solidFill>
                  <a:srgbClr val="F37021"/>
                </a:solidFill>
                <a:latin typeface="Segoe UI"/>
              </a:rPr>
              <a:t>1. Khách hàng</a:t>
            </a:r>
          </a:p>
          <a:p>
            <a:pPr>
              <a:spcAft>
                <a:spcPts val="300"/>
              </a:spcAft>
              <a:defRPr sz="950">
                <a:solidFill>
                  <a:srgbClr val="1E293B"/>
                </a:solidFill>
                <a:latin typeface="Segoe UI"/>
              </a:defRPr>
            </a:pPr>
            <a:r>
              <a:rPr lang="vi-VN" dirty="0"/>
              <a:t>Gửi yêu cầu phát triển phần mềm, duyệt báo giá, cung cấp tài liệu đặc tả, thực hiện UAT, ký nghiệm thu và thanh toán.</a:t>
            </a:r>
          </a:p>
          <a:p>
            <a:pPr>
              <a:spcAft>
                <a:spcPts val="300"/>
              </a:spcAft>
              <a:defRPr sz="950">
                <a:solidFill>
                  <a:srgbClr val="1E293B"/>
                </a:solidFill>
                <a:latin typeface="Segoe UI"/>
              </a:defRPr>
            </a:pPr>
            <a:endParaRPr lang="vi-VN" dirty="0"/>
          </a:p>
          <a:p>
            <a:pPr>
              <a:spcAft>
                <a:spcPts val="300"/>
              </a:spcAft>
              <a:defRPr sz="950">
                <a:solidFill>
                  <a:srgbClr val="1E293B"/>
                </a:solidFill>
                <a:latin typeface="Segoe UI"/>
              </a:defRPr>
            </a:pPr>
            <a:r>
              <a:rPr lang="vi-VN" sz="1050" b="1" dirty="0">
                <a:solidFill>
                  <a:srgbClr val="F37021"/>
                </a:solidFill>
                <a:latin typeface="Segoe UI"/>
              </a:rPr>
              <a:t>2. Sales</a:t>
            </a:r>
          </a:p>
          <a:p>
            <a:pPr>
              <a:spcAft>
                <a:spcPts val="300"/>
              </a:spcAft>
              <a:defRPr sz="950">
                <a:solidFill>
                  <a:srgbClr val="1E293B"/>
                </a:solidFill>
                <a:latin typeface="Segoe UI"/>
              </a:defRPr>
            </a:pPr>
            <a:r>
              <a:rPr lang="vi-VN" dirty="0"/>
              <a:t>Tiếp nhận yêu cầu đầu vào, báo giá sơ bộ, chốt hợp đồng với khách hàng.</a:t>
            </a:r>
          </a:p>
          <a:p>
            <a:pPr>
              <a:spcAft>
                <a:spcPts val="300"/>
              </a:spcAft>
              <a:defRPr sz="950">
                <a:solidFill>
                  <a:srgbClr val="1E293B"/>
                </a:solidFill>
                <a:latin typeface="Segoe UI"/>
              </a:defRPr>
            </a:pPr>
            <a:endParaRPr lang="vi-VN" dirty="0"/>
          </a:p>
          <a:p>
            <a:pPr>
              <a:spcAft>
                <a:spcPts val="300"/>
              </a:spcAft>
              <a:defRPr sz="950">
                <a:solidFill>
                  <a:srgbClr val="1E293B"/>
                </a:solidFill>
                <a:latin typeface="Segoe UI"/>
              </a:defRPr>
            </a:pPr>
            <a:r>
              <a:rPr lang="vi-VN" sz="1050" b="1" dirty="0">
                <a:solidFill>
                  <a:srgbClr val="F37021"/>
                </a:solidFill>
                <a:latin typeface="Segoe UI"/>
              </a:rPr>
              <a:t>3. Business Analyst (BA)</a:t>
            </a:r>
          </a:p>
          <a:p>
            <a:pPr>
              <a:spcAft>
                <a:spcPts val="300"/>
              </a:spcAft>
              <a:defRPr sz="950">
                <a:solidFill>
                  <a:srgbClr val="1E293B"/>
                </a:solidFill>
                <a:latin typeface="Segoe UI"/>
              </a:defRPr>
            </a:pPr>
            <a:r>
              <a:rPr lang="vi-VN" dirty="0"/>
              <a:t>Làm rõ yêu cầu, phân tích nghiệp vụ, viết tài liệu đặc tả phần mềm (SRS).</a:t>
            </a:r>
          </a:p>
          <a:p>
            <a:pPr>
              <a:spcAft>
                <a:spcPts val="300"/>
              </a:spcAft>
              <a:defRPr sz="950">
                <a:solidFill>
                  <a:srgbClr val="1E293B"/>
                </a:solidFill>
                <a:latin typeface="Segoe UI"/>
              </a:defRPr>
            </a:pPr>
            <a:endParaRPr lang="vi-VN" dirty="0"/>
          </a:p>
          <a:p>
            <a:pPr>
              <a:spcAft>
                <a:spcPts val="300"/>
              </a:spcAft>
              <a:defRPr sz="950">
                <a:solidFill>
                  <a:srgbClr val="1E293B"/>
                </a:solidFill>
                <a:latin typeface="Segoe UI"/>
              </a:defRPr>
            </a:pPr>
            <a:r>
              <a:rPr lang="vi-VN" sz="1050" b="1" dirty="0">
                <a:solidFill>
                  <a:srgbClr val="F37021"/>
                </a:solidFill>
                <a:latin typeface="Segoe UI"/>
              </a:rPr>
              <a:t>4. Project Manager (PM)</a:t>
            </a:r>
          </a:p>
          <a:p>
            <a:pPr>
              <a:spcAft>
                <a:spcPts val="300"/>
              </a:spcAft>
              <a:defRPr sz="950">
                <a:solidFill>
                  <a:srgbClr val="1E293B"/>
                </a:solidFill>
                <a:latin typeface="Segoe UI"/>
              </a:defRPr>
            </a:pPr>
            <a:r>
              <a:rPr lang="vi-VN" dirty="0"/>
              <a:t>Lập kế hoạch và chốt phạm vi, giám sát tiến độ, quản lý Change Request, hướng dẫn tiến trình UAT và bàn giao.</a:t>
            </a:r>
          </a:p>
          <a:p>
            <a:pPr>
              <a:spcAft>
                <a:spcPts val="300"/>
              </a:spcAft>
              <a:defRPr sz="950">
                <a:solidFill>
                  <a:srgbClr val="1E293B"/>
                </a:solidFill>
                <a:latin typeface="Segoe UI"/>
              </a:defRPr>
            </a:pPr>
            <a:endParaRPr lang="vi-VN" dirty="0"/>
          </a:p>
          <a:p>
            <a:pPr>
              <a:spcAft>
                <a:spcPts val="300"/>
              </a:spcAft>
              <a:defRPr sz="950">
                <a:solidFill>
                  <a:srgbClr val="1E293B"/>
                </a:solidFill>
                <a:latin typeface="Segoe UI"/>
              </a:defRPr>
            </a:pPr>
            <a:r>
              <a:rPr lang="vi-VN" sz="1050" b="1" dirty="0">
                <a:solidFill>
                  <a:srgbClr val="F37021"/>
                </a:solidFill>
                <a:latin typeface="Segoe UI"/>
              </a:rPr>
              <a:t>5. Development Team</a:t>
            </a:r>
          </a:p>
          <a:p>
            <a:pPr>
              <a:spcAft>
                <a:spcPts val="300"/>
              </a:spcAft>
              <a:defRPr sz="950">
                <a:solidFill>
                  <a:srgbClr val="1E293B"/>
                </a:solidFill>
                <a:latin typeface="Segoe UI"/>
              </a:defRPr>
            </a:pPr>
            <a:r>
              <a:rPr lang="vi-VN" dirty="0"/>
              <a:t>Đánh giá tính khả thi kỹ thuật, viết mã nguồn, chạy unit test, sửa lỗi và triển khai môi trường thử nghiệm.</a:t>
            </a:r>
          </a:p>
          <a:p>
            <a:pPr>
              <a:spcAft>
                <a:spcPts val="300"/>
              </a:spcAft>
              <a:defRPr sz="950">
                <a:solidFill>
                  <a:srgbClr val="1E293B"/>
                </a:solidFill>
                <a:latin typeface="Segoe UI"/>
              </a:defRPr>
            </a:pPr>
            <a:endParaRPr lang="vi-VN" dirty="0"/>
          </a:p>
          <a:p>
            <a:pPr>
              <a:spcAft>
                <a:spcPts val="300"/>
              </a:spcAft>
              <a:defRPr sz="950">
                <a:solidFill>
                  <a:srgbClr val="1E293B"/>
                </a:solidFill>
                <a:latin typeface="Segoe UI"/>
              </a:defRPr>
            </a:pPr>
            <a:r>
              <a:rPr lang="vi-VN" sz="1050" b="1" dirty="0">
                <a:solidFill>
                  <a:srgbClr val="F37021"/>
                </a:solidFill>
                <a:latin typeface="Segoe UI"/>
              </a:rPr>
              <a:t>6. QA Team</a:t>
            </a:r>
          </a:p>
          <a:p>
            <a:pPr>
              <a:spcAft>
                <a:spcPts val="300"/>
              </a:spcAft>
              <a:defRPr sz="950">
                <a:solidFill>
                  <a:srgbClr val="1E293B"/>
                </a:solidFill>
                <a:latin typeface="Segoe UI"/>
              </a:defRPr>
            </a:pPr>
            <a:r>
              <a:rPr lang="vi-VN" dirty="0"/>
              <a:t>Viết kịch bản kiểm thử, thực hiện kiểm thử nội bộ, báo lỗi, xác nhận QA Sign-off.</a:t>
            </a:r>
            <a:endParaRPr dirty="0"/>
          </a:p>
        </p:txBody>
      </p:sp>
      <p:sp>
        <p:nvSpPr>
          <p:cNvPr id="12" name="Rounded Rectangle 11"/>
          <p:cNvSpPr/>
          <p:nvPr/>
        </p:nvSpPr>
        <p:spPr>
          <a:xfrm>
            <a:off x="6217920" y="1371600"/>
            <a:ext cx="5242255" cy="48463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wrap="square" lIns="182880" tIns="164592" rIns="182880" bIns="164592" rtlCol="0" anchor="ctr"/>
          <a:lstStyle/>
          <a:p>
            <a:pPr algn="ctr">
              <a:spcAft>
                <a:spcPts val="600"/>
              </a:spcAft>
              <a:defRPr sz="1200" b="1">
                <a:solidFill>
                  <a:srgbClr val="F37021"/>
                </a:solidFill>
                <a:latin typeface="Segoe UI"/>
              </a:defRPr>
            </a:pPr>
            <a:r>
              <a:rPr lang="vi-VN" dirty="0"/>
              <a:t>3 </a:t>
            </a:r>
            <a:r>
              <a:rPr dirty="0"/>
              <a:t>KỊCH BẢN KẾT QUẢ CỦA QUY TRÌNH (OUTCOMES)</a:t>
            </a:r>
          </a:p>
          <a:p>
            <a:pPr>
              <a:spcBef>
                <a:spcPts val="400"/>
              </a:spcBef>
              <a:spcAft>
                <a:spcPts val="300"/>
              </a:spcAft>
              <a:defRPr sz="1050" b="1">
                <a:solidFill>
                  <a:srgbClr val="F37021"/>
                </a:solidFill>
                <a:latin typeface="Segoe UI"/>
              </a:defRPr>
            </a:pPr>
            <a:r>
              <a:rPr lang="vi-VN" dirty="0"/>
              <a:t>1. Khách hàng không ký hợp đồng</a:t>
            </a:r>
          </a:p>
          <a:p>
            <a:pPr>
              <a:spcAft>
                <a:spcPts val="300"/>
              </a:spcAft>
              <a:defRPr sz="950">
                <a:solidFill>
                  <a:srgbClr val="1E293B"/>
                </a:solidFill>
                <a:latin typeface="Segoe UI"/>
              </a:defRPr>
            </a:pPr>
            <a:r>
              <a:rPr lang="vi-VN" dirty="0"/>
              <a:t>     - Xảy ra sau bước kiểm tra báo giá sơ bộ.</a:t>
            </a:r>
          </a:p>
          <a:p>
            <a:pPr>
              <a:spcAft>
                <a:spcPts val="300"/>
              </a:spcAft>
              <a:defRPr sz="950">
                <a:solidFill>
                  <a:srgbClr val="1E293B"/>
                </a:solidFill>
                <a:latin typeface="Segoe UI"/>
              </a:defRPr>
            </a:pPr>
            <a:r>
              <a:rPr lang="vi-VN" dirty="0"/>
              <a:t>     - Kết quả: dự án dừng ngay ở giai đoạn khởi tạo.</a:t>
            </a:r>
          </a:p>
          <a:p>
            <a:pPr>
              <a:spcAft>
                <a:spcPts val="300"/>
              </a:spcAft>
              <a:defRPr sz="950">
                <a:solidFill>
                  <a:srgbClr val="1E293B"/>
                </a:solidFill>
                <a:latin typeface="Segoe UI"/>
              </a:defRPr>
            </a:pPr>
            <a:endParaRPr lang="vi-VN" dirty="0"/>
          </a:p>
          <a:p>
            <a:pPr>
              <a:spcAft>
                <a:spcPts val="300"/>
              </a:spcAft>
              <a:defRPr sz="950">
                <a:solidFill>
                  <a:srgbClr val="1E293B"/>
                </a:solidFill>
                <a:latin typeface="Segoe UI"/>
              </a:defRPr>
            </a:pPr>
            <a:r>
              <a:rPr lang="vi-VN" sz="1050" b="1" dirty="0">
                <a:solidFill>
                  <a:srgbClr val="F37021"/>
                </a:solidFill>
                <a:latin typeface="Segoe UI"/>
              </a:rPr>
              <a:t>  2. Dự án hoàn thành thành công</a:t>
            </a:r>
          </a:p>
          <a:p>
            <a:pPr>
              <a:spcAft>
                <a:spcPts val="300"/>
              </a:spcAft>
              <a:defRPr sz="950">
                <a:solidFill>
                  <a:srgbClr val="1E293B"/>
                </a:solidFill>
                <a:latin typeface="Segoe UI"/>
              </a:defRPr>
            </a:pPr>
            <a:r>
              <a:rPr lang="vi-VN" dirty="0"/>
              <a:t>     - Xảy ra sau khi khách hàng thực hiện UAT sign-off và thanh toán.</a:t>
            </a:r>
          </a:p>
          <a:p>
            <a:pPr>
              <a:spcAft>
                <a:spcPts val="300"/>
              </a:spcAft>
              <a:defRPr sz="950">
                <a:solidFill>
                  <a:srgbClr val="1E293B"/>
                </a:solidFill>
                <a:latin typeface="Segoe UI"/>
              </a:defRPr>
            </a:pPr>
            <a:r>
              <a:rPr lang="vi-VN" dirty="0"/>
              <a:t>     - Kết quả: phần mềm được triển khai lên môi trường production, bàn giao tài sản và đóng dự án.</a:t>
            </a:r>
          </a:p>
          <a:p>
            <a:pPr>
              <a:spcAft>
                <a:spcPts val="300"/>
              </a:spcAft>
              <a:defRPr sz="950">
                <a:solidFill>
                  <a:srgbClr val="1E293B"/>
                </a:solidFill>
                <a:latin typeface="Segoe UI"/>
              </a:defRPr>
            </a:pPr>
            <a:endParaRPr lang="vi-VN" dirty="0"/>
          </a:p>
          <a:p>
            <a:pPr>
              <a:spcAft>
                <a:spcPts val="300"/>
              </a:spcAft>
              <a:defRPr sz="950">
                <a:solidFill>
                  <a:srgbClr val="1E293B"/>
                </a:solidFill>
                <a:latin typeface="Segoe UI"/>
              </a:defRPr>
            </a:pPr>
            <a:r>
              <a:rPr lang="vi-VN" sz="1050" b="1" dirty="0">
                <a:solidFill>
                  <a:srgbClr val="F37021"/>
                </a:solidFill>
                <a:latin typeface="Segoe UI"/>
              </a:rPr>
              <a:t>  3. Kết thúc luồng nghiệp vụ sau thanh toán</a:t>
            </a:r>
          </a:p>
          <a:p>
            <a:pPr>
              <a:spcAft>
                <a:spcPts val="300"/>
              </a:spcAft>
              <a:defRPr sz="950">
                <a:solidFill>
                  <a:srgbClr val="1E293B"/>
                </a:solidFill>
                <a:latin typeface="Segoe UI"/>
              </a:defRPr>
            </a:pPr>
            <a:r>
              <a:rPr lang="vi-VN" dirty="0"/>
              <a:t>     - Xuất hiện sau bước "Thanh toán".</a:t>
            </a:r>
          </a:p>
          <a:p>
            <a:pPr>
              <a:spcAft>
                <a:spcPts val="300"/>
              </a:spcAft>
              <a:defRPr sz="950">
                <a:solidFill>
                  <a:srgbClr val="1E293B"/>
                </a:solidFill>
                <a:latin typeface="Segoe UI"/>
              </a:defRPr>
            </a:pPr>
            <a:r>
              <a:rPr lang="vi-VN" dirty="0"/>
              <a:t>     - Kết quả: chốt thanh toán thành công và đóng quy trình chính thức.</a:t>
            </a:r>
          </a:p>
          <a:p>
            <a:pPr>
              <a:spcAft>
                <a:spcPts val="300"/>
              </a:spcAft>
              <a:defRPr sz="950">
                <a:solidFill>
                  <a:srgbClr val="1E293B"/>
                </a:solidFill>
                <a:latin typeface="Segoe UI"/>
              </a:defRPr>
            </a:pPr>
            <a:endParaRPr lang="vi-VN"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CF117F-04C3-D09A-7332-CA5D6AA918D6}"/>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03DC2BB7-F0A6-FA55-BBD9-5FBDDB360EC4}"/>
              </a:ext>
            </a:extLst>
          </p:cNvPr>
          <p:cNvSpPr/>
          <p:nvPr/>
        </p:nvSpPr>
        <p:spPr>
          <a:xfrm>
            <a:off x="0" y="0"/>
            <a:ext cx="12191695" cy="107899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a:extLst>
              <a:ext uri="{FF2B5EF4-FFF2-40B4-BE49-F238E27FC236}">
                <a16:creationId xmlns:a16="http://schemas.microsoft.com/office/drawing/2014/main" id="{6CBDE734-E015-1DE9-963D-B476DE47979B}"/>
              </a:ext>
            </a:extLst>
          </p:cNvPr>
          <p:cNvSpPr/>
          <p:nvPr/>
        </p:nvSpPr>
        <p:spPr>
          <a:xfrm>
            <a:off x="731520" y="1051560"/>
            <a:ext cx="7772400" cy="36576"/>
          </a:xfrm>
          <a:prstGeom prst="rect">
            <a:avLst/>
          </a:prstGeom>
          <a:solidFill>
            <a:srgbClr val="005B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a:extLst>
              <a:ext uri="{FF2B5EF4-FFF2-40B4-BE49-F238E27FC236}">
                <a16:creationId xmlns:a16="http://schemas.microsoft.com/office/drawing/2014/main" id="{84B094FB-0B79-4720-163F-713CE859DB08}"/>
              </a:ext>
            </a:extLst>
          </p:cNvPr>
          <p:cNvSpPr/>
          <p:nvPr/>
        </p:nvSpPr>
        <p:spPr>
          <a:xfrm>
            <a:off x="8503920" y="1051560"/>
            <a:ext cx="2926080" cy="36576"/>
          </a:xfrm>
          <a:prstGeom prst="rect">
            <a:avLst/>
          </a:prstGeom>
          <a:solidFill>
            <a:srgbClr val="F370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a:extLst>
              <a:ext uri="{FF2B5EF4-FFF2-40B4-BE49-F238E27FC236}">
                <a16:creationId xmlns:a16="http://schemas.microsoft.com/office/drawing/2014/main" id="{846F13F5-5808-5325-7111-470D5099D983}"/>
              </a:ext>
            </a:extLst>
          </p:cNvPr>
          <p:cNvSpPr/>
          <p:nvPr/>
        </p:nvSpPr>
        <p:spPr>
          <a:xfrm>
            <a:off x="731520" y="146304"/>
            <a:ext cx="3840480" cy="256032"/>
          </a:xfrm>
          <a:prstGeom prst="roundRect">
            <a:avLst/>
          </a:prstGeom>
          <a:solidFill>
            <a:srgbClr val="FFF7ED"/>
          </a:solidFill>
          <a:ln w="9525">
            <a:solidFill>
              <a:srgbClr val="F37021"/>
            </a:solidFill>
          </a:ln>
        </p:spPr>
        <p:style>
          <a:lnRef idx="1">
            <a:schemeClr val="accent1"/>
          </a:lnRef>
          <a:fillRef idx="3">
            <a:schemeClr val="accent1"/>
          </a:fillRef>
          <a:effectRef idx="2">
            <a:schemeClr val="accent1"/>
          </a:effectRef>
          <a:fontRef idx="minor">
            <a:schemeClr val="lt1"/>
          </a:fontRef>
        </p:style>
        <p:txBody>
          <a:bodyPr wrap="square" lIns="109728" tIns="18288" rtlCol="0" anchor="ctr"/>
          <a:lstStyle/>
          <a:p>
            <a:pPr algn="ctr">
              <a:defRPr sz="950" b="1">
                <a:solidFill>
                  <a:srgbClr val="F37021"/>
                </a:solidFill>
                <a:latin typeface="Segoe UI"/>
              </a:defRPr>
            </a:pPr>
            <a:r>
              <a:t>PHẦN 4: QUY TRÌNH CỐT LÕI</a:t>
            </a:r>
          </a:p>
        </p:txBody>
      </p:sp>
      <p:sp>
        <p:nvSpPr>
          <p:cNvPr id="6" name="TextBox 5">
            <a:extLst>
              <a:ext uri="{FF2B5EF4-FFF2-40B4-BE49-F238E27FC236}">
                <a16:creationId xmlns:a16="http://schemas.microsoft.com/office/drawing/2014/main" id="{2BF4EC08-3EE3-42A4-7BE5-2DD1E3663937}"/>
              </a:ext>
            </a:extLst>
          </p:cNvPr>
          <p:cNvSpPr txBox="1"/>
          <p:nvPr/>
        </p:nvSpPr>
        <p:spPr>
          <a:xfrm>
            <a:off x="731520" y="438912"/>
            <a:ext cx="8686800" cy="338554"/>
          </a:xfrm>
          <a:prstGeom prst="rect">
            <a:avLst/>
          </a:prstGeom>
          <a:noFill/>
        </p:spPr>
        <p:txBody>
          <a:bodyPr wrap="square" lIns="0" tIns="0">
            <a:spAutoFit/>
          </a:bodyPr>
          <a:lstStyle/>
          <a:p>
            <a:pPr>
              <a:defRPr sz="1900" b="1">
                <a:solidFill>
                  <a:srgbClr val="0A2540"/>
                </a:solidFill>
                <a:latin typeface="Segoe UI"/>
              </a:defRPr>
            </a:pPr>
            <a:r>
              <a:rPr lang="vi-VN" dirty="0"/>
              <a:t>Đối Tượng Khách Hàng Và Giá Trị Mang Lại Của Quy Trình</a:t>
            </a:r>
          </a:p>
        </p:txBody>
      </p:sp>
      <p:pic>
        <p:nvPicPr>
          <p:cNvPr id="7" name="Picture 6" descr="fpt_software_logo.png">
            <a:extLst>
              <a:ext uri="{FF2B5EF4-FFF2-40B4-BE49-F238E27FC236}">
                <a16:creationId xmlns:a16="http://schemas.microsoft.com/office/drawing/2014/main" id="{384D9F88-992C-0E08-E845-2E0658C54E89}"/>
              </a:ext>
            </a:extLst>
          </p:cNvPr>
          <p:cNvPicPr>
            <a:picLocks noChangeAspect="1"/>
          </p:cNvPicPr>
          <p:nvPr/>
        </p:nvPicPr>
        <p:blipFill>
          <a:blip r:embed="rId3"/>
          <a:stretch>
            <a:fillRect/>
          </a:stretch>
        </p:blipFill>
        <p:spPr>
          <a:xfrm>
            <a:off x="9784080" y="201168"/>
            <a:ext cx="1691640" cy="422910"/>
          </a:xfrm>
          <a:prstGeom prst="rect">
            <a:avLst/>
          </a:prstGeom>
        </p:spPr>
      </p:pic>
      <p:sp>
        <p:nvSpPr>
          <p:cNvPr id="8" name="Rectangle 7">
            <a:extLst>
              <a:ext uri="{FF2B5EF4-FFF2-40B4-BE49-F238E27FC236}">
                <a16:creationId xmlns:a16="http://schemas.microsoft.com/office/drawing/2014/main" id="{3A7F06D7-A9C0-03E0-BC42-E4CA8FFB43D7}"/>
              </a:ext>
            </a:extLst>
          </p:cNvPr>
          <p:cNvSpPr/>
          <p:nvPr/>
        </p:nvSpPr>
        <p:spPr>
          <a:xfrm>
            <a:off x="731520" y="6419088"/>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a:extLst>
              <a:ext uri="{FF2B5EF4-FFF2-40B4-BE49-F238E27FC236}">
                <a16:creationId xmlns:a16="http://schemas.microsoft.com/office/drawing/2014/main" id="{474FD12F-9740-4729-9A9E-5E95CDE5D420}"/>
              </a:ext>
            </a:extLst>
          </p:cNvPr>
          <p:cNvSpPr txBox="1"/>
          <p:nvPr/>
        </p:nvSpPr>
        <p:spPr>
          <a:xfrm>
            <a:off x="731520" y="6473952"/>
            <a:ext cx="7772400" cy="274320"/>
          </a:xfrm>
          <a:prstGeom prst="rect">
            <a:avLst/>
          </a:prstGeom>
          <a:noFill/>
        </p:spPr>
        <p:txBody>
          <a:bodyPr wrap="none">
            <a:spAutoFit/>
          </a:bodyPr>
          <a:lstStyle/>
          <a:p>
            <a:pPr>
              <a:defRPr sz="850">
                <a:solidFill>
                  <a:srgbClr val="64748B"/>
                </a:solidFill>
                <a:latin typeface="Segoe UI"/>
              </a:defRPr>
            </a:pPr>
            <a:r>
              <a:t>FPT Software | Hệ thống Quản trị Quy trình Nghiệp vụ (BPM) - Đồ án Môn học - Nhóm 8</a:t>
            </a:r>
          </a:p>
        </p:txBody>
      </p:sp>
      <p:sp>
        <p:nvSpPr>
          <p:cNvPr id="10" name="TextBox 9">
            <a:extLst>
              <a:ext uri="{FF2B5EF4-FFF2-40B4-BE49-F238E27FC236}">
                <a16:creationId xmlns:a16="http://schemas.microsoft.com/office/drawing/2014/main" id="{56F75346-A23A-838E-CF13-47E6C929542E}"/>
              </a:ext>
            </a:extLst>
          </p:cNvPr>
          <p:cNvSpPr txBox="1"/>
          <p:nvPr/>
        </p:nvSpPr>
        <p:spPr>
          <a:xfrm>
            <a:off x="10058400" y="6473952"/>
            <a:ext cx="1371600" cy="274320"/>
          </a:xfrm>
          <a:prstGeom prst="rect">
            <a:avLst/>
          </a:prstGeom>
          <a:noFill/>
        </p:spPr>
        <p:txBody>
          <a:bodyPr wrap="none">
            <a:spAutoFit/>
          </a:bodyPr>
          <a:lstStyle/>
          <a:p>
            <a:pPr algn="r">
              <a:defRPr sz="850" b="1">
                <a:solidFill>
                  <a:srgbClr val="005BAA"/>
                </a:solidFill>
                <a:latin typeface="Segoe UI"/>
              </a:defRPr>
            </a:pPr>
            <a:r>
              <a:t>17 / 27</a:t>
            </a:r>
          </a:p>
        </p:txBody>
      </p:sp>
      <p:sp>
        <p:nvSpPr>
          <p:cNvPr id="11" name="Rounded Rectangle 10">
            <a:extLst>
              <a:ext uri="{FF2B5EF4-FFF2-40B4-BE49-F238E27FC236}">
                <a16:creationId xmlns:a16="http://schemas.microsoft.com/office/drawing/2014/main" id="{0213F77B-8D1E-A7EF-B29A-36FE24C61BF5}"/>
              </a:ext>
            </a:extLst>
          </p:cNvPr>
          <p:cNvSpPr/>
          <p:nvPr/>
        </p:nvSpPr>
        <p:spPr>
          <a:xfrm>
            <a:off x="731520" y="1371600"/>
            <a:ext cx="5257800" cy="48463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wrap="square" lIns="182880" tIns="164592" rIns="182880" bIns="164592" rtlCol="0" anchor="ctr"/>
          <a:lstStyle/>
          <a:p>
            <a:pPr algn="ctr">
              <a:spcAft>
                <a:spcPts val="600"/>
              </a:spcAft>
              <a:defRPr sz="1200" b="1">
                <a:solidFill>
                  <a:srgbClr val="0A2540"/>
                </a:solidFill>
                <a:latin typeface="Segoe UI"/>
              </a:defRPr>
            </a:pPr>
            <a:r>
              <a:rPr lang="vi-VN" sz="1050" b="1" dirty="0">
                <a:solidFill>
                  <a:srgbClr val="F37021"/>
                </a:solidFill>
                <a:latin typeface="Segoe UI"/>
              </a:rPr>
              <a:t>ĐỐI TƯỢNG KHÁCH HÀNG</a:t>
            </a:r>
            <a:endParaRPr lang="en-US" sz="1050" b="1" dirty="0">
              <a:solidFill>
                <a:srgbClr val="F37021"/>
              </a:solidFill>
              <a:latin typeface="Segoe UI"/>
            </a:endParaRPr>
          </a:p>
          <a:p>
            <a:pPr>
              <a:spcAft>
                <a:spcPts val="300"/>
              </a:spcAft>
              <a:defRPr sz="950">
                <a:solidFill>
                  <a:srgbClr val="1E293B"/>
                </a:solidFill>
                <a:latin typeface="Segoe UI"/>
              </a:defRPr>
            </a:pPr>
            <a:r>
              <a:rPr lang="vi-VN" dirty="0"/>
              <a:t>Doanh nghiệp hoặc cá nhân cần phát triển phần mềm nhưng không có đội ngũ kỹ thuật nội bộ. họ quan tâm đến:</a:t>
            </a:r>
          </a:p>
          <a:p>
            <a:pPr marL="171450" indent="-171450">
              <a:spcAft>
                <a:spcPts val="300"/>
              </a:spcAft>
              <a:buFont typeface="Wingdings" panose="05000000000000000000" pitchFamily="2" charset="2"/>
              <a:buChar char="ü"/>
              <a:defRPr sz="950">
                <a:solidFill>
                  <a:srgbClr val="1E293B"/>
                </a:solidFill>
                <a:latin typeface="Segoe UI"/>
              </a:defRPr>
            </a:pPr>
            <a:r>
              <a:rPr lang="vi-VN" dirty="0"/>
              <a:t>Tính minh bạch.</a:t>
            </a:r>
          </a:p>
          <a:p>
            <a:pPr marL="171450" indent="-171450">
              <a:spcAft>
                <a:spcPts val="300"/>
              </a:spcAft>
              <a:buFont typeface="Wingdings" panose="05000000000000000000" pitchFamily="2" charset="2"/>
              <a:buChar char="ü"/>
              <a:defRPr sz="950">
                <a:solidFill>
                  <a:srgbClr val="1E293B"/>
                </a:solidFill>
                <a:latin typeface="Segoe UI"/>
              </a:defRPr>
            </a:pPr>
            <a:r>
              <a:rPr lang="vi-VN" dirty="0"/>
              <a:t>Kiểm soát phạm vi.</a:t>
            </a:r>
          </a:p>
          <a:p>
            <a:pPr marL="171450" indent="-171450">
              <a:spcAft>
                <a:spcPts val="300"/>
              </a:spcAft>
              <a:buFont typeface="Wingdings" panose="05000000000000000000" pitchFamily="2" charset="2"/>
              <a:buChar char="ü"/>
              <a:defRPr sz="950">
                <a:solidFill>
                  <a:srgbClr val="1E293B"/>
                </a:solidFill>
                <a:latin typeface="Segoe UI"/>
              </a:defRPr>
            </a:pPr>
            <a:r>
              <a:rPr lang="vi-VN" dirty="0"/>
              <a:t>Chất lượng phần mềm.</a:t>
            </a:r>
          </a:p>
          <a:p>
            <a:pPr marL="171450" indent="-171450">
              <a:spcAft>
                <a:spcPts val="300"/>
              </a:spcAft>
              <a:buFont typeface="Wingdings" panose="05000000000000000000" pitchFamily="2" charset="2"/>
              <a:buChar char="ü"/>
              <a:defRPr sz="950">
                <a:solidFill>
                  <a:srgbClr val="1E293B"/>
                </a:solidFill>
                <a:latin typeface="Segoe UI"/>
              </a:defRPr>
            </a:pPr>
            <a:r>
              <a:rPr lang="vi-VN" dirty="0"/>
              <a:t>Ràng buộc về nghiệm thu và thanh toán.</a:t>
            </a:r>
            <a:endParaRPr dirty="0"/>
          </a:p>
        </p:txBody>
      </p:sp>
      <p:sp>
        <p:nvSpPr>
          <p:cNvPr id="12" name="Rounded Rectangle 11">
            <a:extLst>
              <a:ext uri="{FF2B5EF4-FFF2-40B4-BE49-F238E27FC236}">
                <a16:creationId xmlns:a16="http://schemas.microsoft.com/office/drawing/2014/main" id="{72E55590-D553-9DE8-DFD9-2049D3C46844}"/>
              </a:ext>
            </a:extLst>
          </p:cNvPr>
          <p:cNvSpPr/>
          <p:nvPr/>
        </p:nvSpPr>
        <p:spPr>
          <a:xfrm>
            <a:off x="6217920" y="1371600"/>
            <a:ext cx="5242255" cy="48463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wrap="square" lIns="182880" tIns="164592" rIns="182880" bIns="164592" rtlCol="0" anchor="ctr"/>
          <a:lstStyle/>
          <a:p>
            <a:pPr algn="ctr">
              <a:spcAft>
                <a:spcPts val="600"/>
              </a:spcAft>
              <a:defRPr sz="1200" b="1">
                <a:solidFill>
                  <a:srgbClr val="F37021"/>
                </a:solidFill>
                <a:latin typeface="Segoe UI"/>
              </a:defRPr>
            </a:pPr>
            <a:r>
              <a:rPr lang="vi-VN" dirty="0"/>
              <a:t>GIÁ TRỊ MANG LẠI CỦA QUY TRÌNH</a:t>
            </a:r>
          </a:p>
          <a:p>
            <a:pPr marL="171450" indent="-171450">
              <a:spcAft>
                <a:spcPts val="300"/>
              </a:spcAft>
              <a:buFont typeface="Wingdings" panose="05000000000000000000" pitchFamily="2" charset="2"/>
              <a:buChar char="ü"/>
              <a:defRPr sz="950">
                <a:solidFill>
                  <a:srgbClr val="1E293B"/>
                </a:solidFill>
                <a:latin typeface="Segoe UI"/>
              </a:defRPr>
            </a:pPr>
            <a:r>
              <a:rPr lang="vi-VN" dirty="0"/>
              <a:t>Làm rõ yêu cầu từ đầu để giảm rủi ro scope creep.</a:t>
            </a:r>
          </a:p>
          <a:p>
            <a:pPr marL="171450" indent="-171450">
              <a:spcAft>
                <a:spcPts val="300"/>
              </a:spcAft>
              <a:buFont typeface="Wingdings" panose="05000000000000000000" pitchFamily="2" charset="2"/>
              <a:buChar char="ü"/>
              <a:defRPr sz="950">
                <a:solidFill>
                  <a:srgbClr val="1E293B"/>
                </a:solidFill>
                <a:latin typeface="Segoe UI"/>
              </a:defRPr>
            </a:pPr>
            <a:r>
              <a:rPr lang="vi-VN" dirty="0"/>
              <a:t>Tạo cơ chế kiểm soát tiến độ và chất lượng phần mềm.</a:t>
            </a:r>
          </a:p>
          <a:p>
            <a:pPr marL="171450" indent="-171450">
              <a:spcAft>
                <a:spcPts val="300"/>
              </a:spcAft>
              <a:buFont typeface="Wingdings" panose="05000000000000000000" pitchFamily="2" charset="2"/>
              <a:buChar char="ü"/>
              <a:defRPr sz="950">
                <a:solidFill>
                  <a:srgbClr val="1E293B"/>
                </a:solidFill>
                <a:latin typeface="Segoe UI"/>
              </a:defRPr>
            </a:pPr>
            <a:r>
              <a:rPr lang="vi-VN" dirty="0"/>
              <a:t>Đảm bảo phần mềm được xác nhận bởi khách hàng trước khi bàn giao.</a:t>
            </a:r>
          </a:p>
          <a:p>
            <a:pPr marL="171450" indent="-171450">
              <a:spcAft>
                <a:spcPts val="300"/>
              </a:spcAft>
              <a:buFont typeface="Wingdings" panose="05000000000000000000" pitchFamily="2" charset="2"/>
              <a:buChar char="ü"/>
              <a:defRPr sz="950">
                <a:solidFill>
                  <a:srgbClr val="1E293B"/>
                </a:solidFill>
                <a:latin typeface="Segoe UI"/>
              </a:defRPr>
            </a:pPr>
            <a:r>
              <a:rPr lang="vi-VN" dirty="0"/>
              <a:t>Cung cấp minh bạch trong báo giá, nghiệm thu và thanh toán.</a:t>
            </a:r>
          </a:p>
          <a:p>
            <a:pPr marL="171450" indent="-171450">
              <a:spcAft>
                <a:spcPts val="300"/>
              </a:spcAft>
              <a:buFont typeface="Wingdings" panose="05000000000000000000" pitchFamily="2" charset="2"/>
              <a:buChar char="ü"/>
              <a:defRPr sz="950">
                <a:solidFill>
                  <a:srgbClr val="1E293B"/>
                </a:solidFill>
                <a:latin typeface="Segoe UI"/>
              </a:defRPr>
            </a:pPr>
            <a:r>
              <a:rPr lang="vi-VN" dirty="0"/>
              <a:t>Giảm lãng phí do làm lại công việc và sửa lỗi muộn.</a:t>
            </a:r>
          </a:p>
          <a:p>
            <a:pPr>
              <a:spcAft>
                <a:spcPts val="300"/>
              </a:spcAft>
              <a:defRPr sz="950">
                <a:solidFill>
                  <a:srgbClr val="1E293B"/>
                </a:solidFill>
                <a:latin typeface="Segoe UI"/>
              </a:defRPr>
            </a:pPr>
            <a:endParaRPr dirty="0"/>
          </a:p>
        </p:txBody>
      </p:sp>
    </p:spTree>
    <p:extLst>
      <p:ext uri="{BB962C8B-B14F-4D97-AF65-F5344CB8AC3E}">
        <p14:creationId xmlns:p14="http://schemas.microsoft.com/office/powerpoint/2010/main" val="25342989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BE0B13-CDA7-9E21-9775-D534B19A049A}"/>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AC01CB83-988A-E88F-1164-621EB61DDFE3}"/>
              </a:ext>
            </a:extLst>
          </p:cNvPr>
          <p:cNvSpPr/>
          <p:nvPr/>
        </p:nvSpPr>
        <p:spPr>
          <a:xfrm>
            <a:off x="0" y="0"/>
            <a:ext cx="12191695" cy="107899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a:extLst>
              <a:ext uri="{FF2B5EF4-FFF2-40B4-BE49-F238E27FC236}">
                <a16:creationId xmlns:a16="http://schemas.microsoft.com/office/drawing/2014/main" id="{FD9F3ABF-6ED4-7210-C124-2D827BD01C44}"/>
              </a:ext>
            </a:extLst>
          </p:cNvPr>
          <p:cNvSpPr/>
          <p:nvPr/>
        </p:nvSpPr>
        <p:spPr>
          <a:xfrm>
            <a:off x="731520" y="1051560"/>
            <a:ext cx="7772400" cy="36576"/>
          </a:xfrm>
          <a:prstGeom prst="rect">
            <a:avLst/>
          </a:prstGeom>
          <a:solidFill>
            <a:srgbClr val="005B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a:extLst>
              <a:ext uri="{FF2B5EF4-FFF2-40B4-BE49-F238E27FC236}">
                <a16:creationId xmlns:a16="http://schemas.microsoft.com/office/drawing/2014/main" id="{4B3AD670-1514-B421-8321-634177BD3C1B}"/>
              </a:ext>
            </a:extLst>
          </p:cNvPr>
          <p:cNvSpPr/>
          <p:nvPr/>
        </p:nvSpPr>
        <p:spPr>
          <a:xfrm>
            <a:off x="8503920" y="1051560"/>
            <a:ext cx="2926080" cy="36576"/>
          </a:xfrm>
          <a:prstGeom prst="rect">
            <a:avLst/>
          </a:prstGeom>
          <a:solidFill>
            <a:srgbClr val="F370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a:extLst>
              <a:ext uri="{FF2B5EF4-FFF2-40B4-BE49-F238E27FC236}">
                <a16:creationId xmlns:a16="http://schemas.microsoft.com/office/drawing/2014/main" id="{3A354EE6-63FA-CB0F-8C64-89E6E81851D6}"/>
              </a:ext>
            </a:extLst>
          </p:cNvPr>
          <p:cNvSpPr/>
          <p:nvPr/>
        </p:nvSpPr>
        <p:spPr>
          <a:xfrm>
            <a:off x="731520" y="146304"/>
            <a:ext cx="3840480" cy="256032"/>
          </a:xfrm>
          <a:prstGeom prst="roundRect">
            <a:avLst/>
          </a:prstGeom>
          <a:solidFill>
            <a:srgbClr val="FFF7ED"/>
          </a:solidFill>
          <a:ln w="9525">
            <a:solidFill>
              <a:srgbClr val="F37021"/>
            </a:solidFill>
          </a:ln>
        </p:spPr>
        <p:style>
          <a:lnRef idx="1">
            <a:schemeClr val="accent1"/>
          </a:lnRef>
          <a:fillRef idx="3">
            <a:schemeClr val="accent1"/>
          </a:fillRef>
          <a:effectRef idx="2">
            <a:schemeClr val="accent1"/>
          </a:effectRef>
          <a:fontRef idx="minor">
            <a:schemeClr val="lt1"/>
          </a:fontRef>
        </p:style>
        <p:txBody>
          <a:bodyPr wrap="square" lIns="109728" tIns="18288" rtlCol="0" anchor="ctr"/>
          <a:lstStyle/>
          <a:p>
            <a:pPr algn="ctr">
              <a:defRPr sz="950" b="1">
                <a:solidFill>
                  <a:srgbClr val="F37021"/>
                </a:solidFill>
                <a:latin typeface="Segoe UI"/>
              </a:defRPr>
            </a:pPr>
            <a:r>
              <a:t>PHẦN 4: QUY TRÌNH CỐT LÕI</a:t>
            </a:r>
          </a:p>
        </p:txBody>
      </p:sp>
      <p:sp>
        <p:nvSpPr>
          <p:cNvPr id="6" name="TextBox 5">
            <a:extLst>
              <a:ext uri="{FF2B5EF4-FFF2-40B4-BE49-F238E27FC236}">
                <a16:creationId xmlns:a16="http://schemas.microsoft.com/office/drawing/2014/main" id="{0782A774-C0F3-A72A-5DB0-B741D77A3586}"/>
              </a:ext>
            </a:extLst>
          </p:cNvPr>
          <p:cNvSpPr txBox="1"/>
          <p:nvPr/>
        </p:nvSpPr>
        <p:spPr>
          <a:xfrm>
            <a:off x="731520" y="438912"/>
            <a:ext cx="8686800" cy="338554"/>
          </a:xfrm>
          <a:prstGeom prst="rect">
            <a:avLst/>
          </a:prstGeom>
          <a:noFill/>
        </p:spPr>
        <p:txBody>
          <a:bodyPr wrap="square" lIns="0" tIns="0">
            <a:spAutoFit/>
          </a:bodyPr>
          <a:lstStyle/>
          <a:p>
            <a:pPr>
              <a:defRPr sz="1900" b="1">
                <a:solidFill>
                  <a:srgbClr val="0A2540"/>
                </a:solidFill>
                <a:latin typeface="Segoe UI"/>
              </a:defRPr>
            </a:pPr>
            <a:r>
              <a:rPr lang="vi-VN" dirty="0"/>
              <a:t>Mô Hình BPMN Của Quy Trình Phát Triển Phần Mềm</a:t>
            </a:r>
          </a:p>
        </p:txBody>
      </p:sp>
      <p:pic>
        <p:nvPicPr>
          <p:cNvPr id="7" name="Picture 6" descr="fpt_software_logo.png">
            <a:extLst>
              <a:ext uri="{FF2B5EF4-FFF2-40B4-BE49-F238E27FC236}">
                <a16:creationId xmlns:a16="http://schemas.microsoft.com/office/drawing/2014/main" id="{37B4AE3A-1BD6-C899-08BB-2F82DF3FCB6A}"/>
              </a:ext>
            </a:extLst>
          </p:cNvPr>
          <p:cNvPicPr>
            <a:picLocks noChangeAspect="1"/>
          </p:cNvPicPr>
          <p:nvPr/>
        </p:nvPicPr>
        <p:blipFill>
          <a:blip r:embed="rId2"/>
          <a:stretch>
            <a:fillRect/>
          </a:stretch>
        </p:blipFill>
        <p:spPr>
          <a:xfrm>
            <a:off x="9784080" y="201168"/>
            <a:ext cx="1691640" cy="422910"/>
          </a:xfrm>
          <a:prstGeom prst="rect">
            <a:avLst/>
          </a:prstGeom>
        </p:spPr>
      </p:pic>
      <p:sp>
        <p:nvSpPr>
          <p:cNvPr id="8" name="Rectangle 7">
            <a:extLst>
              <a:ext uri="{FF2B5EF4-FFF2-40B4-BE49-F238E27FC236}">
                <a16:creationId xmlns:a16="http://schemas.microsoft.com/office/drawing/2014/main" id="{793DF138-DC34-6321-AB71-3958F04094C8}"/>
              </a:ext>
            </a:extLst>
          </p:cNvPr>
          <p:cNvSpPr/>
          <p:nvPr/>
        </p:nvSpPr>
        <p:spPr>
          <a:xfrm>
            <a:off x="731520" y="6419088"/>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a:extLst>
              <a:ext uri="{FF2B5EF4-FFF2-40B4-BE49-F238E27FC236}">
                <a16:creationId xmlns:a16="http://schemas.microsoft.com/office/drawing/2014/main" id="{E808502B-7D0D-4834-CB80-EAAE15BCB596}"/>
              </a:ext>
            </a:extLst>
          </p:cNvPr>
          <p:cNvSpPr txBox="1"/>
          <p:nvPr/>
        </p:nvSpPr>
        <p:spPr>
          <a:xfrm>
            <a:off x="731520" y="6473952"/>
            <a:ext cx="7772400" cy="274320"/>
          </a:xfrm>
          <a:prstGeom prst="rect">
            <a:avLst/>
          </a:prstGeom>
          <a:noFill/>
        </p:spPr>
        <p:txBody>
          <a:bodyPr wrap="none">
            <a:spAutoFit/>
          </a:bodyPr>
          <a:lstStyle/>
          <a:p>
            <a:pPr>
              <a:defRPr sz="850">
                <a:solidFill>
                  <a:srgbClr val="64748B"/>
                </a:solidFill>
                <a:latin typeface="Segoe UI"/>
              </a:defRPr>
            </a:pPr>
            <a:r>
              <a:t>FPT Software | Hệ thống Quản trị Quy trình Nghiệp vụ (BPM) - Đồ án Môn học - Nhóm 8</a:t>
            </a:r>
          </a:p>
        </p:txBody>
      </p:sp>
      <p:sp>
        <p:nvSpPr>
          <p:cNvPr id="10" name="TextBox 9">
            <a:extLst>
              <a:ext uri="{FF2B5EF4-FFF2-40B4-BE49-F238E27FC236}">
                <a16:creationId xmlns:a16="http://schemas.microsoft.com/office/drawing/2014/main" id="{79AA3055-0434-69C6-2338-F46B0879ED74}"/>
              </a:ext>
            </a:extLst>
          </p:cNvPr>
          <p:cNvSpPr txBox="1"/>
          <p:nvPr/>
        </p:nvSpPr>
        <p:spPr>
          <a:xfrm>
            <a:off x="10058400" y="6473952"/>
            <a:ext cx="1371600" cy="274320"/>
          </a:xfrm>
          <a:prstGeom prst="rect">
            <a:avLst/>
          </a:prstGeom>
          <a:noFill/>
        </p:spPr>
        <p:txBody>
          <a:bodyPr wrap="none">
            <a:spAutoFit/>
          </a:bodyPr>
          <a:lstStyle/>
          <a:p>
            <a:pPr algn="r">
              <a:defRPr sz="850" b="1">
                <a:solidFill>
                  <a:srgbClr val="005BAA"/>
                </a:solidFill>
                <a:latin typeface="Segoe UI"/>
              </a:defRPr>
            </a:pPr>
            <a:r>
              <a:t>18 / 27</a:t>
            </a:r>
          </a:p>
        </p:txBody>
      </p:sp>
      <p:pic>
        <p:nvPicPr>
          <p:cNvPr id="19" name="Graphic 18">
            <a:extLst>
              <a:ext uri="{FF2B5EF4-FFF2-40B4-BE49-F238E27FC236}">
                <a16:creationId xmlns:a16="http://schemas.microsoft.com/office/drawing/2014/main" id="{DE87032D-D9F4-D2EF-F3A2-19BF45CC3FB8}"/>
              </a:ext>
            </a:extLst>
          </p:cNvPr>
          <p:cNvPicPr>
            <a:picLocks noChangeAspect="1"/>
          </p:cNvPicPr>
          <p:nvPr/>
        </p:nvPicPr>
        <p:blipFill>
          <a:blip>
            <a:extLst>
              <a:ext uri="{96DAC541-7B7A-43D3-8B79-37D633B846F1}">
                <asvg:svgBlip xmlns:asvg="http://schemas.microsoft.com/office/drawing/2016/SVG/main" r:embed="rId3"/>
              </a:ext>
            </a:extLst>
          </a:blip>
          <a:srcRect r="4489"/>
          <a:stretch>
            <a:fillRect/>
          </a:stretch>
        </p:blipFill>
        <p:spPr>
          <a:xfrm>
            <a:off x="0" y="1987301"/>
            <a:ext cx="12177352" cy="3015357"/>
          </a:xfrm>
          <a:prstGeom prst="rect">
            <a:avLst/>
          </a:prstGeom>
        </p:spPr>
      </p:pic>
    </p:spTree>
    <p:extLst>
      <p:ext uri="{BB962C8B-B14F-4D97-AF65-F5344CB8AC3E}">
        <p14:creationId xmlns:p14="http://schemas.microsoft.com/office/powerpoint/2010/main" val="319637885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7899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731520" y="1051560"/>
            <a:ext cx="7772400" cy="36576"/>
          </a:xfrm>
          <a:prstGeom prst="rect">
            <a:avLst/>
          </a:prstGeom>
          <a:solidFill>
            <a:srgbClr val="005B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8503920" y="1051560"/>
            <a:ext cx="2926080" cy="36576"/>
          </a:xfrm>
          <a:prstGeom prst="rect">
            <a:avLst/>
          </a:prstGeom>
          <a:solidFill>
            <a:srgbClr val="F370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731520" y="146304"/>
            <a:ext cx="3840480" cy="256032"/>
          </a:xfrm>
          <a:prstGeom prst="roundRect">
            <a:avLst/>
          </a:prstGeom>
          <a:solidFill>
            <a:srgbClr val="FFF7ED"/>
          </a:solidFill>
          <a:ln w="9525">
            <a:solidFill>
              <a:srgbClr val="F37021"/>
            </a:solidFill>
          </a:ln>
        </p:spPr>
        <p:style>
          <a:lnRef idx="1">
            <a:schemeClr val="accent1"/>
          </a:lnRef>
          <a:fillRef idx="3">
            <a:schemeClr val="accent1"/>
          </a:fillRef>
          <a:effectRef idx="2">
            <a:schemeClr val="accent1"/>
          </a:effectRef>
          <a:fontRef idx="minor">
            <a:schemeClr val="lt1"/>
          </a:fontRef>
        </p:style>
        <p:txBody>
          <a:bodyPr wrap="square" lIns="109728" tIns="18288" rtlCol="0" anchor="ctr"/>
          <a:lstStyle/>
          <a:p>
            <a:pPr algn="ctr">
              <a:defRPr sz="950" b="1">
                <a:solidFill>
                  <a:srgbClr val="F37021"/>
                </a:solidFill>
                <a:latin typeface="Segoe UI"/>
              </a:defRPr>
            </a:pPr>
            <a:r>
              <a:t>PHẦN 4: QUY TRÌNH CỐT LÕI</a:t>
            </a:r>
          </a:p>
        </p:txBody>
      </p:sp>
      <p:sp>
        <p:nvSpPr>
          <p:cNvPr id="6" name="TextBox 5"/>
          <p:cNvSpPr txBox="1"/>
          <p:nvPr/>
        </p:nvSpPr>
        <p:spPr>
          <a:xfrm>
            <a:off x="731520" y="438912"/>
            <a:ext cx="8686800" cy="338554"/>
          </a:xfrm>
          <a:prstGeom prst="rect">
            <a:avLst/>
          </a:prstGeom>
          <a:noFill/>
        </p:spPr>
        <p:txBody>
          <a:bodyPr wrap="square" lIns="0" tIns="0">
            <a:spAutoFit/>
          </a:bodyPr>
          <a:lstStyle/>
          <a:p>
            <a:pPr>
              <a:defRPr sz="1900" b="1">
                <a:solidFill>
                  <a:srgbClr val="0A2540"/>
                </a:solidFill>
                <a:latin typeface="Segoe UI"/>
              </a:defRPr>
            </a:pPr>
            <a:r>
              <a:rPr lang="vi-VN" dirty="0"/>
              <a:t>Khai Phá Quy Trình Bằng Các Câu Hỏi Định Tính</a:t>
            </a:r>
          </a:p>
        </p:txBody>
      </p:sp>
      <p:pic>
        <p:nvPicPr>
          <p:cNvPr id="7" name="Picture 6" descr="fpt_software_logo.png"/>
          <p:cNvPicPr>
            <a:picLocks noChangeAspect="1"/>
          </p:cNvPicPr>
          <p:nvPr/>
        </p:nvPicPr>
        <p:blipFill>
          <a:blip r:embed="rId2"/>
          <a:stretch>
            <a:fillRect/>
          </a:stretch>
        </p:blipFill>
        <p:spPr>
          <a:xfrm>
            <a:off x="9784080" y="201168"/>
            <a:ext cx="1691640" cy="422910"/>
          </a:xfrm>
          <a:prstGeom prst="rect">
            <a:avLst/>
          </a:prstGeom>
        </p:spPr>
      </p:pic>
      <p:sp>
        <p:nvSpPr>
          <p:cNvPr id="8" name="Rectangle 7"/>
          <p:cNvSpPr/>
          <p:nvPr/>
        </p:nvSpPr>
        <p:spPr>
          <a:xfrm>
            <a:off x="731520" y="6419088"/>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31520" y="6473952"/>
            <a:ext cx="7772400" cy="274320"/>
          </a:xfrm>
          <a:prstGeom prst="rect">
            <a:avLst/>
          </a:prstGeom>
          <a:noFill/>
        </p:spPr>
        <p:txBody>
          <a:bodyPr wrap="none">
            <a:spAutoFit/>
          </a:bodyPr>
          <a:lstStyle/>
          <a:p>
            <a:pPr>
              <a:defRPr sz="850">
                <a:solidFill>
                  <a:srgbClr val="64748B"/>
                </a:solidFill>
                <a:latin typeface="Segoe UI"/>
              </a:defRPr>
            </a:pPr>
            <a:r>
              <a:t>FPT Software | Hệ thống Quản trị Quy trình Nghiệp vụ (BPM) - Đồ án Môn học - Nhóm 8</a:t>
            </a:r>
          </a:p>
        </p:txBody>
      </p:sp>
      <p:sp>
        <p:nvSpPr>
          <p:cNvPr id="10" name="TextBox 9"/>
          <p:cNvSpPr txBox="1"/>
          <p:nvPr/>
        </p:nvSpPr>
        <p:spPr>
          <a:xfrm>
            <a:off x="10058400" y="6473952"/>
            <a:ext cx="1371600" cy="274320"/>
          </a:xfrm>
          <a:prstGeom prst="rect">
            <a:avLst/>
          </a:prstGeom>
          <a:noFill/>
        </p:spPr>
        <p:txBody>
          <a:bodyPr wrap="none">
            <a:spAutoFit/>
          </a:bodyPr>
          <a:lstStyle/>
          <a:p>
            <a:pPr algn="r">
              <a:defRPr sz="850" b="1">
                <a:solidFill>
                  <a:srgbClr val="005BAA"/>
                </a:solidFill>
                <a:latin typeface="Segoe UI"/>
              </a:defRPr>
            </a:pPr>
            <a:r>
              <a:t>19 / 27</a:t>
            </a:r>
          </a:p>
        </p:txBody>
      </p:sp>
      <p:sp>
        <p:nvSpPr>
          <p:cNvPr id="11" name="Rounded Rectangle 10"/>
          <p:cNvSpPr/>
          <p:nvPr/>
        </p:nvSpPr>
        <p:spPr>
          <a:xfrm>
            <a:off x="731521" y="1179576"/>
            <a:ext cx="5242254" cy="5148072"/>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wrap="square" lIns="182880" tIns="164592" rIns="182880" bIns="164592" rtlCol="0" anchor="ctr"/>
          <a:lstStyle/>
          <a:p>
            <a:pPr algn="ctr">
              <a:spcAft>
                <a:spcPts val="600"/>
              </a:spcAft>
              <a:defRPr sz="1300" b="1">
                <a:solidFill>
                  <a:srgbClr val="0A2540"/>
                </a:solidFill>
                <a:latin typeface="Segoe UI"/>
              </a:defRPr>
            </a:pPr>
            <a:r>
              <a:rPr lang="vi-VN" dirty="0"/>
              <a:t>CÂU HỎI CÓ CẤU TRÚC</a:t>
            </a:r>
          </a:p>
          <a:p>
            <a:pPr>
              <a:spcAft>
                <a:spcPts val="300"/>
              </a:spcAft>
              <a:defRPr sz="1050">
                <a:solidFill>
                  <a:srgbClr val="1E293B"/>
                </a:solidFill>
                <a:latin typeface="Segoe UI"/>
              </a:defRPr>
            </a:pPr>
            <a:r>
              <a:rPr lang="vi-VN" sz="850" b="1" dirty="0">
                <a:solidFill>
                  <a:srgbClr val="F37021"/>
                </a:solidFill>
                <a:latin typeface="Segoe UI"/>
              </a:rPr>
              <a:t>PM: Anh/chị đánh giá thế nào về tính minh bạch của quy trình xử lý Change Request hiện tại?  </a:t>
            </a:r>
          </a:p>
          <a:p>
            <a:pPr marL="228600" indent="-228600">
              <a:spcAft>
                <a:spcPts val="300"/>
              </a:spcAft>
              <a:buFont typeface="+mj-lt"/>
              <a:buAutoNum type="alphaUcPeriod"/>
              <a:defRPr sz="1050">
                <a:solidFill>
                  <a:srgbClr val="1E293B"/>
                </a:solidFill>
                <a:latin typeface="Segoe UI"/>
              </a:defRPr>
            </a:pPr>
            <a:r>
              <a:rPr lang="vi-VN" sz="850" dirty="0"/>
              <a:t>Rất minh bạch  </a:t>
            </a:r>
          </a:p>
          <a:p>
            <a:pPr marL="228600" indent="-228600">
              <a:spcAft>
                <a:spcPts val="300"/>
              </a:spcAft>
              <a:buFont typeface="+mj-lt"/>
              <a:buAutoNum type="alphaUcPeriod"/>
              <a:defRPr sz="1050">
                <a:solidFill>
                  <a:srgbClr val="1E293B"/>
                </a:solidFill>
                <a:latin typeface="Segoe UI"/>
              </a:defRPr>
            </a:pPr>
            <a:r>
              <a:rPr lang="vi-VN" sz="850" dirty="0"/>
              <a:t>Bình thường  </a:t>
            </a:r>
          </a:p>
          <a:p>
            <a:pPr marL="228600" indent="-228600">
              <a:spcAft>
                <a:spcPts val="300"/>
              </a:spcAft>
              <a:buFont typeface="+mj-lt"/>
              <a:buAutoNum type="alphaUcPeriod"/>
              <a:defRPr sz="1050">
                <a:solidFill>
                  <a:srgbClr val="1E293B"/>
                </a:solidFill>
                <a:latin typeface="Segoe UI"/>
              </a:defRPr>
            </a:pPr>
            <a:r>
              <a:rPr lang="vi-VN" sz="850" dirty="0"/>
              <a:t>Không minh bạch  </a:t>
            </a:r>
          </a:p>
          <a:p>
            <a:pPr marL="228600" indent="-228600">
              <a:spcAft>
                <a:spcPts val="300"/>
              </a:spcAft>
              <a:buFont typeface="+mj-lt"/>
              <a:buAutoNum type="alphaUcPeriod"/>
              <a:defRPr sz="1050">
                <a:solidFill>
                  <a:srgbClr val="1E293B"/>
                </a:solidFill>
                <a:latin typeface="Segoe UI"/>
              </a:defRPr>
            </a:pPr>
            <a:r>
              <a:rPr lang="vi-VN" sz="850" dirty="0"/>
              <a:t>Rất không minh bạch</a:t>
            </a:r>
          </a:p>
          <a:p>
            <a:pPr>
              <a:spcAft>
                <a:spcPts val="300"/>
              </a:spcAft>
              <a:defRPr sz="1050">
                <a:solidFill>
                  <a:srgbClr val="1E293B"/>
                </a:solidFill>
                <a:latin typeface="Segoe UI"/>
              </a:defRPr>
            </a:pPr>
            <a:r>
              <a:rPr lang="vi-VN" sz="850" b="1" dirty="0">
                <a:solidFill>
                  <a:srgbClr val="F37021"/>
                </a:solidFill>
                <a:latin typeface="Segoe UI"/>
              </a:rPr>
              <a:t>BA: Khó khăn lớn nhất khi chốt tài liệu đặc tả (SRS) với khách hàng là gì?  </a:t>
            </a:r>
          </a:p>
          <a:p>
            <a:pPr marL="228600" indent="-228600">
              <a:spcAft>
                <a:spcPts val="300"/>
              </a:spcAft>
              <a:buFont typeface="+mj-lt"/>
              <a:buAutoNum type="alphaUcPeriod"/>
              <a:defRPr sz="1050">
                <a:solidFill>
                  <a:srgbClr val="1E293B"/>
                </a:solidFill>
                <a:latin typeface="Segoe UI"/>
              </a:defRPr>
            </a:pPr>
            <a:r>
              <a:rPr lang="vi-VN" sz="850" dirty="0"/>
              <a:t>Khách hàng không nắm rõ nghiệp vụ  </a:t>
            </a:r>
          </a:p>
          <a:p>
            <a:pPr marL="228600" indent="-228600">
              <a:spcAft>
                <a:spcPts val="300"/>
              </a:spcAft>
              <a:buFont typeface="+mj-lt"/>
              <a:buAutoNum type="alphaUcPeriod"/>
              <a:defRPr sz="1050">
                <a:solidFill>
                  <a:srgbClr val="1E293B"/>
                </a:solidFill>
                <a:latin typeface="Segoe UI"/>
              </a:defRPr>
            </a:pPr>
            <a:r>
              <a:rPr lang="vi-VN" sz="850" dirty="0"/>
              <a:t>Yêu cầu thay đổi liên tục  </a:t>
            </a:r>
          </a:p>
          <a:p>
            <a:pPr marL="228600" indent="-228600">
              <a:spcAft>
                <a:spcPts val="300"/>
              </a:spcAft>
              <a:buFont typeface="+mj-lt"/>
              <a:buAutoNum type="alphaUcPeriod"/>
              <a:defRPr sz="1050">
                <a:solidFill>
                  <a:srgbClr val="1E293B"/>
                </a:solidFill>
                <a:latin typeface="Segoe UI"/>
              </a:defRPr>
            </a:pPr>
            <a:r>
              <a:rPr lang="vi-VN" sz="850" dirty="0"/>
              <a:t>Tài liệu chưa rõ ràng  </a:t>
            </a:r>
          </a:p>
          <a:p>
            <a:pPr marL="228600" indent="-228600">
              <a:spcAft>
                <a:spcPts val="300"/>
              </a:spcAft>
              <a:buFont typeface="+mj-lt"/>
              <a:buAutoNum type="alphaUcPeriod"/>
              <a:defRPr sz="1050">
                <a:solidFill>
                  <a:srgbClr val="1E293B"/>
                </a:solidFill>
                <a:latin typeface="Segoe UI"/>
              </a:defRPr>
            </a:pPr>
            <a:r>
              <a:rPr lang="vi-VN" sz="850" dirty="0"/>
              <a:t>Khác</a:t>
            </a:r>
          </a:p>
          <a:p>
            <a:pPr>
              <a:spcAft>
                <a:spcPts val="300"/>
              </a:spcAft>
              <a:defRPr sz="1050">
                <a:solidFill>
                  <a:srgbClr val="1E293B"/>
                </a:solidFill>
                <a:latin typeface="Segoe UI"/>
              </a:defRPr>
            </a:pPr>
            <a:r>
              <a:rPr lang="vi-VN" sz="850" b="1" dirty="0">
                <a:solidFill>
                  <a:srgbClr val="F37021"/>
                </a:solidFill>
                <a:latin typeface="Segoe UI"/>
              </a:rPr>
              <a:t>QA: Theo anh/chị, nguyên nhân cốt lõi nào dẫn đến việc phát hiện lỗi trễ ở khâu UAT thay vì ở khâu Test nội bộ?  </a:t>
            </a:r>
          </a:p>
          <a:p>
            <a:pPr marL="228600" indent="-228600">
              <a:spcAft>
                <a:spcPts val="300"/>
              </a:spcAft>
              <a:buFont typeface="+mj-lt"/>
              <a:buAutoNum type="alphaUcPeriod"/>
              <a:defRPr sz="1050">
                <a:solidFill>
                  <a:srgbClr val="1E293B"/>
                </a:solidFill>
                <a:latin typeface="Segoe UI"/>
              </a:defRPr>
            </a:pPr>
            <a:r>
              <a:rPr lang="vi-VN" sz="850" dirty="0"/>
              <a:t>Test case chưa đầy đủ  </a:t>
            </a:r>
          </a:p>
          <a:p>
            <a:pPr marL="228600" indent="-228600">
              <a:spcAft>
                <a:spcPts val="300"/>
              </a:spcAft>
              <a:buFont typeface="+mj-lt"/>
              <a:buAutoNum type="alphaUcPeriod"/>
              <a:defRPr sz="1050">
                <a:solidFill>
                  <a:srgbClr val="1E293B"/>
                </a:solidFill>
                <a:latin typeface="Segoe UI"/>
              </a:defRPr>
            </a:pPr>
            <a:r>
              <a:rPr lang="vi-VN" sz="850" dirty="0"/>
              <a:t>Môi trường UAT không tương đồng  </a:t>
            </a:r>
          </a:p>
          <a:p>
            <a:pPr marL="228600" indent="-228600">
              <a:spcAft>
                <a:spcPts val="300"/>
              </a:spcAft>
              <a:buFont typeface="+mj-lt"/>
              <a:buAutoNum type="alphaUcPeriod"/>
              <a:defRPr sz="1050">
                <a:solidFill>
                  <a:srgbClr val="1E293B"/>
                </a:solidFill>
                <a:latin typeface="Segoe UI"/>
              </a:defRPr>
            </a:pPr>
            <a:r>
              <a:rPr lang="vi-VN" sz="850" dirty="0"/>
              <a:t>Khách hàng chưa có kịch bản rõ ràng  </a:t>
            </a:r>
          </a:p>
          <a:p>
            <a:pPr marL="228600" indent="-228600">
              <a:spcAft>
                <a:spcPts val="300"/>
              </a:spcAft>
              <a:buFont typeface="+mj-lt"/>
              <a:buAutoNum type="alphaUcPeriod"/>
              <a:defRPr sz="1050">
                <a:solidFill>
                  <a:srgbClr val="1E293B"/>
                </a:solidFill>
                <a:latin typeface="Segoe UI"/>
              </a:defRPr>
            </a:pPr>
            <a:r>
              <a:rPr lang="vi-VN" sz="850" dirty="0"/>
              <a:t>Khác</a:t>
            </a:r>
          </a:p>
          <a:p>
            <a:pPr>
              <a:spcAft>
                <a:spcPts val="300"/>
              </a:spcAft>
              <a:defRPr sz="1050">
                <a:solidFill>
                  <a:srgbClr val="1E293B"/>
                </a:solidFill>
                <a:latin typeface="Segoe UI"/>
              </a:defRPr>
            </a:pPr>
            <a:r>
              <a:rPr lang="vi-VN" sz="850" b="1" dirty="0">
                <a:solidFill>
                  <a:srgbClr val="F37021"/>
                </a:solidFill>
                <a:latin typeface="Segoe UI"/>
              </a:rPr>
              <a:t>Sales: Khách hàng thường phàn nàn về vấn đề gì nhất ở giai đoạn chốt báo giá sơ bộ?  </a:t>
            </a:r>
          </a:p>
          <a:p>
            <a:pPr marL="228600" indent="-228600">
              <a:spcAft>
                <a:spcPts val="300"/>
              </a:spcAft>
              <a:buFont typeface="+mj-lt"/>
              <a:buAutoNum type="alphaUcPeriod"/>
              <a:defRPr sz="1050">
                <a:solidFill>
                  <a:srgbClr val="1E293B"/>
                </a:solidFill>
                <a:latin typeface="Segoe UI"/>
              </a:defRPr>
            </a:pPr>
            <a:r>
              <a:rPr lang="vi-VN" sz="850" dirty="0"/>
              <a:t>Chi phí cao  </a:t>
            </a:r>
          </a:p>
          <a:p>
            <a:pPr marL="228600" indent="-228600">
              <a:spcAft>
                <a:spcPts val="300"/>
              </a:spcAft>
              <a:buFont typeface="+mj-lt"/>
              <a:buAutoNum type="alphaUcPeriod"/>
              <a:defRPr sz="1050">
                <a:solidFill>
                  <a:srgbClr val="1E293B"/>
                </a:solidFill>
                <a:latin typeface="Segoe UI"/>
              </a:defRPr>
            </a:pPr>
            <a:r>
              <a:rPr lang="vi-VN" sz="850" dirty="0"/>
              <a:t>Phạm vi chưa rõ  </a:t>
            </a:r>
          </a:p>
          <a:p>
            <a:pPr marL="228600" indent="-228600">
              <a:spcAft>
                <a:spcPts val="300"/>
              </a:spcAft>
              <a:buFont typeface="+mj-lt"/>
              <a:buAutoNum type="alphaUcPeriod"/>
              <a:defRPr sz="1050">
                <a:solidFill>
                  <a:srgbClr val="1E293B"/>
                </a:solidFill>
                <a:latin typeface="Segoe UI"/>
              </a:defRPr>
            </a:pPr>
            <a:r>
              <a:rPr lang="vi-VN" sz="850" dirty="0"/>
              <a:t>Thời gian chốt quá lâu  </a:t>
            </a:r>
          </a:p>
          <a:p>
            <a:pPr marL="228600" indent="-228600">
              <a:spcAft>
                <a:spcPts val="300"/>
              </a:spcAft>
              <a:buFont typeface="+mj-lt"/>
              <a:buAutoNum type="alphaUcPeriod"/>
              <a:defRPr sz="1050">
                <a:solidFill>
                  <a:srgbClr val="1E293B"/>
                </a:solidFill>
                <a:latin typeface="Segoe UI"/>
              </a:defRPr>
            </a:pPr>
            <a:r>
              <a:rPr lang="vi-VN" sz="850" dirty="0"/>
              <a:t>Khác</a:t>
            </a:r>
          </a:p>
          <a:p>
            <a:pPr>
              <a:spcAft>
                <a:spcPts val="300"/>
              </a:spcAft>
              <a:defRPr sz="1050">
                <a:solidFill>
                  <a:srgbClr val="1E293B"/>
                </a:solidFill>
                <a:latin typeface="Segoe UI"/>
              </a:defRPr>
            </a:pPr>
            <a:r>
              <a:rPr lang="vi-VN" sz="850" b="1" dirty="0">
                <a:solidFill>
                  <a:srgbClr val="F37021"/>
                </a:solidFill>
                <a:latin typeface="Segoe UI"/>
              </a:rPr>
              <a:t>Dev: Môi trường Test và UAT hiện tại có đáp ứng đủ nhu cầu triển khai độc lập của team không?  </a:t>
            </a:r>
          </a:p>
          <a:p>
            <a:pPr marL="228600" indent="-228600">
              <a:spcAft>
                <a:spcPts val="300"/>
              </a:spcAft>
              <a:buFont typeface="+mj-lt"/>
              <a:buAutoNum type="alphaUcPeriod"/>
              <a:defRPr sz="1050">
                <a:solidFill>
                  <a:srgbClr val="1E293B"/>
                </a:solidFill>
                <a:latin typeface="Segoe UI"/>
              </a:defRPr>
            </a:pPr>
            <a:r>
              <a:rPr lang="vi-VN" sz="850" dirty="0"/>
              <a:t>Hoàn toàn đáp ứng  </a:t>
            </a:r>
          </a:p>
          <a:p>
            <a:pPr marL="228600" indent="-228600">
              <a:spcAft>
                <a:spcPts val="300"/>
              </a:spcAft>
              <a:buFont typeface="+mj-lt"/>
              <a:buAutoNum type="alphaUcPeriod"/>
              <a:defRPr sz="1050">
                <a:solidFill>
                  <a:srgbClr val="1E293B"/>
                </a:solidFill>
                <a:latin typeface="Segoe UI"/>
              </a:defRPr>
            </a:pPr>
            <a:r>
              <a:rPr lang="vi-VN" sz="850" dirty="0"/>
              <a:t>Đáp ứng một phần  </a:t>
            </a:r>
          </a:p>
          <a:p>
            <a:pPr marL="228600" indent="-228600">
              <a:spcAft>
                <a:spcPts val="300"/>
              </a:spcAft>
              <a:buFont typeface="+mj-lt"/>
              <a:buAutoNum type="alphaUcPeriod"/>
              <a:defRPr sz="1050">
                <a:solidFill>
                  <a:srgbClr val="1E293B"/>
                </a:solidFill>
                <a:latin typeface="Segoe UI"/>
              </a:defRPr>
            </a:pPr>
            <a:r>
              <a:rPr lang="vi-VN" sz="850" dirty="0"/>
              <a:t>Không đáp ứng  </a:t>
            </a:r>
          </a:p>
          <a:p>
            <a:pPr marL="228600" indent="-228600">
              <a:spcAft>
                <a:spcPts val="300"/>
              </a:spcAft>
              <a:buFont typeface="+mj-lt"/>
              <a:buAutoNum type="alphaUcPeriod"/>
              <a:defRPr sz="1050">
                <a:solidFill>
                  <a:srgbClr val="1E293B"/>
                </a:solidFill>
                <a:latin typeface="Segoe UI"/>
              </a:defRPr>
            </a:pPr>
            <a:r>
              <a:rPr lang="vi-VN" sz="850" dirty="0"/>
              <a:t>Chưa đánh giá</a:t>
            </a:r>
          </a:p>
        </p:txBody>
      </p:sp>
      <p:sp>
        <p:nvSpPr>
          <p:cNvPr id="12" name="Rounded Rectangle 11"/>
          <p:cNvSpPr/>
          <p:nvPr/>
        </p:nvSpPr>
        <p:spPr>
          <a:xfrm>
            <a:off x="6233465" y="1170432"/>
            <a:ext cx="5242255" cy="5157216"/>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wrap="square" lIns="182880" tIns="164592" rIns="182880" bIns="164592" rtlCol="0" anchor="ctr"/>
          <a:lstStyle/>
          <a:p>
            <a:pPr algn="ctr">
              <a:spcAft>
                <a:spcPts val="600"/>
              </a:spcAft>
              <a:defRPr sz="1300" b="1">
                <a:solidFill>
                  <a:srgbClr val="0DB14B"/>
                </a:solidFill>
                <a:latin typeface="Segoe UI"/>
              </a:defRPr>
            </a:pPr>
            <a:r>
              <a:rPr lang="vi-VN" dirty="0"/>
              <a:t>CÂU HỎI KHÔNG CÓ CẤU TRÚC</a:t>
            </a:r>
          </a:p>
          <a:p>
            <a:pPr marL="171450" indent="-171450">
              <a:spcAft>
                <a:spcPts val="300"/>
              </a:spcAft>
              <a:buFont typeface="Arial" panose="020B0604020202020204" pitchFamily="34" charset="0"/>
              <a:buChar char="•"/>
              <a:defRPr sz="1050">
                <a:solidFill>
                  <a:srgbClr val="1E293B"/>
                </a:solidFill>
                <a:latin typeface="Segoe UI"/>
              </a:defRPr>
            </a:pPr>
            <a:r>
              <a:rPr lang="vi-VN" dirty="0"/>
              <a:t>Hãy kể về một dự án gần đây mà tình trạng "phình to phạm vi" (scope creep) xảy ra nghiêm trọng nhất. Anh/chị đã xử lý tình huống đó ra sao?</a:t>
            </a:r>
          </a:p>
          <a:p>
            <a:pPr marL="171450" indent="-171450">
              <a:spcAft>
                <a:spcPts val="300"/>
              </a:spcAft>
              <a:buFont typeface="Arial" panose="020B0604020202020204" pitchFamily="34" charset="0"/>
              <a:buChar char="•"/>
              <a:defRPr sz="1050">
                <a:solidFill>
                  <a:srgbClr val="1E293B"/>
                </a:solidFill>
                <a:latin typeface="Segoe UI"/>
              </a:defRPr>
            </a:pPr>
            <a:r>
              <a:rPr lang="vi-VN" dirty="0"/>
              <a:t>Điều gì làm anh/chị cảm thấy hoang mang hoặc chưa hài lòng nhất trong quá trình nghiệm thu phần mềm?</a:t>
            </a:r>
          </a:p>
          <a:p>
            <a:pPr marL="171450" indent="-171450">
              <a:spcAft>
                <a:spcPts val="300"/>
              </a:spcAft>
              <a:buFont typeface="Arial" panose="020B0604020202020204" pitchFamily="34" charset="0"/>
              <a:buChar char="•"/>
              <a:defRPr sz="1050">
                <a:solidFill>
                  <a:srgbClr val="1E293B"/>
                </a:solidFill>
                <a:latin typeface="Segoe UI"/>
              </a:defRPr>
            </a:pPr>
            <a:r>
              <a:rPr lang="vi-VN" dirty="0"/>
              <a:t>Giả sử được quyền thay đổi một bước duy nhất trong cách giao tiếp với khách hàng, anh/chị sẽ thay đổi điều gì để chốt scope nhanh hơn?</a:t>
            </a:r>
          </a:p>
          <a:p>
            <a:pPr marL="171450" indent="-171450">
              <a:spcAft>
                <a:spcPts val="300"/>
              </a:spcAft>
              <a:buFont typeface="Arial" panose="020B0604020202020204" pitchFamily="34" charset="0"/>
              <a:buChar char="•"/>
              <a:defRPr sz="1050">
                <a:solidFill>
                  <a:srgbClr val="1E293B"/>
                </a:solidFill>
                <a:latin typeface="Segoe UI"/>
              </a:defRPr>
            </a:pPr>
            <a:r>
              <a:rPr lang="vi-VN" dirty="0"/>
              <a:t>Kể lại một cuộc tranh luận đáng nhớ nhất giữa anh/chị và team Dev về việc xác định "đây là lỗi hay là tính năng mới".</a:t>
            </a:r>
          </a:p>
          <a:p>
            <a:pPr marL="171450" indent="-171450">
              <a:spcAft>
                <a:spcPts val="300"/>
              </a:spcAft>
              <a:buFont typeface="Arial" panose="020B0604020202020204" pitchFamily="34" charset="0"/>
              <a:buChar char="•"/>
              <a:defRPr sz="1050">
                <a:solidFill>
                  <a:srgbClr val="1E293B"/>
                </a:solidFill>
                <a:latin typeface="Segoe UI"/>
              </a:defRPr>
            </a:pPr>
            <a:r>
              <a:rPr lang="vi-VN" dirty="0"/>
              <a:t>Khi khách hàng ép tiến độ nhưng ngân sách thấp, anh/chị thường dùng cách gì để vừa ký được hợp đồng vừa bảo vệ team sản xuất?</a:t>
            </a:r>
            <a:endParaRPr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145CAC-87A7-09D4-84CF-D034C2FC1EDE}"/>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90AB4506-F68B-ADAB-0410-BFA423BA56F5}"/>
              </a:ext>
            </a:extLst>
          </p:cNvPr>
          <p:cNvSpPr/>
          <p:nvPr/>
        </p:nvSpPr>
        <p:spPr>
          <a:xfrm>
            <a:off x="0" y="0"/>
            <a:ext cx="12191695" cy="107899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a:extLst>
              <a:ext uri="{FF2B5EF4-FFF2-40B4-BE49-F238E27FC236}">
                <a16:creationId xmlns:a16="http://schemas.microsoft.com/office/drawing/2014/main" id="{A5A367B1-3FC3-A418-EE54-335A519FF2DC}"/>
              </a:ext>
            </a:extLst>
          </p:cNvPr>
          <p:cNvSpPr/>
          <p:nvPr/>
        </p:nvSpPr>
        <p:spPr>
          <a:xfrm>
            <a:off x="731520" y="1051560"/>
            <a:ext cx="7772400" cy="36576"/>
          </a:xfrm>
          <a:prstGeom prst="rect">
            <a:avLst/>
          </a:prstGeom>
          <a:solidFill>
            <a:srgbClr val="005B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a:extLst>
              <a:ext uri="{FF2B5EF4-FFF2-40B4-BE49-F238E27FC236}">
                <a16:creationId xmlns:a16="http://schemas.microsoft.com/office/drawing/2014/main" id="{E81892CB-BC05-7D2E-C295-E61011381241}"/>
              </a:ext>
            </a:extLst>
          </p:cNvPr>
          <p:cNvSpPr/>
          <p:nvPr/>
        </p:nvSpPr>
        <p:spPr>
          <a:xfrm>
            <a:off x="8503920" y="1051560"/>
            <a:ext cx="2926080" cy="36576"/>
          </a:xfrm>
          <a:prstGeom prst="rect">
            <a:avLst/>
          </a:prstGeom>
          <a:solidFill>
            <a:srgbClr val="F370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a:extLst>
              <a:ext uri="{FF2B5EF4-FFF2-40B4-BE49-F238E27FC236}">
                <a16:creationId xmlns:a16="http://schemas.microsoft.com/office/drawing/2014/main" id="{8C8B6C97-5484-9578-0408-195562E3FFD4}"/>
              </a:ext>
            </a:extLst>
          </p:cNvPr>
          <p:cNvSpPr/>
          <p:nvPr/>
        </p:nvSpPr>
        <p:spPr>
          <a:xfrm>
            <a:off x="731520" y="146304"/>
            <a:ext cx="3840480" cy="256032"/>
          </a:xfrm>
          <a:prstGeom prst="roundRect">
            <a:avLst/>
          </a:prstGeom>
          <a:solidFill>
            <a:srgbClr val="FFF7ED"/>
          </a:solidFill>
          <a:ln w="9525">
            <a:solidFill>
              <a:srgbClr val="F37021"/>
            </a:solidFill>
          </a:ln>
        </p:spPr>
        <p:style>
          <a:lnRef idx="1">
            <a:schemeClr val="accent1"/>
          </a:lnRef>
          <a:fillRef idx="3">
            <a:schemeClr val="accent1"/>
          </a:fillRef>
          <a:effectRef idx="2">
            <a:schemeClr val="accent1"/>
          </a:effectRef>
          <a:fontRef idx="minor">
            <a:schemeClr val="lt1"/>
          </a:fontRef>
        </p:style>
        <p:txBody>
          <a:bodyPr wrap="square" lIns="109728" tIns="18288" rtlCol="0" anchor="ctr"/>
          <a:lstStyle/>
          <a:p>
            <a:pPr algn="ctr">
              <a:defRPr sz="950" b="1">
                <a:solidFill>
                  <a:srgbClr val="F37021"/>
                </a:solidFill>
                <a:latin typeface="Segoe UI"/>
              </a:defRPr>
            </a:pPr>
            <a:r>
              <a:t>PHẦN 4: QUY TRÌNH CỐT LÕI</a:t>
            </a:r>
          </a:p>
        </p:txBody>
      </p:sp>
      <p:sp>
        <p:nvSpPr>
          <p:cNvPr id="6" name="TextBox 5">
            <a:extLst>
              <a:ext uri="{FF2B5EF4-FFF2-40B4-BE49-F238E27FC236}">
                <a16:creationId xmlns:a16="http://schemas.microsoft.com/office/drawing/2014/main" id="{25A9AD5E-98C2-E49D-45C2-D03B4CBD2562}"/>
              </a:ext>
            </a:extLst>
          </p:cNvPr>
          <p:cNvSpPr txBox="1"/>
          <p:nvPr/>
        </p:nvSpPr>
        <p:spPr>
          <a:xfrm>
            <a:off x="731520" y="438912"/>
            <a:ext cx="8686800" cy="338554"/>
          </a:xfrm>
          <a:prstGeom prst="rect">
            <a:avLst/>
          </a:prstGeom>
          <a:noFill/>
        </p:spPr>
        <p:txBody>
          <a:bodyPr wrap="square" lIns="0" tIns="0">
            <a:spAutoFit/>
          </a:bodyPr>
          <a:lstStyle/>
          <a:p>
            <a:pPr>
              <a:defRPr sz="1900" b="1">
                <a:solidFill>
                  <a:srgbClr val="0A2540"/>
                </a:solidFill>
                <a:latin typeface="Segoe UI"/>
              </a:defRPr>
            </a:pPr>
            <a:r>
              <a:rPr lang="vi-VN" dirty="0"/>
              <a:t>Khai Phá Quy Trình Bằng Các Câu Hỏi Định Lượng</a:t>
            </a:r>
          </a:p>
        </p:txBody>
      </p:sp>
      <p:pic>
        <p:nvPicPr>
          <p:cNvPr id="7" name="Picture 6" descr="fpt_software_logo.png">
            <a:extLst>
              <a:ext uri="{FF2B5EF4-FFF2-40B4-BE49-F238E27FC236}">
                <a16:creationId xmlns:a16="http://schemas.microsoft.com/office/drawing/2014/main" id="{B5962D7B-E8DB-C6DF-A61D-AE915D7942A6}"/>
              </a:ext>
            </a:extLst>
          </p:cNvPr>
          <p:cNvPicPr>
            <a:picLocks noChangeAspect="1"/>
          </p:cNvPicPr>
          <p:nvPr/>
        </p:nvPicPr>
        <p:blipFill>
          <a:blip r:embed="rId2"/>
          <a:stretch>
            <a:fillRect/>
          </a:stretch>
        </p:blipFill>
        <p:spPr>
          <a:xfrm>
            <a:off x="9784080" y="201168"/>
            <a:ext cx="1691640" cy="422910"/>
          </a:xfrm>
          <a:prstGeom prst="rect">
            <a:avLst/>
          </a:prstGeom>
        </p:spPr>
      </p:pic>
      <p:sp>
        <p:nvSpPr>
          <p:cNvPr id="8" name="Rectangle 7">
            <a:extLst>
              <a:ext uri="{FF2B5EF4-FFF2-40B4-BE49-F238E27FC236}">
                <a16:creationId xmlns:a16="http://schemas.microsoft.com/office/drawing/2014/main" id="{9E9766C8-D943-36BB-DACD-3BCED530365B}"/>
              </a:ext>
            </a:extLst>
          </p:cNvPr>
          <p:cNvSpPr/>
          <p:nvPr/>
        </p:nvSpPr>
        <p:spPr>
          <a:xfrm>
            <a:off x="731520" y="6419088"/>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a:extLst>
              <a:ext uri="{FF2B5EF4-FFF2-40B4-BE49-F238E27FC236}">
                <a16:creationId xmlns:a16="http://schemas.microsoft.com/office/drawing/2014/main" id="{923BFD3C-07E8-AC9B-681A-0812FF36D24E}"/>
              </a:ext>
            </a:extLst>
          </p:cNvPr>
          <p:cNvSpPr txBox="1"/>
          <p:nvPr/>
        </p:nvSpPr>
        <p:spPr>
          <a:xfrm>
            <a:off x="731520" y="6473952"/>
            <a:ext cx="7772400" cy="274320"/>
          </a:xfrm>
          <a:prstGeom prst="rect">
            <a:avLst/>
          </a:prstGeom>
          <a:noFill/>
        </p:spPr>
        <p:txBody>
          <a:bodyPr wrap="none">
            <a:spAutoFit/>
          </a:bodyPr>
          <a:lstStyle/>
          <a:p>
            <a:pPr>
              <a:defRPr sz="850">
                <a:solidFill>
                  <a:srgbClr val="64748B"/>
                </a:solidFill>
                <a:latin typeface="Segoe UI"/>
              </a:defRPr>
            </a:pPr>
            <a:r>
              <a:t>FPT Software | Hệ thống Quản trị Quy trình Nghiệp vụ (BPM) - Đồ án Môn học - Nhóm 8</a:t>
            </a:r>
          </a:p>
        </p:txBody>
      </p:sp>
      <p:sp>
        <p:nvSpPr>
          <p:cNvPr id="10" name="TextBox 9">
            <a:extLst>
              <a:ext uri="{FF2B5EF4-FFF2-40B4-BE49-F238E27FC236}">
                <a16:creationId xmlns:a16="http://schemas.microsoft.com/office/drawing/2014/main" id="{17B71E36-C26D-92F2-81D1-792E33B1EFA3}"/>
              </a:ext>
            </a:extLst>
          </p:cNvPr>
          <p:cNvSpPr txBox="1"/>
          <p:nvPr/>
        </p:nvSpPr>
        <p:spPr>
          <a:xfrm>
            <a:off x="10058400" y="6473952"/>
            <a:ext cx="1371600" cy="274320"/>
          </a:xfrm>
          <a:prstGeom prst="rect">
            <a:avLst/>
          </a:prstGeom>
          <a:noFill/>
        </p:spPr>
        <p:txBody>
          <a:bodyPr wrap="none">
            <a:spAutoFit/>
          </a:bodyPr>
          <a:lstStyle/>
          <a:p>
            <a:pPr algn="r">
              <a:defRPr sz="850" b="1">
                <a:solidFill>
                  <a:srgbClr val="005BAA"/>
                </a:solidFill>
                <a:latin typeface="Segoe UI"/>
              </a:defRPr>
            </a:pPr>
            <a:r>
              <a:t>19 / 27</a:t>
            </a:r>
          </a:p>
        </p:txBody>
      </p:sp>
      <p:sp>
        <p:nvSpPr>
          <p:cNvPr id="11" name="Rounded Rectangle 10">
            <a:extLst>
              <a:ext uri="{FF2B5EF4-FFF2-40B4-BE49-F238E27FC236}">
                <a16:creationId xmlns:a16="http://schemas.microsoft.com/office/drawing/2014/main" id="{F99252D6-7755-A30A-1577-50A1E38AF16C}"/>
              </a:ext>
            </a:extLst>
          </p:cNvPr>
          <p:cNvSpPr/>
          <p:nvPr/>
        </p:nvSpPr>
        <p:spPr>
          <a:xfrm>
            <a:off x="788165" y="1170432"/>
            <a:ext cx="5242254" cy="5148072"/>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wrap="square" lIns="182880" tIns="164592" rIns="182880" bIns="164592" rtlCol="0" anchor="ctr"/>
          <a:lstStyle/>
          <a:p>
            <a:pPr algn="ctr">
              <a:spcAft>
                <a:spcPts val="600"/>
              </a:spcAft>
              <a:defRPr sz="1300" b="1">
                <a:solidFill>
                  <a:srgbClr val="0A2540"/>
                </a:solidFill>
                <a:latin typeface="Segoe UI"/>
              </a:defRPr>
            </a:pPr>
            <a:r>
              <a:rPr lang="vi-VN" dirty="0"/>
              <a:t>CÂU HỎI CÓ CẤU TRÚC</a:t>
            </a:r>
          </a:p>
          <a:p>
            <a:pPr>
              <a:spcAft>
                <a:spcPts val="300"/>
              </a:spcAft>
              <a:defRPr sz="1050">
                <a:solidFill>
                  <a:srgbClr val="1E293B"/>
                </a:solidFill>
                <a:latin typeface="Segoe UI"/>
              </a:defRPr>
            </a:pPr>
            <a:r>
              <a:rPr lang="vi-VN" sz="850" b="1" dirty="0">
                <a:solidFill>
                  <a:srgbClr val="F37021"/>
                </a:solidFill>
                <a:latin typeface="Segoe UI"/>
              </a:rPr>
              <a:t>Dev: Đánh giá mức độ rõ ràng và hoàn thiện của tài liệu do BA cung cấp trên thang điểm từ 1 đến 5.</a:t>
            </a:r>
          </a:p>
          <a:p>
            <a:pPr>
              <a:spcAft>
                <a:spcPts val="300"/>
              </a:spcAft>
              <a:defRPr sz="1050">
                <a:solidFill>
                  <a:srgbClr val="1E293B"/>
                </a:solidFill>
                <a:latin typeface="Segoe UI"/>
              </a:defRPr>
            </a:pPr>
            <a:r>
              <a:rPr lang="vi-VN" sz="850" dirty="0"/>
              <a:t>1</a:t>
            </a:r>
          </a:p>
          <a:p>
            <a:pPr>
              <a:spcAft>
                <a:spcPts val="300"/>
              </a:spcAft>
              <a:defRPr sz="1050">
                <a:solidFill>
                  <a:srgbClr val="1E293B"/>
                </a:solidFill>
                <a:latin typeface="Segoe UI"/>
              </a:defRPr>
            </a:pPr>
            <a:r>
              <a:rPr lang="vi-VN" sz="850" dirty="0"/>
              <a:t>2</a:t>
            </a:r>
          </a:p>
          <a:p>
            <a:pPr>
              <a:spcAft>
                <a:spcPts val="300"/>
              </a:spcAft>
              <a:defRPr sz="1050">
                <a:solidFill>
                  <a:srgbClr val="1E293B"/>
                </a:solidFill>
                <a:latin typeface="Segoe UI"/>
              </a:defRPr>
            </a:pPr>
            <a:r>
              <a:rPr lang="vi-VN" sz="850" dirty="0"/>
              <a:t>3</a:t>
            </a:r>
          </a:p>
          <a:p>
            <a:pPr>
              <a:spcAft>
                <a:spcPts val="300"/>
              </a:spcAft>
              <a:defRPr sz="1050">
                <a:solidFill>
                  <a:srgbClr val="1E293B"/>
                </a:solidFill>
                <a:latin typeface="Segoe UI"/>
              </a:defRPr>
            </a:pPr>
            <a:r>
              <a:rPr lang="vi-VN" sz="850" dirty="0"/>
              <a:t>4</a:t>
            </a:r>
          </a:p>
          <a:p>
            <a:pPr>
              <a:spcAft>
                <a:spcPts val="300"/>
              </a:spcAft>
              <a:defRPr sz="1050">
                <a:solidFill>
                  <a:srgbClr val="1E293B"/>
                </a:solidFill>
                <a:latin typeface="Segoe UI"/>
              </a:defRPr>
            </a:pPr>
            <a:r>
              <a:rPr lang="vi-VN" sz="850" dirty="0"/>
              <a:t>5</a:t>
            </a:r>
          </a:p>
          <a:p>
            <a:pPr>
              <a:spcAft>
                <a:spcPts val="300"/>
              </a:spcAft>
              <a:defRPr sz="1050">
                <a:solidFill>
                  <a:srgbClr val="1E293B"/>
                </a:solidFill>
                <a:latin typeface="Segoe UI"/>
              </a:defRPr>
            </a:pPr>
            <a:r>
              <a:rPr lang="vi-VN" sz="850" b="1" dirty="0">
                <a:solidFill>
                  <a:srgbClr val="F37021"/>
                </a:solidFill>
                <a:latin typeface="Segoe UI"/>
              </a:rPr>
              <a:t>PM: Trung bình mỗi dự án outsource hiện tại phát sinh bao nhiêu Change Request (CR)?</a:t>
            </a:r>
          </a:p>
          <a:p>
            <a:pPr>
              <a:spcAft>
                <a:spcPts val="300"/>
              </a:spcAft>
              <a:defRPr sz="1050">
                <a:solidFill>
                  <a:srgbClr val="1E293B"/>
                </a:solidFill>
                <a:latin typeface="Segoe UI"/>
              </a:defRPr>
            </a:pPr>
            <a:r>
              <a:rPr lang="vi-VN" sz="850" dirty="0"/>
              <a:t>Dưới 3</a:t>
            </a:r>
          </a:p>
          <a:p>
            <a:pPr>
              <a:spcAft>
                <a:spcPts val="300"/>
              </a:spcAft>
              <a:defRPr sz="1050">
                <a:solidFill>
                  <a:srgbClr val="1E293B"/>
                </a:solidFill>
                <a:latin typeface="Segoe UI"/>
              </a:defRPr>
            </a:pPr>
            <a:r>
              <a:rPr lang="vi-VN" sz="850" dirty="0"/>
              <a:t>Từ 3-5</a:t>
            </a:r>
          </a:p>
          <a:p>
            <a:pPr>
              <a:spcAft>
                <a:spcPts val="300"/>
              </a:spcAft>
              <a:defRPr sz="1050">
                <a:solidFill>
                  <a:srgbClr val="1E293B"/>
                </a:solidFill>
                <a:latin typeface="Segoe UI"/>
              </a:defRPr>
            </a:pPr>
            <a:r>
              <a:rPr lang="vi-VN" sz="850" dirty="0"/>
              <a:t>Trên 5</a:t>
            </a:r>
          </a:p>
          <a:p>
            <a:pPr>
              <a:spcAft>
                <a:spcPts val="300"/>
              </a:spcAft>
              <a:defRPr sz="1050">
                <a:solidFill>
                  <a:srgbClr val="1E293B"/>
                </a:solidFill>
                <a:latin typeface="Segoe UI"/>
              </a:defRPr>
            </a:pPr>
            <a:r>
              <a:rPr lang="vi-VN" sz="850" b="1" dirty="0">
                <a:solidFill>
                  <a:srgbClr val="F37021"/>
                </a:solidFill>
                <a:latin typeface="Segoe UI"/>
              </a:rPr>
              <a:t>Khách hàng: Mức độ hài lòng của anh/chị về thời gian phản hồi (SLA) của đội ngũ hỗ trợ trên thang điểm từ 1 đến 10.</a:t>
            </a:r>
          </a:p>
          <a:p>
            <a:pPr>
              <a:spcAft>
                <a:spcPts val="300"/>
              </a:spcAft>
              <a:defRPr sz="1050">
                <a:solidFill>
                  <a:srgbClr val="1E293B"/>
                </a:solidFill>
                <a:latin typeface="Segoe UI"/>
              </a:defRPr>
            </a:pPr>
            <a:r>
              <a:rPr lang="vi-VN" sz="850" dirty="0"/>
              <a:t>1-3</a:t>
            </a:r>
          </a:p>
          <a:p>
            <a:pPr>
              <a:spcAft>
                <a:spcPts val="300"/>
              </a:spcAft>
              <a:defRPr sz="1050">
                <a:solidFill>
                  <a:srgbClr val="1E293B"/>
                </a:solidFill>
                <a:latin typeface="Segoe UI"/>
              </a:defRPr>
            </a:pPr>
            <a:r>
              <a:rPr lang="vi-VN" sz="850" dirty="0"/>
              <a:t>4-6</a:t>
            </a:r>
          </a:p>
          <a:p>
            <a:pPr>
              <a:spcAft>
                <a:spcPts val="300"/>
              </a:spcAft>
              <a:defRPr sz="1050">
                <a:solidFill>
                  <a:srgbClr val="1E293B"/>
                </a:solidFill>
                <a:latin typeface="Segoe UI"/>
              </a:defRPr>
            </a:pPr>
            <a:r>
              <a:rPr lang="vi-VN" sz="850" dirty="0"/>
              <a:t>7-8</a:t>
            </a:r>
          </a:p>
          <a:p>
            <a:pPr>
              <a:spcAft>
                <a:spcPts val="300"/>
              </a:spcAft>
              <a:defRPr sz="1050">
                <a:solidFill>
                  <a:srgbClr val="1E293B"/>
                </a:solidFill>
                <a:latin typeface="Segoe UI"/>
              </a:defRPr>
            </a:pPr>
            <a:r>
              <a:rPr lang="vi-VN" sz="850" dirty="0"/>
              <a:t>9-10</a:t>
            </a:r>
          </a:p>
          <a:p>
            <a:pPr>
              <a:spcAft>
                <a:spcPts val="300"/>
              </a:spcAft>
              <a:defRPr sz="1050">
                <a:solidFill>
                  <a:srgbClr val="1E293B"/>
                </a:solidFill>
                <a:latin typeface="Segoe UI"/>
              </a:defRPr>
            </a:pPr>
            <a:r>
              <a:rPr lang="vi-VN" sz="850" b="1" dirty="0">
                <a:solidFill>
                  <a:srgbClr val="F37021"/>
                </a:solidFill>
                <a:latin typeface="Segoe UI"/>
              </a:rPr>
              <a:t>Sales: Thời gian trung bình từ lúc nhận yêu cầu sơ bộ đến khi chốt được báo giá mất khoảng bao nhiêu ngày?</a:t>
            </a:r>
          </a:p>
          <a:p>
            <a:pPr>
              <a:spcAft>
                <a:spcPts val="300"/>
              </a:spcAft>
              <a:defRPr sz="1050">
                <a:solidFill>
                  <a:srgbClr val="1E293B"/>
                </a:solidFill>
                <a:latin typeface="Segoe UI"/>
              </a:defRPr>
            </a:pPr>
            <a:r>
              <a:rPr lang="vi-VN" sz="850" dirty="0"/>
              <a:t>&lt;3 ngày</a:t>
            </a:r>
          </a:p>
          <a:p>
            <a:pPr>
              <a:spcAft>
                <a:spcPts val="300"/>
              </a:spcAft>
              <a:defRPr sz="1050">
                <a:solidFill>
                  <a:srgbClr val="1E293B"/>
                </a:solidFill>
                <a:latin typeface="Segoe UI"/>
              </a:defRPr>
            </a:pPr>
            <a:r>
              <a:rPr lang="vi-VN" sz="850" dirty="0"/>
              <a:t>3-7 ngày</a:t>
            </a:r>
          </a:p>
          <a:p>
            <a:pPr>
              <a:spcAft>
                <a:spcPts val="300"/>
              </a:spcAft>
              <a:defRPr sz="1050">
                <a:solidFill>
                  <a:srgbClr val="1E293B"/>
                </a:solidFill>
                <a:latin typeface="Segoe UI"/>
              </a:defRPr>
            </a:pPr>
            <a:r>
              <a:rPr lang="vi-VN" sz="850" dirty="0"/>
              <a:t>&gt;7 ngày</a:t>
            </a:r>
          </a:p>
          <a:p>
            <a:pPr>
              <a:spcAft>
                <a:spcPts val="300"/>
              </a:spcAft>
              <a:defRPr sz="1050">
                <a:solidFill>
                  <a:srgbClr val="1E293B"/>
                </a:solidFill>
                <a:latin typeface="Segoe UI"/>
              </a:defRPr>
            </a:pPr>
            <a:r>
              <a:rPr lang="vi-VN" sz="850" b="1" dirty="0">
                <a:solidFill>
                  <a:srgbClr val="F37021"/>
                </a:solidFill>
                <a:latin typeface="Segoe UI"/>
              </a:rPr>
              <a:t>QA: Đâu là tỷ lệ phần trăm các lỗi (bugs) bị đẩy ngược từ môi trường UAT về lại môi trường Test?</a:t>
            </a:r>
          </a:p>
          <a:p>
            <a:pPr>
              <a:spcAft>
                <a:spcPts val="300"/>
              </a:spcAft>
              <a:defRPr sz="1050">
                <a:solidFill>
                  <a:srgbClr val="1E293B"/>
                </a:solidFill>
                <a:latin typeface="Segoe UI"/>
              </a:defRPr>
            </a:pPr>
            <a:r>
              <a:rPr lang="vi-VN" sz="850" dirty="0"/>
              <a:t>&lt;10%</a:t>
            </a:r>
          </a:p>
          <a:p>
            <a:pPr>
              <a:spcAft>
                <a:spcPts val="300"/>
              </a:spcAft>
              <a:defRPr sz="1050">
                <a:solidFill>
                  <a:srgbClr val="1E293B"/>
                </a:solidFill>
                <a:latin typeface="Segoe UI"/>
              </a:defRPr>
            </a:pPr>
            <a:r>
              <a:rPr lang="vi-VN" sz="850" dirty="0"/>
              <a:t>10-20%</a:t>
            </a:r>
          </a:p>
          <a:p>
            <a:pPr>
              <a:spcAft>
                <a:spcPts val="300"/>
              </a:spcAft>
              <a:defRPr sz="1050">
                <a:solidFill>
                  <a:srgbClr val="1E293B"/>
                </a:solidFill>
                <a:latin typeface="Segoe UI"/>
              </a:defRPr>
            </a:pPr>
            <a:r>
              <a:rPr lang="vi-VN" sz="850" dirty="0"/>
              <a:t>&gt;20%</a:t>
            </a:r>
          </a:p>
        </p:txBody>
      </p:sp>
      <p:sp>
        <p:nvSpPr>
          <p:cNvPr id="12" name="Rounded Rectangle 11">
            <a:extLst>
              <a:ext uri="{FF2B5EF4-FFF2-40B4-BE49-F238E27FC236}">
                <a16:creationId xmlns:a16="http://schemas.microsoft.com/office/drawing/2014/main" id="{32506EB4-1157-5C91-0E01-90690CDAF667}"/>
              </a:ext>
            </a:extLst>
          </p:cNvPr>
          <p:cNvSpPr/>
          <p:nvPr/>
        </p:nvSpPr>
        <p:spPr>
          <a:xfrm>
            <a:off x="6233465" y="1170432"/>
            <a:ext cx="5242255" cy="5157216"/>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wrap="square" lIns="182880" tIns="164592" rIns="182880" bIns="164592" rtlCol="0" anchor="ctr"/>
          <a:lstStyle/>
          <a:p>
            <a:pPr algn="ctr">
              <a:spcAft>
                <a:spcPts val="600"/>
              </a:spcAft>
              <a:defRPr sz="1300" b="1">
                <a:solidFill>
                  <a:srgbClr val="0DB14B"/>
                </a:solidFill>
                <a:latin typeface="Segoe UI"/>
              </a:defRPr>
            </a:pPr>
            <a:r>
              <a:rPr lang="vi-VN" dirty="0"/>
              <a:t>CÂU HỎI KHÔNG CÓ CẤU TRÚC</a:t>
            </a:r>
          </a:p>
          <a:p>
            <a:pPr marL="171450" indent="-171450">
              <a:spcAft>
                <a:spcPts val="300"/>
              </a:spcAft>
              <a:buFont typeface="Arial" panose="020B0604020202020204" pitchFamily="34" charset="0"/>
              <a:buChar char="•"/>
              <a:defRPr sz="1050">
                <a:solidFill>
                  <a:srgbClr val="1E293B"/>
                </a:solidFill>
                <a:latin typeface="Segoe UI"/>
              </a:defRPr>
            </a:pPr>
            <a:r>
              <a:rPr lang="vi-VN" dirty="0"/>
              <a:t>Dựa trên kinh nghiệm quản lý, chi phí phát sinh do việc phải làm lại (rework) chiếm khoảng bao nhiêu phần trăm tổng ngân sách dự án?</a:t>
            </a:r>
          </a:p>
          <a:p>
            <a:pPr marL="171450" indent="-171450">
              <a:spcAft>
                <a:spcPts val="300"/>
              </a:spcAft>
              <a:buFont typeface="Arial" panose="020B0604020202020204" pitchFamily="34" charset="0"/>
              <a:buChar char="•"/>
              <a:defRPr sz="1050">
                <a:solidFill>
                  <a:srgbClr val="1E293B"/>
                </a:solidFill>
                <a:latin typeface="Segoe UI"/>
              </a:defRPr>
            </a:pPr>
            <a:r>
              <a:rPr lang="vi-VN" dirty="0"/>
              <a:t>Anh/chị ước lượng mình bị lãng phí khoảng bao nhiêu giờ mỗi tuần chỉ để tạo test case cho những yêu cầu không được định nghĩa rõ ràng?</a:t>
            </a:r>
          </a:p>
          <a:p>
            <a:pPr marL="171450" indent="-171450">
              <a:spcAft>
                <a:spcPts val="300"/>
              </a:spcAft>
              <a:buFont typeface="Arial" panose="020B0604020202020204" pitchFamily="34" charset="0"/>
              <a:buChar char="•"/>
              <a:defRPr sz="1050">
                <a:solidFill>
                  <a:srgbClr val="1E293B"/>
                </a:solidFill>
                <a:latin typeface="Segoe UI"/>
              </a:defRPr>
            </a:pPr>
            <a:r>
              <a:rPr lang="vi-VN" dirty="0"/>
              <a:t>Theo sổ tay ghi nhận của anh/chị, khoảng bao nhiêu phần trăm tài liệu yêu cầu (SRS) bị khách hàng yêu cầu viết lại sau lần gửi đầu tiên?</a:t>
            </a:r>
          </a:p>
          <a:p>
            <a:pPr marL="171450" indent="-171450">
              <a:spcAft>
                <a:spcPts val="300"/>
              </a:spcAft>
              <a:buFont typeface="Arial" panose="020B0604020202020204" pitchFamily="34" charset="0"/>
              <a:buChar char="•"/>
              <a:defRPr sz="1050">
                <a:solidFill>
                  <a:srgbClr val="1E293B"/>
                </a:solidFill>
                <a:latin typeface="Segoe UI"/>
              </a:defRPr>
            </a:pPr>
            <a:r>
              <a:rPr lang="vi-VN" dirty="0"/>
              <a:t>Trong một Sprint kéo dài 2 tuần, anh/chị thường phải trích ra mấy ngày công (man-days) chỉ để tập trung fix bug UAT từ phía khách hàng?</a:t>
            </a:r>
          </a:p>
          <a:p>
            <a:pPr marL="171450" indent="-171450">
              <a:spcAft>
                <a:spcPts val="300"/>
              </a:spcAft>
              <a:buFont typeface="Arial" panose="020B0604020202020204" pitchFamily="34" charset="0"/>
              <a:buChar char="•"/>
              <a:defRPr sz="1050">
                <a:solidFill>
                  <a:srgbClr val="1E293B"/>
                </a:solidFill>
                <a:latin typeface="Segoe UI"/>
              </a:defRPr>
            </a:pPr>
            <a:r>
              <a:rPr lang="vi-VN" dirty="0"/>
              <a:t>Anh/chị ước tính tỷ lệ chuyển đổi thành công (Conversion rate) từ bước gửi báo giá sơ bộ sang bước chính thức ký hợp đồng là bao nhiêu phần trăm?</a:t>
            </a:r>
            <a:endParaRPr dirty="0"/>
          </a:p>
        </p:txBody>
      </p:sp>
    </p:spTree>
    <p:extLst>
      <p:ext uri="{BB962C8B-B14F-4D97-AF65-F5344CB8AC3E}">
        <p14:creationId xmlns:p14="http://schemas.microsoft.com/office/powerpoint/2010/main" val="290656815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6DC0B8-BE67-A74F-F169-E6645EFCBDF7}"/>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BF9AB41C-3ACE-17A5-CAF3-1525B200DB21}"/>
              </a:ext>
            </a:extLst>
          </p:cNvPr>
          <p:cNvSpPr/>
          <p:nvPr/>
        </p:nvSpPr>
        <p:spPr>
          <a:xfrm>
            <a:off x="0" y="0"/>
            <a:ext cx="12191695" cy="107899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a:extLst>
              <a:ext uri="{FF2B5EF4-FFF2-40B4-BE49-F238E27FC236}">
                <a16:creationId xmlns:a16="http://schemas.microsoft.com/office/drawing/2014/main" id="{B13E9361-3781-0042-37A2-2950E15B9710}"/>
              </a:ext>
            </a:extLst>
          </p:cNvPr>
          <p:cNvSpPr/>
          <p:nvPr/>
        </p:nvSpPr>
        <p:spPr>
          <a:xfrm>
            <a:off x="731520" y="1051560"/>
            <a:ext cx="7772400" cy="36576"/>
          </a:xfrm>
          <a:prstGeom prst="rect">
            <a:avLst/>
          </a:prstGeom>
          <a:solidFill>
            <a:srgbClr val="005B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a:extLst>
              <a:ext uri="{FF2B5EF4-FFF2-40B4-BE49-F238E27FC236}">
                <a16:creationId xmlns:a16="http://schemas.microsoft.com/office/drawing/2014/main" id="{538A2773-E68F-13E0-CB9F-4A0827AC90D1}"/>
              </a:ext>
            </a:extLst>
          </p:cNvPr>
          <p:cNvSpPr/>
          <p:nvPr/>
        </p:nvSpPr>
        <p:spPr>
          <a:xfrm>
            <a:off x="8503920" y="1051560"/>
            <a:ext cx="2926080" cy="36576"/>
          </a:xfrm>
          <a:prstGeom prst="rect">
            <a:avLst/>
          </a:prstGeom>
          <a:solidFill>
            <a:srgbClr val="F370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a:extLst>
              <a:ext uri="{FF2B5EF4-FFF2-40B4-BE49-F238E27FC236}">
                <a16:creationId xmlns:a16="http://schemas.microsoft.com/office/drawing/2014/main" id="{090B9B37-025E-A1D7-ED3B-55C9DEC48D96}"/>
              </a:ext>
            </a:extLst>
          </p:cNvPr>
          <p:cNvSpPr/>
          <p:nvPr/>
        </p:nvSpPr>
        <p:spPr>
          <a:xfrm>
            <a:off x="731520" y="146304"/>
            <a:ext cx="3840480" cy="256032"/>
          </a:xfrm>
          <a:prstGeom prst="roundRect">
            <a:avLst/>
          </a:prstGeom>
          <a:solidFill>
            <a:srgbClr val="FFF7ED"/>
          </a:solidFill>
          <a:ln w="9525">
            <a:solidFill>
              <a:srgbClr val="F37021"/>
            </a:solidFill>
          </a:ln>
        </p:spPr>
        <p:style>
          <a:lnRef idx="1">
            <a:schemeClr val="accent1"/>
          </a:lnRef>
          <a:fillRef idx="3">
            <a:schemeClr val="accent1"/>
          </a:fillRef>
          <a:effectRef idx="2">
            <a:schemeClr val="accent1"/>
          </a:effectRef>
          <a:fontRef idx="minor">
            <a:schemeClr val="lt1"/>
          </a:fontRef>
        </p:style>
        <p:txBody>
          <a:bodyPr wrap="square" lIns="109728" tIns="18288" rtlCol="0" anchor="ctr"/>
          <a:lstStyle/>
          <a:p>
            <a:pPr algn="ctr">
              <a:defRPr sz="950" b="1">
                <a:solidFill>
                  <a:srgbClr val="F37021"/>
                </a:solidFill>
                <a:latin typeface="Segoe UI"/>
              </a:defRPr>
            </a:pPr>
            <a:r>
              <a:t>PHẦN 3: QUY TRÌNH QUẢN LÝ</a:t>
            </a:r>
          </a:p>
        </p:txBody>
      </p:sp>
      <p:sp>
        <p:nvSpPr>
          <p:cNvPr id="6" name="TextBox 5">
            <a:extLst>
              <a:ext uri="{FF2B5EF4-FFF2-40B4-BE49-F238E27FC236}">
                <a16:creationId xmlns:a16="http://schemas.microsoft.com/office/drawing/2014/main" id="{F9B0C5FE-7580-C126-D40C-CA118E88DC10}"/>
              </a:ext>
            </a:extLst>
          </p:cNvPr>
          <p:cNvSpPr txBox="1"/>
          <p:nvPr/>
        </p:nvSpPr>
        <p:spPr>
          <a:xfrm>
            <a:off x="731520" y="438912"/>
            <a:ext cx="8686800" cy="338554"/>
          </a:xfrm>
          <a:prstGeom prst="rect">
            <a:avLst/>
          </a:prstGeom>
          <a:noFill/>
        </p:spPr>
        <p:txBody>
          <a:bodyPr wrap="square" lIns="0" tIns="0">
            <a:spAutoFit/>
          </a:bodyPr>
          <a:lstStyle/>
          <a:p>
            <a:pPr>
              <a:defRPr sz="1900" b="1">
                <a:solidFill>
                  <a:srgbClr val="0A2540"/>
                </a:solidFill>
                <a:latin typeface="Segoe UI"/>
              </a:defRPr>
            </a:pPr>
            <a:r>
              <a:rPr lang="vi-VN" dirty="0"/>
              <a:t>Phân Tích Quy Trình – Phân Tích Giá Trị Gia Tăng</a:t>
            </a:r>
            <a:endParaRPr dirty="0"/>
          </a:p>
        </p:txBody>
      </p:sp>
      <p:pic>
        <p:nvPicPr>
          <p:cNvPr id="7" name="Picture 6" descr="fpt_software_logo.png">
            <a:extLst>
              <a:ext uri="{FF2B5EF4-FFF2-40B4-BE49-F238E27FC236}">
                <a16:creationId xmlns:a16="http://schemas.microsoft.com/office/drawing/2014/main" id="{DD3A5178-ED8F-B81F-0C3A-C885A673D51D}"/>
              </a:ext>
            </a:extLst>
          </p:cNvPr>
          <p:cNvPicPr>
            <a:picLocks noChangeAspect="1"/>
          </p:cNvPicPr>
          <p:nvPr/>
        </p:nvPicPr>
        <p:blipFill>
          <a:blip r:embed="rId2"/>
          <a:stretch>
            <a:fillRect/>
          </a:stretch>
        </p:blipFill>
        <p:spPr>
          <a:xfrm>
            <a:off x="9784080" y="201168"/>
            <a:ext cx="1691640" cy="422910"/>
          </a:xfrm>
          <a:prstGeom prst="rect">
            <a:avLst/>
          </a:prstGeom>
        </p:spPr>
      </p:pic>
      <p:sp>
        <p:nvSpPr>
          <p:cNvPr id="8" name="Rectangle 7">
            <a:extLst>
              <a:ext uri="{FF2B5EF4-FFF2-40B4-BE49-F238E27FC236}">
                <a16:creationId xmlns:a16="http://schemas.microsoft.com/office/drawing/2014/main" id="{DE6A1FEA-F937-7904-620B-7F435819AD1A}"/>
              </a:ext>
            </a:extLst>
          </p:cNvPr>
          <p:cNvSpPr/>
          <p:nvPr/>
        </p:nvSpPr>
        <p:spPr>
          <a:xfrm>
            <a:off x="731520" y="6419088"/>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a:extLst>
              <a:ext uri="{FF2B5EF4-FFF2-40B4-BE49-F238E27FC236}">
                <a16:creationId xmlns:a16="http://schemas.microsoft.com/office/drawing/2014/main" id="{6DA70B29-A3DC-7AC0-C5C4-8ED9742F0423}"/>
              </a:ext>
            </a:extLst>
          </p:cNvPr>
          <p:cNvSpPr txBox="1"/>
          <p:nvPr/>
        </p:nvSpPr>
        <p:spPr>
          <a:xfrm>
            <a:off x="731520" y="6473952"/>
            <a:ext cx="7772400" cy="274320"/>
          </a:xfrm>
          <a:prstGeom prst="rect">
            <a:avLst/>
          </a:prstGeom>
          <a:noFill/>
        </p:spPr>
        <p:txBody>
          <a:bodyPr wrap="none">
            <a:spAutoFit/>
          </a:bodyPr>
          <a:lstStyle/>
          <a:p>
            <a:pPr>
              <a:defRPr sz="850">
                <a:solidFill>
                  <a:srgbClr val="64748B"/>
                </a:solidFill>
                <a:latin typeface="Segoe UI"/>
              </a:defRPr>
            </a:pPr>
            <a:r>
              <a:t>FPT Software | Hệ thống Quản trị Quy trình Nghiệp vụ (BPM) - Đồ án Môn học - Nhóm 8</a:t>
            </a:r>
          </a:p>
        </p:txBody>
      </p:sp>
      <p:sp>
        <p:nvSpPr>
          <p:cNvPr id="10" name="TextBox 9">
            <a:extLst>
              <a:ext uri="{FF2B5EF4-FFF2-40B4-BE49-F238E27FC236}">
                <a16:creationId xmlns:a16="http://schemas.microsoft.com/office/drawing/2014/main" id="{DE39C344-27E3-D013-3854-D230A62BF1BF}"/>
              </a:ext>
            </a:extLst>
          </p:cNvPr>
          <p:cNvSpPr txBox="1"/>
          <p:nvPr/>
        </p:nvSpPr>
        <p:spPr>
          <a:xfrm>
            <a:off x="10058400" y="6473952"/>
            <a:ext cx="1371600" cy="274320"/>
          </a:xfrm>
          <a:prstGeom prst="rect">
            <a:avLst/>
          </a:prstGeom>
          <a:noFill/>
        </p:spPr>
        <p:txBody>
          <a:bodyPr wrap="none">
            <a:spAutoFit/>
          </a:bodyPr>
          <a:lstStyle/>
          <a:p>
            <a:pPr algn="r">
              <a:defRPr sz="850" b="1">
                <a:solidFill>
                  <a:srgbClr val="005BAA"/>
                </a:solidFill>
                <a:latin typeface="Segoe UI"/>
              </a:defRPr>
            </a:pPr>
            <a:r>
              <a:t>9 / 27</a:t>
            </a:r>
          </a:p>
        </p:txBody>
      </p:sp>
      <p:sp>
        <p:nvSpPr>
          <p:cNvPr id="11" name="Rounded Rectangle 10">
            <a:extLst>
              <a:ext uri="{FF2B5EF4-FFF2-40B4-BE49-F238E27FC236}">
                <a16:creationId xmlns:a16="http://schemas.microsoft.com/office/drawing/2014/main" id="{2C342548-3F80-78F0-E816-2D9CD28BCE6B}"/>
              </a:ext>
            </a:extLst>
          </p:cNvPr>
          <p:cNvSpPr/>
          <p:nvPr/>
        </p:nvSpPr>
        <p:spPr>
          <a:xfrm>
            <a:off x="610140" y="1371600"/>
            <a:ext cx="3429000" cy="48463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wrap="square" lIns="182880" tIns="164592" rIns="182880" bIns="164592" rtlCol="0" anchor="ctr"/>
          <a:lstStyle/>
          <a:p>
            <a:pPr algn="ctr">
              <a:spcAft>
                <a:spcPts val="600"/>
              </a:spcAft>
              <a:defRPr sz="1300" b="1">
                <a:solidFill>
                  <a:srgbClr val="0A2540"/>
                </a:solidFill>
                <a:latin typeface="Segoe UI"/>
              </a:defRPr>
            </a:pPr>
            <a:r>
              <a:rPr lang="vi-VN" sz="1300" b="1" dirty="0">
                <a:solidFill>
                  <a:srgbClr val="005BAA"/>
                </a:solidFill>
                <a:latin typeface="Segoe UI"/>
              </a:rPr>
              <a:t>VA</a:t>
            </a:r>
          </a:p>
          <a:p>
            <a:pPr algn="ctr">
              <a:spcAft>
                <a:spcPts val="600"/>
              </a:spcAft>
              <a:defRPr sz="1300" b="1">
                <a:solidFill>
                  <a:srgbClr val="0A2540"/>
                </a:solidFill>
                <a:latin typeface="Segoe UI"/>
              </a:defRPr>
            </a:pPr>
            <a:r>
              <a:rPr lang="vi-VN" sz="1000" b="1" dirty="0">
                <a:solidFill>
                  <a:srgbClr val="005BAA"/>
                </a:solidFill>
                <a:latin typeface="Segoe UI"/>
              </a:rPr>
              <a:t>Là các hoạt động trực tiếp tạo ra giá trị mà khách hàng sẵn sàng chi trả</a:t>
            </a:r>
          </a:p>
          <a:p>
            <a:pPr marL="171450" indent="-171450">
              <a:spcAft>
                <a:spcPts val="300"/>
              </a:spcAft>
              <a:buFont typeface="Wingdings" panose="05000000000000000000" pitchFamily="2" charset="2"/>
              <a:buChar char="ü"/>
              <a:defRPr sz="1050">
                <a:solidFill>
                  <a:srgbClr val="1E293B"/>
                </a:solidFill>
                <a:latin typeface="Segoe UI"/>
              </a:defRPr>
            </a:pPr>
            <a:r>
              <a:rPr lang="vi-VN" dirty="0"/>
              <a:t>Gửi yêu cầu phát triển phần mềm</a:t>
            </a:r>
          </a:p>
          <a:p>
            <a:pPr marL="171450" indent="-171450">
              <a:spcAft>
                <a:spcPts val="300"/>
              </a:spcAft>
              <a:buFont typeface="Wingdings" panose="05000000000000000000" pitchFamily="2" charset="2"/>
              <a:buChar char="ü"/>
              <a:defRPr sz="1050">
                <a:solidFill>
                  <a:srgbClr val="1E293B"/>
                </a:solidFill>
                <a:latin typeface="Segoe UI"/>
              </a:defRPr>
            </a:pPr>
            <a:r>
              <a:rPr lang="vi-VN" dirty="0"/>
              <a:t>Cung cấp yêu cầu</a:t>
            </a:r>
          </a:p>
          <a:p>
            <a:pPr marL="171450" indent="-171450">
              <a:spcAft>
                <a:spcPts val="300"/>
              </a:spcAft>
              <a:buFont typeface="Wingdings" panose="05000000000000000000" pitchFamily="2" charset="2"/>
              <a:buChar char="ü"/>
              <a:defRPr sz="1050">
                <a:solidFill>
                  <a:srgbClr val="1E293B"/>
                </a:solidFill>
                <a:latin typeface="Segoe UI"/>
              </a:defRPr>
            </a:pPr>
            <a:r>
              <a:rPr lang="vi-VN" dirty="0"/>
              <a:t>Phân tích đặc tả phần mềm</a:t>
            </a:r>
          </a:p>
          <a:p>
            <a:pPr marL="171450" indent="-171450">
              <a:spcAft>
                <a:spcPts val="300"/>
              </a:spcAft>
              <a:buFont typeface="Wingdings" panose="05000000000000000000" pitchFamily="2" charset="2"/>
              <a:buChar char="ü"/>
              <a:defRPr sz="1050">
                <a:solidFill>
                  <a:srgbClr val="1E293B"/>
                </a:solidFill>
                <a:latin typeface="Segoe UI"/>
              </a:defRPr>
            </a:pPr>
            <a:r>
              <a:rPr lang="vi-VN" dirty="0"/>
              <a:t>Viết tài liệu SRS</a:t>
            </a:r>
          </a:p>
          <a:p>
            <a:pPr marL="171450" indent="-171450">
              <a:spcAft>
                <a:spcPts val="300"/>
              </a:spcAft>
              <a:buFont typeface="Wingdings" panose="05000000000000000000" pitchFamily="2" charset="2"/>
              <a:buChar char="ü"/>
              <a:defRPr sz="1050">
                <a:solidFill>
                  <a:srgbClr val="1E293B"/>
                </a:solidFill>
                <a:latin typeface="Segoe UI"/>
              </a:defRPr>
            </a:pPr>
            <a:r>
              <a:rPr lang="vi-VN" dirty="0"/>
              <a:t>Viết code và unit test</a:t>
            </a:r>
          </a:p>
          <a:p>
            <a:pPr marL="171450" indent="-171450">
              <a:spcAft>
                <a:spcPts val="300"/>
              </a:spcAft>
              <a:buFont typeface="Wingdings" panose="05000000000000000000" pitchFamily="2" charset="2"/>
              <a:buChar char="ü"/>
              <a:defRPr sz="1050">
                <a:solidFill>
                  <a:srgbClr val="1E293B"/>
                </a:solidFill>
                <a:latin typeface="Segoe UI"/>
              </a:defRPr>
            </a:pPr>
            <a:r>
              <a:rPr lang="vi-VN" dirty="0"/>
              <a:t>Triển khai lên môi trường UAT</a:t>
            </a:r>
          </a:p>
          <a:p>
            <a:pPr marL="171450" indent="-171450">
              <a:spcAft>
                <a:spcPts val="300"/>
              </a:spcAft>
              <a:buFont typeface="Wingdings" panose="05000000000000000000" pitchFamily="2" charset="2"/>
              <a:buChar char="ü"/>
              <a:defRPr sz="1050">
                <a:solidFill>
                  <a:srgbClr val="1E293B"/>
                </a:solidFill>
                <a:latin typeface="Segoe UI"/>
              </a:defRPr>
            </a:pPr>
            <a:r>
              <a:rPr lang="vi-VN" dirty="0"/>
              <a:t>Kiểm thử dựa trên trường hợp thực tế (UAT)</a:t>
            </a:r>
          </a:p>
          <a:p>
            <a:pPr marL="171450" indent="-171450">
              <a:spcAft>
                <a:spcPts val="300"/>
              </a:spcAft>
              <a:buFont typeface="Wingdings" panose="05000000000000000000" pitchFamily="2" charset="2"/>
              <a:buChar char="ü"/>
              <a:defRPr sz="1050">
                <a:solidFill>
                  <a:srgbClr val="1E293B"/>
                </a:solidFill>
                <a:latin typeface="Segoe UI"/>
              </a:defRPr>
            </a:pPr>
            <a:r>
              <a:rPr lang="vi-VN" dirty="0"/>
              <a:t>UAT Sign-off</a:t>
            </a:r>
          </a:p>
          <a:p>
            <a:pPr marL="171450" indent="-171450">
              <a:spcAft>
                <a:spcPts val="300"/>
              </a:spcAft>
              <a:buFont typeface="Wingdings" panose="05000000000000000000" pitchFamily="2" charset="2"/>
              <a:buChar char="ü"/>
              <a:defRPr sz="1050">
                <a:solidFill>
                  <a:srgbClr val="1E293B"/>
                </a:solidFill>
                <a:latin typeface="Segoe UI"/>
              </a:defRPr>
            </a:pPr>
            <a:r>
              <a:rPr lang="vi-VN" dirty="0"/>
              <a:t>Triển khai lên môi trường production</a:t>
            </a:r>
          </a:p>
          <a:p>
            <a:pPr marL="171450" indent="-171450">
              <a:spcAft>
                <a:spcPts val="300"/>
              </a:spcAft>
              <a:buFont typeface="Wingdings" panose="05000000000000000000" pitchFamily="2" charset="2"/>
              <a:buChar char="ü"/>
              <a:defRPr sz="1050">
                <a:solidFill>
                  <a:srgbClr val="1E293B"/>
                </a:solidFill>
                <a:latin typeface="Segoe UI"/>
              </a:defRPr>
            </a:pPr>
            <a:r>
              <a:rPr lang="vi-VN" dirty="0"/>
              <a:t>Bàn giao tài liệu kỹ thuật, source code và asset liên quan</a:t>
            </a:r>
          </a:p>
          <a:p>
            <a:pPr marL="171450" indent="-171450">
              <a:spcAft>
                <a:spcPts val="300"/>
              </a:spcAft>
              <a:buFont typeface="Wingdings" panose="05000000000000000000" pitchFamily="2" charset="2"/>
              <a:buChar char="ü"/>
              <a:defRPr sz="1050">
                <a:solidFill>
                  <a:srgbClr val="1E293B"/>
                </a:solidFill>
                <a:latin typeface="Segoe UI"/>
              </a:defRPr>
            </a:pPr>
            <a:r>
              <a:rPr lang="vi-VN" dirty="0"/>
              <a:t>Nghiệm thu</a:t>
            </a:r>
          </a:p>
          <a:p>
            <a:pPr marL="171450" indent="-171450">
              <a:spcAft>
                <a:spcPts val="300"/>
              </a:spcAft>
              <a:buFont typeface="Wingdings" panose="05000000000000000000" pitchFamily="2" charset="2"/>
              <a:buChar char="ü"/>
              <a:defRPr sz="1050">
                <a:solidFill>
                  <a:srgbClr val="1E293B"/>
                </a:solidFill>
                <a:latin typeface="Segoe UI"/>
              </a:defRPr>
            </a:pPr>
            <a:r>
              <a:rPr lang="vi-VN" dirty="0"/>
              <a:t>Thanh toán</a:t>
            </a:r>
            <a:endParaRPr dirty="0"/>
          </a:p>
        </p:txBody>
      </p:sp>
      <p:sp>
        <p:nvSpPr>
          <p:cNvPr id="12" name="Rounded Rectangle 11">
            <a:extLst>
              <a:ext uri="{FF2B5EF4-FFF2-40B4-BE49-F238E27FC236}">
                <a16:creationId xmlns:a16="http://schemas.microsoft.com/office/drawing/2014/main" id="{BE3A26ED-8370-DFF0-0F7D-F6AA087C811D}"/>
              </a:ext>
            </a:extLst>
          </p:cNvPr>
          <p:cNvSpPr/>
          <p:nvPr/>
        </p:nvSpPr>
        <p:spPr>
          <a:xfrm>
            <a:off x="4389120" y="1371600"/>
            <a:ext cx="3429000" cy="48463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wrap="square" lIns="182880" tIns="164592" rIns="182880" bIns="164592" rtlCol="0" anchor="ctr"/>
          <a:lstStyle/>
          <a:p>
            <a:pPr algn="ctr">
              <a:spcAft>
                <a:spcPts val="600"/>
              </a:spcAft>
              <a:defRPr sz="1300" b="1">
                <a:solidFill>
                  <a:srgbClr val="F37021"/>
                </a:solidFill>
                <a:latin typeface="Segoe UI"/>
              </a:defRPr>
            </a:pPr>
            <a:r>
              <a:rPr lang="vi-VN" dirty="0"/>
              <a:t>VBA</a:t>
            </a:r>
          </a:p>
          <a:p>
            <a:pPr>
              <a:spcAft>
                <a:spcPts val="600"/>
              </a:spcAft>
              <a:defRPr sz="1300" b="1">
                <a:solidFill>
                  <a:srgbClr val="F37021"/>
                </a:solidFill>
                <a:latin typeface="Segoe UI"/>
              </a:defRPr>
            </a:pPr>
            <a:r>
              <a:rPr lang="vi-VN" sz="1000" dirty="0">
                <a:solidFill>
                  <a:schemeClr val="accent6"/>
                </a:solidFill>
                <a:latin typeface="Segoe UI"/>
              </a:rPr>
              <a:t>Là các hoạt động </a:t>
            </a:r>
            <a:r>
              <a:rPr lang="en-US" sz="1000" dirty="0" err="1">
                <a:solidFill>
                  <a:schemeClr val="accent6"/>
                </a:solidFill>
                <a:latin typeface="Segoe UI"/>
              </a:rPr>
              <a:t>không</a:t>
            </a:r>
            <a:r>
              <a:rPr lang="en-US" sz="1000" dirty="0">
                <a:solidFill>
                  <a:schemeClr val="accent6"/>
                </a:solidFill>
                <a:latin typeface="Segoe UI"/>
              </a:rPr>
              <a:t> </a:t>
            </a:r>
            <a:r>
              <a:rPr lang="en-US" sz="1000" dirty="0" err="1">
                <a:solidFill>
                  <a:schemeClr val="accent6"/>
                </a:solidFill>
                <a:latin typeface="Segoe UI"/>
              </a:rPr>
              <a:t>tạo</a:t>
            </a:r>
            <a:r>
              <a:rPr lang="en-US" sz="1000" dirty="0">
                <a:solidFill>
                  <a:schemeClr val="accent6"/>
                </a:solidFill>
                <a:latin typeface="Segoe UI"/>
              </a:rPr>
              <a:t> </a:t>
            </a:r>
            <a:r>
              <a:rPr lang="en-US" sz="1000" dirty="0" err="1">
                <a:solidFill>
                  <a:schemeClr val="accent6"/>
                </a:solidFill>
                <a:latin typeface="Segoe UI"/>
              </a:rPr>
              <a:t>giá</a:t>
            </a:r>
            <a:r>
              <a:rPr lang="en-US" sz="1000" dirty="0">
                <a:solidFill>
                  <a:schemeClr val="accent6"/>
                </a:solidFill>
                <a:latin typeface="Segoe UI"/>
              </a:rPr>
              <a:t> </a:t>
            </a:r>
            <a:r>
              <a:rPr lang="en-US" sz="1000" dirty="0" err="1">
                <a:solidFill>
                  <a:schemeClr val="accent6"/>
                </a:solidFill>
                <a:latin typeface="Segoe UI"/>
              </a:rPr>
              <a:t>trị</a:t>
            </a:r>
            <a:r>
              <a:rPr lang="en-US" sz="1000" dirty="0">
                <a:solidFill>
                  <a:schemeClr val="accent6"/>
                </a:solidFill>
                <a:latin typeface="Segoe UI"/>
              </a:rPr>
              <a:t> </a:t>
            </a:r>
            <a:r>
              <a:rPr lang="en-US" sz="1000" dirty="0" err="1">
                <a:solidFill>
                  <a:schemeClr val="accent6"/>
                </a:solidFill>
                <a:latin typeface="Segoe UI"/>
              </a:rPr>
              <a:t>trực</a:t>
            </a:r>
            <a:r>
              <a:rPr lang="en-US" sz="1000" dirty="0">
                <a:solidFill>
                  <a:schemeClr val="accent6"/>
                </a:solidFill>
                <a:latin typeface="Segoe UI"/>
              </a:rPr>
              <a:t> </a:t>
            </a:r>
            <a:r>
              <a:rPr lang="en-US" sz="1000" dirty="0" err="1">
                <a:solidFill>
                  <a:schemeClr val="accent6"/>
                </a:solidFill>
                <a:latin typeface="Segoe UI"/>
              </a:rPr>
              <a:t>tiếp</a:t>
            </a:r>
            <a:r>
              <a:rPr lang="en-US" sz="1000" dirty="0">
                <a:solidFill>
                  <a:schemeClr val="accent6"/>
                </a:solidFill>
                <a:latin typeface="Segoe UI"/>
              </a:rPr>
              <a:t> </a:t>
            </a:r>
            <a:r>
              <a:rPr lang="en-US" sz="1000" dirty="0" err="1">
                <a:solidFill>
                  <a:schemeClr val="accent6"/>
                </a:solidFill>
                <a:latin typeface="Segoe UI"/>
              </a:rPr>
              <a:t>cho</a:t>
            </a:r>
            <a:r>
              <a:rPr lang="en-US" sz="1000" dirty="0">
                <a:solidFill>
                  <a:schemeClr val="accent6"/>
                </a:solidFill>
                <a:latin typeface="Segoe UI"/>
              </a:rPr>
              <a:t> </a:t>
            </a:r>
            <a:r>
              <a:rPr lang="en-US" sz="1000" dirty="0" err="1">
                <a:solidFill>
                  <a:schemeClr val="accent6"/>
                </a:solidFill>
                <a:latin typeface="Segoe UI"/>
              </a:rPr>
              <a:t>khách</a:t>
            </a:r>
            <a:r>
              <a:rPr lang="en-US" sz="1000" dirty="0">
                <a:solidFill>
                  <a:schemeClr val="accent6"/>
                </a:solidFill>
                <a:latin typeface="Segoe UI"/>
              </a:rPr>
              <a:t> </a:t>
            </a:r>
            <a:r>
              <a:rPr lang="en-US" sz="1000" dirty="0" err="1">
                <a:solidFill>
                  <a:schemeClr val="accent6"/>
                </a:solidFill>
                <a:latin typeface="Segoe UI"/>
              </a:rPr>
              <a:t>hàng</a:t>
            </a:r>
            <a:r>
              <a:rPr lang="en-US" sz="1000" dirty="0">
                <a:solidFill>
                  <a:schemeClr val="accent6"/>
                </a:solidFill>
                <a:latin typeface="Segoe UI"/>
              </a:rPr>
              <a:t> </a:t>
            </a:r>
            <a:r>
              <a:rPr lang="en-US" sz="1000" dirty="0" err="1">
                <a:solidFill>
                  <a:schemeClr val="accent6"/>
                </a:solidFill>
                <a:latin typeface="Segoe UI"/>
              </a:rPr>
              <a:t>nhưng</a:t>
            </a:r>
            <a:r>
              <a:rPr lang="en-US" sz="1000" dirty="0">
                <a:solidFill>
                  <a:schemeClr val="accent6"/>
                </a:solidFill>
                <a:latin typeface="Segoe UI"/>
              </a:rPr>
              <a:t> </a:t>
            </a:r>
            <a:r>
              <a:rPr lang="en-US" sz="1000" dirty="0" err="1">
                <a:solidFill>
                  <a:schemeClr val="accent6"/>
                </a:solidFill>
                <a:latin typeface="Segoe UI"/>
              </a:rPr>
              <a:t>cần</a:t>
            </a:r>
            <a:r>
              <a:rPr lang="en-US" sz="1000" dirty="0">
                <a:solidFill>
                  <a:schemeClr val="accent6"/>
                </a:solidFill>
                <a:latin typeface="Segoe UI"/>
              </a:rPr>
              <a:t> </a:t>
            </a:r>
            <a:r>
              <a:rPr lang="en-US" sz="1000" dirty="0" err="1">
                <a:solidFill>
                  <a:schemeClr val="accent6"/>
                </a:solidFill>
                <a:latin typeface="Segoe UI"/>
              </a:rPr>
              <a:t>thiết</a:t>
            </a:r>
            <a:r>
              <a:rPr lang="en-US" sz="1000" dirty="0">
                <a:solidFill>
                  <a:schemeClr val="accent6"/>
                </a:solidFill>
                <a:latin typeface="Segoe UI"/>
              </a:rPr>
              <a:t> </a:t>
            </a:r>
            <a:r>
              <a:rPr lang="en-US" sz="1000" dirty="0" err="1">
                <a:solidFill>
                  <a:schemeClr val="accent6"/>
                </a:solidFill>
                <a:latin typeface="Segoe UI"/>
              </a:rPr>
              <a:t>cho</a:t>
            </a:r>
            <a:r>
              <a:rPr lang="en-US" sz="1000" dirty="0">
                <a:solidFill>
                  <a:schemeClr val="accent6"/>
                </a:solidFill>
                <a:latin typeface="Segoe UI"/>
              </a:rPr>
              <a:t> </a:t>
            </a:r>
            <a:r>
              <a:rPr lang="en-US" sz="1000" dirty="0" err="1">
                <a:solidFill>
                  <a:schemeClr val="accent6"/>
                </a:solidFill>
                <a:latin typeface="Segoe UI"/>
              </a:rPr>
              <a:t>hoạt</a:t>
            </a:r>
            <a:r>
              <a:rPr lang="en-US" sz="1000" dirty="0">
                <a:solidFill>
                  <a:schemeClr val="accent6"/>
                </a:solidFill>
                <a:latin typeface="Segoe UI"/>
              </a:rPr>
              <a:t> </a:t>
            </a:r>
            <a:r>
              <a:rPr lang="en-US" sz="1000" dirty="0" err="1">
                <a:solidFill>
                  <a:schemeClr val="accent6"/>
                </a:solidFill>
                <a:latin typeface="Segoe UI"/>
              </a:rPr>
              <a:t>động</a:t>
            </a:r>
            <a:r>
              <a:rPr lang="en-US" sz="1000" dirty="0">
                <a:solidFill>
                  <a:schemeClr val="accent6"/>
                </a:solidFill>
                <a:latin typeface="Segoe UI"/>
              </a:rPr>
              <a:t> </a:t>
            </a:r>
            <a:r>
              <a:rPr lang="en-US" sz="1000" dirty="0" err="1">
                <a:solidFill>
                  <a:schemeClr val="accent6"/>
                </a:solidFill>
                <a:latin typeface="Segoe UI"/>
              </a:rPr>
              <a:t>doanh</a:t>
            </a:r>
            <a:r>
              <a:rPr lang="en-US" sz="1000" dirty="0">
                <a:solidFill>
                  <a:schemeClr val="accent6"/>
                </a:solidFill>
                <a:latin typeface="Segoe UI"/>
              </a:rPr>
              <a:t> </a:t>
            </a:r>
            <a:r>
              <a:rPr lang="vi-VN" sz="1000" dirty="0">
                <a:solidFill>
                  <a:schemeClr val="accent6"/>
                </a:solidFill>
                <a:latin typeface="Segoe UI"/>
              </a:rPr>
              <a:t>nghiệp.</a:t>
            </a:r>
          </a:p>
          <a:p>
            <a:pPr marL="171450" indent="-171450">
              <a:spcAft>
                <a:spcPts val="300"/>
              </a:spcAft>
              <a:buFont typeface="Wingdings" panose="05000000000000000000" pitchFamily="2" charset="2"/>
              <a:buChar char="ü"/>
              <a:defRPr sz="1050">
                <a:solidFill>
                  <a:srgbClr val="1E293B"/>
                </a:solidFill>
                <a:latin typeface="Segoe UI"/>
              </a:defRPr>
            </a:pPr>
            <a:r>
              <a:rPr lang="vi-VN" sz="1050" dirty="0">
                <a:solidFill>
                  <a:srgbClr val="1E293B"/>
                </a:solidFill>
                <a:latin typeface="Segoe UI"/>
              </a:rPr>
              <a:t>Gửi phân tích sơ bộ</a:t>
            </a:r>
          </a:p>
          <a:p>
            <a:pPr marL="171450" indent="-171450">
              <a:spcAft>
                <a:spcPts val="300"/>
              </a:spcAft>
              <a:buFont typeface="Wingdings" panose="05000000000000000000" pitchFamily="2" charset="2"/>
              <a:buChar char="ü"/>
              <a:defRPr sz="1050">
                <a:solidFill>
                  <a:srgbClr val="1E293B"/>
                </a:solidFill>
                <a:latin typeface="Segoe UI"/>
              </a:defRPr>
            </a:pPr>
            <a:r>
              <a:rPr lang="vi-VN" sz="1050" dirty="0">
                <a:solidFill>
                  <a:srgbClr val="1E293B"/>
                </a:solidFill>
                <a:latin typeface="Segoe UI"/>
              </a:rPr>
              <a:t>Phân tích yêu cầu sơ bộ</a:t>
            </a:r>
          </a:p>
          <a:p>
            <a:pPr marL="171450" indent="-171450">
              <a:spcAft>
                <a:spcPts val="300"/>
              </a:spcAft>
              <a:buFont typeface="Wingdings" panose="05000000000000000000" pitchFamily="2" charset="2"/>
              <a:buChar char="ü"/>
              <a:defRPr sz="1050">
                <a:solidFill>
                  <a:srgbClr val="1E293B"/>
                </a:solidFill>
                <a:latin typeface="Segoe UI"/>
              </a:defRPr>
            </a:pPr>
            <a:r>
              <a:rPr lang="vi-VN" sz="1050" dirty="0">
                <a:solidFill>
                  <a:srgbClr val="1E293B"/>
                </a:solidFill>
                <a:latin typeface="Segoe UI"/>
              </a:rPr>
              <a:t>Đánh giá tính khả thi và estimate</a:t>
            </a:r>
          </a:p>
          <a:p>
            <a:pPr marL="171450" indent="-171450">
              <a:spcAft>
                <a:spcPts val="300"/>
              </a:spcAft>
              <a:buFont typeface="Wingdings" panose="05000000000000000000" pitchFamily="2" charset="2"/>
              <a:buChar char="ü"/>
              <a:defRPr sz="1050">
                <a:solidFill>
                  <a:srgbClr val="1E293B"/>
                </a:solidFill>
                <a:latin typeface="Segoe UI"/>
              </a:defRPr>
            </a:pPr>
            <a:r>
              <a:rPr lang="vi-VN" sz="1050" dirty="0">
                <a:solidFill>
                  <a:srgbClr val="1E293B"/>
                </a:solidFill>
                <a:latin typeface="Segoe UI"/>
              </a:rPr>
              <a:t>Báo giá sơ bộ</a:t>
            </a:r>
          </a:p>
          <a:p>
            <a:pPr marL="171450" indent="-171450">
              <a:spcAft>
                <a:spcPts val="300"/>
              </a:spcAft>
              <a:buFont typeface="Wingdings" panose="05000000000000000000" pitchFamily="2" charset="2"/>
              <a:buChar char="ü"/>
              <a:defRPr sz="1050">
                <a:solidFill>
                  <a:srgbClr val="1E293B"/>
                </a:solidFill>
                <a:latin typeface="Segoe UI"/>
              </a:defRPr>
            </a:pPr>
            <a:r>
              <a:rPr lang="vi-VN" sz="1050" dirty="0">
                <a:solidFill>
                  <a:srgbClr val="1E293B"/>
                </a:solidFill>
                <a:latin typeface="Segoe UI"/>
              </a:rPr>
              <a:t>Chốt phạm vi công việc</a:t>
            </a:r>
          </a:p>
          <a:p>
            <a:pPr marL="171450" indent="-171450">
              <a:spcAft>
                <a:spcPts val="300"/>
              </a:spcAft>
              <a:buFont typeface="Wingdings" panose="05000000000000000000" pitchFamily="2" charset="2"/>
              <a:buChar char="ü"/>
              <a:defRPr sz="1050">
                <a:solidFill>
                  <a:srgbClr val="1E293B"/>
                </a:solidFill>
                <a:latin typeface="Segoe UI"/>
              </a:defRPr>
            </a:pPr>
            <a:r>
              <a:rPr lang="vi-VN" sz="1050" dirty="0">
                <a:solidFill>
                  <a:srgbClr val="1E293B"/>
                </a:solidFill>
                <a:latin typeface="Segoe UI"/>
              </a:rPr>
              <a:t>Lập kế hoạch công việc và mốc giao hàng</a:t>
            </a:r>
          </a:p>
          <a:p>
            <a:pPr marL="171450" indent="-171450">
              <a:spcAft>
                <a:spcPts val="300"/>
              </a:spcAft>
              <a:buFont typeface="Wingdings" panose="05000000000000000000" pitchFamily="2" charset="2"/>
              <a:buChar char="ü"/>
              <a:defRPr sz="1050">
                <a:solidFill>
                  <a:srgbClr val="1E293B"/>
                </a:solidFill>
                <a:latin typeface="Segoe UI"/>
              </a:defRPr>
            </a:pPr>
            <a:r>
              <a:rPr lang="vi-VN" sz="1050" dirty="0">
                <a:solidFill>
                  <a:srgbClr val="1E293B"/>
                </a:solidFill>
                <a:latin typeface="Segoe UI"/>
              </a:rPr>
              <a:t>Viết test cases</a:t>
            </a:r>
          </a:p>
          <a:p>
            <a:pPr marL="171450" indent="-171450">
              <a:spcAft>
                <a:spcPts val="300"/>
              </a:spcAft>
              <a:buFont typeface="Wingdings" panose="05000000000000000000" pitchFamily="2" charset="2"/>
              <a:buChar char="ü"/>
              <a:defRPr sz="1050">
                <a:solidFill>
                  <a:srgbClr val="1E293B"/>
                </a:solidFill>
                <a:latin typeface="Segoe UI"/>
              </a:defRPr>
            </a:pPr>
            <a:r>
              <a:rPr lang="vi-VN" sz="1050" dirty="0">
                <a:solidFill>
                  <a:srgbClr val="1E293B"/>
                </a:solidFill>
                <a:latin typeface="Segoe UI"/>
              </a:rPr>
              <a:t>QA Sign-off</a:t>
            </a:r>
          </a:p>
          <a:p>
            <a:pPr marL="171450" indent="-171450">
              <a:spcAft>
                <a:spcPts val="300"/>
              </a:spcAft>
              <a:buFont typeface="Wingdings" panose="05000000000000000000" pitchFamily="2" charset="2"/>
              <a:buChar char="ü"/>
              <a:defRPr sz="1050">
                <a:solidFill>
                  <a:srgbClr val="1E293B"/>
                </a:solidFill>
                <a:latin typeface="Segoe UI"/>
              </a:defRPr>
            </a:pPr>
            <a:r>
              <a:rPr lang="vi-VN" sz="1050" dirty="0">
                <a:solidFill>
                  <a:srgbClr val="1E293B"/>
                </a:solidFill>
                <a:latin typeface="Segoe UI"/>
              </a:rPr>
              <a:t>Phân tích lỗi</a:t>
            </a:r>
          </a:p>
          <a:p>
            <a:pPr marL="171450" indent="-171450">
              <a:spcAft>
                <a:spcPts val="300"/>
              </a:spcAft>
              <a:buFont typeface="Wingdings" panose="05000000000000000000" pitchFamily="2" charset="2"/>
              <a:buChar char="ü"/>
              <a:defRPr sz="1050">
                <a:solidFill>
                  <a:srgbClr val="1E293B"/>
                </a:solidFill>
                <a:latin typeface="Segoe UI"/>
              </a:defRPr>
            </a:pPr>
            <a:r>
              <a:rPr lang="vi-VN" sz="1050" dirty="0">
                <a:solidFill>
                  <a:srgbClr val="1E293B"/>
                </a:solidFill>
                <a:latin typeface="Segoe UI"/>
              </a:rPr>
              <a:t>Làm báo giá Change Request</a:t>
            </a:r>
          </a:p>
          <a:p>
            <a:pPr marL="171450" indent="-171450">
              <a:spcAft>
                <a:spcPts val="300"/>
              </a:spcAft>
              <a:buFont typeface="Wingdings" panose="05000000000000000000" pitchFamily="2" charset="2"/>
              <a:buChar char="ü"/>
              <a:defRPr sz="1050">
                <a:solidFill>
                  <a:srgbClr val="1E293B"/>
                </a:solidFill>
                <a:latin typeface="Segoe UI"/>
              </a:defRPr>
            </a:pPr>
            <a:r>
              <a:rPr lang="vi-VN" sz="1050" dirty="0">
                <a:solidFill>
                  <a:srgbClr val="1E293B"/>
                </a:solidFill>
                <a:latin typeface="Segoe UI"/>
              </a:rPr>
              <a:t>Quy trình Change Request</a:t>
            </a:r>
          </a:p>
          <a:p>
            <a:pPr>
              <a:spcAft>
                <a:spcPts val="300"/>
              </a:spcAft>
              <a:defRPr sz="1050">
                <a:solidFill>
                  <a:srgbClr val="1E293B"/>
                </a:solidFill>
                <a:latin typeface="Segoe UI"/>
              </a:defRPr>
            </a:pPr>
            <a:endParaRPr lang="en-US" sz="1050" dirty="0">
              <a:solidFill>
                <a:srgbClr val="1E293B"/>
              </a:solidFill>
              <a:latin typeface="Segoe UI"/>
            </a:endParaRPr>
          </a:p>
          <a:p>
            <a:pPr>
              <a:spcAft>
                <a:spcPts val="300"/>
              </a:spcAft>
              <a:defRPr sz="1050">
                <a:solidFill>
                  <a:srgbClr val="1E293B"/>
                </a:solidFill>
                <a:latin typeface="Segoe UI"/>
              </a:defRPr>
            </a:pPr>
            <a:endParaRPr dirty="0"/>
          </a:p>
        </p:txBody>
      </p:sp>
      <p:sp>
        <p:nvSpPr>
          <p:cNvPr id="13" name="Rounded Rectangle 12">
            <a:extLst>
              <a:ext uri="{FF2B5EF4-FFF2-40B4-BE49-F238E27FC236}">
                <a16:creationId xmlns:a16="http://schemas.microsoft.com/office/drawing/2014/main" id="{8A5B3729-D579-22C0-4268-0C01E1D4B57F}"/>
              </a:ext>
            </a:extLst>
          </p:cNvPr>
          <p:cNvSpPr/>
          <p:nvPr/>
        </p:nvSpPr>
        <p:spPr>
          <a:xfrm>
            <a:off x="8046720" y="1371600"/>
            <a:ext cx="3413455" cy="48463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wrap="square" lIns="182880" tIns="164592" rIns="182880" bIns="164592" rtlCol="0" anchor="ctr"/>
          <a:lstStyle/>
          <a:p>
            <a:pPr algn="ctr">
              <a:spcAft>
                <a:spcPts val="600"/>
              </a:spcAft>
              <a:defRPr sz="1300" b="1">
                <a:solidFill>
                  <a:srgbClr val="005BAA"/>
                </a:solidFill>
                <a:latin typeface="Segoe UI"/>
              </a:defRPr>
            </a:pPr>
            <a:r>
              <a:rPr lang="vi-VN" sz="1300" b="1" dirty="0">
                <a:solidFill>
                  <a:srgbClr val="0DB14B"/>
                </a:solidFill>
                <a:latin typeface="Segoe UI"/>
              </a:rPr>
              <a:t>NVA</a:t>
            </a:r>
          </a:p>
          <a:p>
            <a:pPr algn="ctr">
              <a:spcAft>
                <a:spcPts val="600"/>
              </a:spcAft>
              <a:defRPr sz="1300" b="1">
                <a:solidFill>
                  <a:srgbClr val="005BAA"/>
                </a:solidFill>
                <a:latin typeface="Segoe UI"/>
              </a:defRPr>
            </a:pPr>
            <a:r>
              <a:rPr lang="vi-VN" sz="1000" b="1" dirty="0">
                <a:solidFill>
                  <a:srgbClr val="0DB14B"/>
                </a:solidFill>
                <a:latin typeface="Segoe UI"/>
              </a:rPr>
              <a:t>Các </a:t>
            </a:r>
            <a:r>
              <a:rPr lang="en-US" sz="1000" b="1" dirty="0" err="1">
                <a:solidFill>
                  <a:srgbClr val="0DB14B"/>
                </a:solidFill>
                <a:latin typeface="Segoe UI"/>
              </a:rPr>
              <a:t>hoạt</a:t>
            </a:r>
            <a:r>
              <a:rPr lang="en-US" sz="1000" b="1" dirty="0">
                <a:solidFill>
                  <a:srgbClr val="0DB14B"/>
                </a:solidFill>
                <a:latin typeface="Segoe UI"/>
              </a:rPr>
              <a:t> </a:t>
            </a:r>
            <a:r>
              <a:rPr lang="en-US" sz="1000" b="1" dirty="0" err="1">
                <a:solidFill>
                  <a:srgbClr val="0DB14B"/>
                </a:solidFill>
                <a:latin typeface="Segoe UI"/>
              </a:rPr>
              <a:t>động</a:t>
            </a:r>
            <a:r>
              <a:rPr lang="en-US" sz="1000" b="1" dirty="0">
                <a:solidFill>
                  <a:srgbClr val="0DB14B"/>
                </a:solidFill>
                <a:latin typeface="Segoe UI"/>
              </a:rPr>
              <a:t> </a:t>
            </a:r>
            <a:r>
              <a:rPr lang="en-US" sz="1000" b="1" dirty="0" err="1">
                <a:solidFill>
                  <a:srgbClr val="0DB14B"/>
                </a:solidFill>
                <a:latin typeface="Segoe UI"/>
              </a:rPr>
              <a:t>lãng</a:t>
            </a:r>
            <a:r>
              <a:rPr lang="en-US" sz="1000" b="1" dirty="0">
                <a:solidFill>
                  <a:srgbClr val="0DB14B"/>
                </a:solidFill>
                <a:latin typeface="Segoe UI"/>
              </a:rPr>
              <a:t> </a:t>
            </a:r>
            <a:r>
              <a:rPr lang="en-US" sz="1000" b="1" dirty="0" err="1">
                <a:solidFill>
                  <a:srgbClr val="0DB14B"/>
                </a:solidFill>
                <a:latin typeface="Segoe UI"/>
              </a:rPr>
              <a:t>phí</a:t>
            </a:r>
            <a:r>
              <a:rPr lang="en-US" sz="1000" b="1" dirty="0">
                <a:solidFill>
                  <a:srgbClr val="0DB14B"/>
                </a:solidFill>
                <a:latin typeface="Segoe UI"/>
              </a:rPr>
              <a:t> </a:t>
            </a:r>
            <a:r>
              <a:rPr lang="en-US" sz="1000" b="1" dirty="0" err="1">
                <a:solidFill>
                  <a:srgbClr val="0DB14B"/>
                </a:solidFill>
                <a:latin typeface="Segoe UI"/>
              </a:rPr>
              <a:t>nên</a:t>
            </a:r>
            <a:r>
              <a:rPr lang="en-US" sz="1000" b="1" dirty="0">
                <a:solidFill>
                  <a:srgbClr val="0DB14B"/>
                </a:solidFill>
                <a:latin typeface="Segoe UI"/>
              </a:rPr>
              <a:t> </a:t>
            </a:r>
            <a:r>
              <a:rPr lang="en-US" sz="1000" b="1" dirty="0" err="1">
                <a:solidFill>
                  <a:srgbClr val="0DB14B"/>
                </a:solidFill>
                <a:latin typeface="Segoe UI"/>
              </a:rPr>
              <a:t>giảm</a:t>
            </a:r>
            <a:r>
              <a:rPr lang="en-US" sz="1000" b="1" dirty="0">
                <a:solidFill>
                  <a:srgbClr val="0DB14B"/>
                </a:solidFill>
                <a:latin typeface="Segoe UI"/>
              </a:rPr>
              <a:t> </a:t>
            </a:r>
            <a:r>
              <a:rPr lang="en-US" sz="1000" b="1" dirty="0" err="1">
                <a:solidFill>
                  <a:srgbClr val="0DB14B"/>
                </a:solidFill>
                <a:latin typeface="Segoe UI"/>
              </a:rPr>
              <a:t>tối</a:t>
            </a:r>
            <a:r>
              <a:rPr lang="en-US" sz="1000" b="1" dirty="0">
                <a:solidFill>
                  <a:srgbClr val="0DB14B"/>
                </a:solidFill>
                <a:latin typeface="Segoe UI"/>
              </a:rPr>
              <a:t> </a:t>
            </a:r>
            <a:r>
              <a:rPr lang="en-US" sz="1000" b="1" dirty="0" err="1">
                <a:solidFill>
                  <a:srgbClr val="0DB14B"/>
                </a:solidFill>
                <a:latin typeface="Segoe UI"/>
              </a:rPr>
              <a:t>thiểu</a:t>
            </a:r>
            <a:endParaRPr lang="vi-VN" sz="1000" b="1" dirty="0">
              <a:solidFill>
                <a:srgbClr val="0DB14B"/>
              </a:solidFill>
              <a:latin typeface="Segoe UI"/>
            </a:endParaRPr>
          </a:p>
          <a:p>
            <a:pPr marL="171450" indent="-171450">
              <a:spcAft>
                <a:spcPts val="300"/>
              </a:spcAft>
              <a:buFont typeface="Wingdings" panose="05000000000000000000" pitchFamily="2" charset="2"/>
              <a:buChar char="ü"/>
              <a:defRPr sz="1050">
                <a:solidFill>
                  <a:srgbClr val="1E293B"/>
                </a:solidFill>
                <a:latin typeface="Segoe UI"/>
              </a:defRPr>
            </a:pPr>
            <a:r>
              <a:rPr lang="vi-VN" dirty="0"/>
              <a:t>Yêu cầu chỉnh sửa do tài liệu chưa được khách hàng chấp thuận,</a:t>
            </a:r>
          </a:p>
          <a:p>
            <a:pPr marL="171450" indent="-171450">
              <a:spcAft>
                <a:spcPts val="300"/>
              </a:spcAft>
              <a:buFont typeface="Wingdings" panose="05000000000000000000" pitchFamily="2" charset="2"/>
              <a:buChar char="ü"/>
              <a:defRPr sz="1050">
                <a:solidFill>
                  <a:srgbClr val="1E293B"/>
                </a:solidFill>
                <a:latin typeface="Segoe UI"/>
              </a:defRPr>
            </a:pPr>
            <a:r>
              <a:rPr lang="vi-VN" dirty="0"/>
              <a:t>Báo bug do sai từ đầu,</a:t>
            </a:r>
          </a:p>
          <a:p>
            <a:pPr marL="171450" indent="-171450">
              <a:spcAft>
                <a:spcPts val="300"/>
              </a:spcAft>
              <a:buFont typeface="Wingdings" panose="05000000000000000000" pitchFamily="2" charset="2"/>
              <a:buChar char="ü"/>
              <a:defRPr sz="1050">
                <a:solidFill>
                  <a:srgbClr val="1E293B"/>
                </a:solidFill>
                <a:latin typeface="Segoe UI"/>
              </a:defRPr>
            </a:pPr>
            <a:r>
              <a:rPr lang="vi-VN" dirty="0"/>
              <a:t>Sửa bug (rework),</a:t>
            </a:r>
          </a:p>
          <a:p>
            <a:pPr marL="171450" indent="-171450">
              <a:spcAft>
                <a:spcPts val="300"/>
              </a:spcAft>
              <a:buFont typeface="Wingdings" panose="05000000000000000000" pitchFamily="2" charset="2"/>
              <a:buChar char="ü"/>
              <a:defRPr sz="1050">
                <a:solidFill>
                  <a:srgbClr val="1E293B"/>
                </a:solidFill>
                <a:latin typeface="Segoe UI"/>
              </a:defRPr>
            </a:pPr>
            <a:r>
              <a:rPr lang="vi-VN" dirty="0"/>
              <a:t>Thông báo lỗi UAT.</a:t>
            </a:r>
            <a:endParaRPr dirty="0"/>
          </a:p>
        </p:txBody>
      </p:sp>
    </p:spTree>
    <p:extLst>
      <p:ext uri="{BB962C8B-B14F-4D97-AF65-F5344CB8AC3E}">
        <p14:creationId xmlns:p14="http://schemas.microsoft.com/office/powerpoint/2010/main" val="22731011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D50985-65D0-9DCC-6D6B-0618F0DEDAA3}"/>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6563B49D-49CF-A197-DA7F-2306AD3364C2}"/>
              </a:ext>
            </a:extLst>
          </p:cNvPr>
          <p:cNvSpPr/>
          <p:nvPr/>
        </p:nvSpPr>
        <p:spPr>
          <a:xfrm>
            <a:off x="0" y="0"/>
            <a:ext cx="12191695" cy="107899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a:extLst>
              <a:ext uri="{FF2B5EF4-FFF2-40B4-BE49-F238E27FC236}">
                <a16:creationId xmlns:a16="http://schemas.microsoft.com/office/drawing/2014/main" id="{8B8C9C5E-0D5B-0849-6A84-64B8332F673D}"/>
              </a:ext>
            </a:extLst>
          </p:cNvPr>
          <p:cNvSpPr/>
          <p:nvPr/>
        </p:nvSpPr>
        <p:spPr>
          <a:xfrm>
            <a:off x="731520" y="1051560"/>
            <a:ext cx="7772400" cy="36576"/>
          </a:xfrm>
          <a:prstGeom prst="rect">
            <a:avLst/>
          </a:prstGeom>
          <a:solidFill>
            <a:srgbClr val="005B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a:extLst>
              <a:ext uri="{FF2B5EF4-FFF2-40B4-BE49-F238E27FC236}">
                <a16:creationId xmlns:a16="http://schemas.microsoft.com/office/drawing/2014/main" id="{B49F23B0-29CC-D972-FCDE-1E4DC06E42E5}"/>
              </a:ext>
            </a:extLst>
          </p:cNvPr>
          <p:cNvSpPr/>
          <p:nvPr/>
        </p:nvSpPr>
        <p:spPr>
          <a:xfrm>
            <a:off x="8503920" y="1051560"/>
            <a:ext cx="2926080" cy="36576"/>
          </a:xfrm>
          <a:prstGeom prst="rect">
            <a:avLst/>
          </a:prstGeom>
          <a:solidFill>
            <a:srgbClr val="F370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a:extLst>
              <a:ext uri="{FF2B5EF4-FFF2-40B4-BE49-F238E27FC236}">
                <a16:creationId xmlns:a16="http://schemas.microsoft.com/office/drawing/2014/main" id="{91FEA4B8-B8A8-0C0E-CBB7-527449897E7D}"/>
              </a:ext>
            </a:extLst>
          </p:cNvPr>
          <p:cNvSpPr/>
          <p:nvPr/>
        </p:nvSpPr>
        <p:spPr>
          <a:xfrm>
            <a:off x="731520" y="146304"/>
            <a:ext cx="3840480" cy="256032"/>
          </a:xfrm>
          <a:prstGeom prst="roundRect">
            <a:avLst/>
          </a:prstGeom>
          <a:solidFill>
            <a:srgbClr val="FFF7ED"/>
          </a:solidFill>
          <a:ln w="9525">
            <a:solidFill>
              <a:srgbClr val="F37021"/>
            </a:solidFill>
          </a:ln>
        </p:spPr>
        <p:style>
          <a:lnRef idx="1">
            <a:schemeClr val="accent1"/>
          </a:lnRef>
          <a:fillRef idx="3">
            <a:schemeClr val="accent1"/>
          </a:fillRef>
          <a:effectRef idx="2">
            <a:schemeClr val="accent1"/>
          </a:effectRef>
          <a:fontRef idx="minor">
            <a:schemeClr val="lt1"/>
          </a:fontRef>
        </p:style>
        <p:txBody>
          <a:bodyPr wrap="square" lIns="109728" tIns="18288" rtlCol="0" anchor="ctr"/>
          <a:lstStyle/>
          <a:p>
            <a:pPr algn="ctr">
              <a:defRPr sz="950" b="1">
                <a:solidFill>
                  <a:srgbClr val="F37021"/>
                </a:solidFill>
                <a:latin typeface="Segoe UI"/>
              </a:defRPr>
            </a:pPr>
            <a:r>
              <a:t>PHẦN 3: QUY TRÌNH QUẢN LÝ</a:t>
            </a:r>
          </a:p>
        </p:txBody>
      </p:sp>
      <p:sp>
        <p:nvSpPr>
          <p:cNvPr id="6" name="TextBox 5">
            <a:extLst>
              <a:ext uri="{FF2B5EF4-FFF2-40B4-BE49-F238E27FC236}">
                <a16:creationId xmlns:a16="http://schemas.microsoft.com/office/drawing/2014/main" id="{E4A6BF32-7C30-2E10-85DB-1FBC509DD62D}"/>
              </a:ext>
            </a:extLst>
          </p:cNvPr>
          <p:cNvSpPr txBox="1"/>
          <p:nvPr/>
        </p:nvSpPr>
        <p:spPr>
          <a:xfrm>
            <a:off x="731520" y="438912"/>
            <a:ext cx="8686800" cy="338554"/>
          </a:xfrm>
          <a:prstGeom prst="rect">
            <a:avLst/>
          </a:prstGeom>
          <a:noFill/>
        </p:spPr>
        <p:txBody>
          <a:bodyPr wrap="square" lIns="0" tIns="0">
            <a:spAutoFit/>
          </a:bodyPr>
          <a:lstStyle/>
          <a:p>
            <a:pPr>
              <a:defRPr sz="1900" b="1">
                <a:solidFill>
                  <a:srgbClr val="0A2540"/>
                </a:solidFill>
                <a:latin typeface="Segoe UI"/>
              </a:defRPr>
            </a:pPr>
            <a:r>
              <a:rPr lang="vi-VN" dirty="0"/>
              <a:t>Phân Tích Quy Trình – Phân Tích Sự Lãng Phí</a:t>
            </a:r>
            <a:endParaRPr dirty="0"/>
          </a:p>
        </p:txBody>
      </p:sp>
      <p:pic>
        <p:nvPicPr>
          <p:cNvPr id="7" name="Picture 6" descr="fpt_software_logo.png">
            <a:extLst>
              <a:ext uri="{FF2B5EF4-FFF2-40B4-BE49-F238E27FC236}">
                <a16:creationId xmlns:a16="http://schemas.microsoft.com/office/drawing/2014/main" id="{525D0DDB-4032-BB55-4B51-C84D6E2A4900}"/>
              </a:ext>
            </a:extLst>
          </p:cNvPr>
          <p:cNvPicPr>
            <a:picLocks noChangeAspect="1"/>
          </p:cNvPicPr>
          <p:nvPr/>
        </p:nvPicPr>
        <p:blipFill>
          <a:blip r:embed="rId2"/>
          <a:stretch>
            <a:fillRect/>
          </a:stretch>
        </p:blipFill>
        <p:spPr>
          <a:xfrm>
            <a:off x="9784080" y="201168"/>
            <a:ext cx="1691640" cy="422910"/>
          </a:xfrm>
          <a:prstGeom prst="rect">
            <a:avLst/>
          </a:prstGeom>
        </p:spPr>
      </p:pic>
      <p:sp>
        <p:nvSpPr>
          <p:cNvPr id="8" name="Rectangle 7">
            <a:extLst>
              <a:ext uri="{FF2B5EF4-FFF2-40B4-BE49-F238E27FC236}">
                <a16:creationId xmlns:a16="http://schemas.microsoft.com/office/drawing/2014/main" id="{A9CE5EEA-69C0-1C17-3DC3-230A71C367A2}"/>
              </a:ext>
            </a:extLst>
          </p:cNvPr>
          <p:cNvSpPr/>
          <p:nvPr/>
        </p:nvSpPr>
        <p:spPr>
          <a:xfrm>
            <a:off x="731520" y="6419088"/>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a:extLst>
              <a:ext uri="{FF2B5EF4-FFF2-40B4-BE49-F238E27FC236}">
                <a16:creationId xmlns:a16="http://schemas.microsoft.com/office/drawing/2014/main" id="{A3175763-DA5F-9B86-06AC-89E4A59F32B3}"/>
              </a:ext>
            </a:extLst>
          </p:cNvPr>
          <p:cNvSpPr txBox="1"/>
          <p:nvPr/>
        </p:nvSpPr>
        <p:spPr>
          <a:xfrm>
            <a:off x="731520" y="6473952"/>
            <a:ext cx="7772400" cy="274320"/>
          </a:xfrm>
          <a:prstGeom prst="rect">
            <a:avLst/>
          </a:prstGeom>
          <a:noFill/>
        </p:spPr>
        <p:txBody>
          <a:bodyPr wrap="none">
            <a:spAutoFit/>
          </a:bodyPr>
          <a:lstStyle/>
          <a:p>
            <a:pPr>
              <a:defRPr sz="850">
                <a:solidFill>
                  <a:srgbClr val="64748B"/>
                </a:solidFill>
                <a:latin typeface="Segoe UI"/>
              </a:defRPr>
            </a:pPr>
            <a:r>
              <a:t>FPT Software | Hệ thống Quản trị Quy trình Nghiệp vụ (BPM) - Đồ án Môn học - Nhóm 8</a:t>
            </a:r>
          </a:p>
        </p:txBody>
      </p:sp>
      <p:sp>
        <p:nvSpPr>
          <p:cNvPr id="10" name="TextBox 9">
            <a:extLst>
              <a:ext uri="{FF2B5EF4-FFF2-40B4-BE49-F238E27FC236}">
                <a16:creationId xmlns:a16="http://schemas.microsoft.com/office/drawing/2014/main" id="{49FB1E46-ADEA-F55D-BA16-843C80809752}"/>
              </a:ext>
            </a:extLst>
          </p:cNvPr>
          <p:cNvSpPr txBox="1"/>
          <p:nvPr/>
        </p:nvSpPr>
        <p:spPr>
          <a:xfrm>
            <a:off x="10058400" y="6473952"/>
            <a:ext cx="1371600" cy="274320"/>
          </a:xfrm>
          <a:prstGeom prst="rect">
            <a:avLst/>
          </a:prstGeom>
          <a:noFill/>
        </p:spPr>
        <p:txBody>
          <a:bodyPr wrap="none">
            <a:spAutoFit/>
          </a:bodyPr>
          <a:lstStyle/>
          <a:p>
            <a:pPr algn="r">
              <a:defRPr sz="850" b="1">
                <a:solidFill>
                  <a:srgbClr val="005BAA"/>
                </a:solidFill>
                <a:latin typeface="Segoe UI"/>
              </a:defRPr>
            </a:pPr>
            <a:r>
              <a:t>9 / 27</a:t>
            </a:r>
          </a:p>
        </p:txBody>
      </p:sp>
      <p:sp>
        <p:nvSpPr>
          <p:cNvPr id="11" name="Rounded Rectangle 10">
            <a:extLst>
              <a:ext uri="{FF2B5EF4-FFF2-40B4-BE49-F238E27FC236}">
                <a16:creationId xmlns:a16="http://schemas.microsoft.com/office/drawing/2014/main" id="{D4C28073-A699-797E-AF9D-98ECFAD95931}"/>
              </a:ext>
            </a:extLst>
          </p:cNvPr>
          <p:cNvSpPr/>
          <p:nvPr/>
        </p:nvSpPr>
        <p:spPr>
          <a:xfrm>
            <a:off x="610140" y="1371600"/>
            <a:ext cx="3429000" cy="48463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wrap="square" lIns="182880" tIns="164592" rIns="182880" bIns="164592" rtlCol="0" anchor="ctr"/>
          <a:lstStyle/>
          <a:p>
            <a:pPr algn="ctr">
              <a:spcAft>
                <a:spcPts val="600"/>
              </a:spcAft>
              <a:defRPr sz="1300" b="1">
                <a:solidFill>
                  <a:srgbClr val="0A2540"/>
                </a:solidFill>
                <a:latin typeface="Segoe UI"/>
              </a:defRPr>
            </a:pPr>
            <a:r>
              <a:rPr lang="vi-VN" sz="1300" b="1" dirty="0">
                <a:solidFill>
                  <a:srgbClr val="005BAA"/>
                </a:solidFill>
                <a:latin typeface="Segoe UI"/>
              </a:rPr>
              <a:t>MOVE</a:t>
            </a:r>
          </a:p>
          <a:p>
            <a:pPr algn="ctr">
              <a:spcAft>
                <a:spcPts val="600"/>
              </a:spcAft>
              <a:defRPr sz="1300" b="1">
                <a:solidFill>
                  <a:srgbClr val="0A2540"/>
                </a:solidFill>
                <a:latin typeface="Segoe UI"/>
              </a:defRPr>
            </a:pPr>
            <a:r>
              <a:rPr lang="vi-VN" sz="1000" b="1" dirty="0">
                <a:solidFill>
                  <a:srgbClr val="005BAA"/>
                </a:solidFill>
                <a:latin typeface="Segoe UI"/>
              </a:rPr>
              <a:t>Chuyển giao thông tin.</a:t>
            </a:r>
          </a:p>
          <a:p>
            <a:pPr marL="171450" indent="-171450">
              <a:spcAft>
                <a:spcPts val="300"/>
              </a:spcAft>
              <a:buFont typeface="Wingdings" panose="05000000000000000000" pitchFamily="2" charset="2"/>
              <a:buChar char="ü"/>
              <a:defRPr sz="1050">
                <a:solidFill>
                  <a:srgbClr val="1E293B"/>
                </a:solidFill>
                <a:latin typeface="Segoe UI"/>
              </a:defRPr>
            </a:pPr>
            <a:r>
              <a:rPr lang="vi-VN" dirty="0"/>
              <a:t>Luồng tin nhắn, yêu cầu chỉnh sửa và gửi lại tài liệu.</a:t>
            </a:r>
          </a:p>
          <a:p>
            <a:pPr marL="171450" indent="-171450">
              <a:spcAft>
                <a:spcPts val="300"/>
              </a:spcAft>
              <a:buFont typeface="Wingdings" panose="05000000000000000000" pitchFamily="2" charset="2"/>
              <a:buChar char="ü"/>
              <a:defRPr sz="1050">
                <a:solidFill>
                  <a:srgbClr val="1E293B"/>
                </a:solidFill>
                <a:latin typeface="Segoe UI"/>
              </a:defRPr>
            </a:pPr>
            <a:r>
              <a:rPr lang="vi-VN" dirty="0"/>
              <a:t>Báo bug từ QA sang Dev thiếu thông tin, dẫn đến phải trao đổi lại nhiều lần.</a:t>
            </a:r>
          </a:p>
          <a:p>
            <a:pPr marL="171450" indent="-171450">
              <a:spcAft>
                <a:spcPts val="300"/>
              </a:spcAft>
              <a:buFont typeface="Wingdings" panose="05000000000000000000" pitchFamily="2" charset="2"/>
              <a:buChar char="ü"/>
              <a:defRPr sz="1050">
                <a:solidFill>
                  <a:srgbClr val="1E293B"/>
                </a:solidFill>
                <a:latin typeface="Segoe UI"/>
              </a:defRPr>
            </a:pPr>
            <a:r>
              <a:rPr lang="vi-VN" dirty="0"/>
              <a:t>Nguyên nhân: giao tiếp qua file rời/emails khiến thông tin bị phân mảnh, dễ hiểu sai ý nhau.</a:t>
            </a:r>
          </a:p>
          <a:p>
            <a:pPr marL="171450" indent="-171450">
              <a:spcAft>
                <a:spcPts val="300"/>
              </a:spcAft>
              <a:buFont typeface="Wingdings" panose="05000000000000000000" pitchFamily="2" charset="2"/>
              <a:buChar char="ü"/>
              <a:defRPr sz="1050">
                <a:solidFill>
                  <a:srgbClr val="1E293B"/>
                </a:solidFill>
                <a:latin typeface="Segoe UI"/>
              </a:defRPr>
            </a:pPr>
            <a:r>
              <a:rPr lang="vi-VN" dirty="0"/>
              <a:t>Giải pháp: dùng công cụ cộng tác trực tuyến như Figma, Google Docs và chuẩn hóa ticket lỗi.</a:t>
            </a:r>
            <a:endParaRPr dirty="0"/>
          </a:p>
        </p:txBody>
      </p:sp>
      <p:sp>
        <p:nvSpPr>
          <p:cNvPr id="12" name="Rounded Rectangle 11">
            <a:extLst>
              <a:ext uri="{FF2B5EF4-FFF2-40B4-BE49-F238E27FC236}">
                <a16:creationId xmlns:a16="http://schemas.microsoft.com/office/drawing/2014/main" id="{CF312D4A-8259-893B-A8E6-5BFC0E4A5CFD}"/>
              </a:ext>
            </a:extLst>
          </p:cNvPr>
          <p:cNvSpPr/>
          <p:nvPr/>
        </p:nvSpPr>
        <p:spPr>
          <a:xfrm>
            <a:off x="4389120" y="1371600"/>
            <a:ext cx="3429000" cy="48463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wrap="square" lIns="182880" tIns="164592" rIns="182880" bIns="164592" rtlCol="0" anchor="ctr"/>
          <a:lstStyle/>
          <a:p>
            <a:pPr algn="ctr">
              <a:spcAft>
                <a:spcPts val="600"/>
              </a:spcAft>
              <a:defRPr sz="1300" b="1">
                <a:solidFill>
                  <a:srgbClr val="F37021"/>
                </a:solidFill>
                <a:latin typeface="Segoe UI"/>
              </a:defRPr>
            </a:pPr>
            <a:r>
              <a:rPr lang="vi-VN" dirty="0"/>
              <a:t>HOLD</a:t>
            </a:r>
          </a:p>
          <a:p>
            <a:pPr algn="ctr">
              <a:spcAft>
                <a:spcPts val="600"/>
              </a:spcAft>
              <a:defRPr sz="1300" b="1">
                <a:solidFill>
                  <a:srgbClr val="F37021"/>
                </a:solidFill>
                <a:latin typeface="Segoe UI"/>
              </a:defRPr>
            </a:pPr>
            <a:r>
              <a:rPr lang="vi-VN" sz="1000" dirty="0">
                <a:solidFill>
                  <a:schemeClr val="accent6"/>
                </a:solidFill>
                <a:latin typeface="Segoe UI"/>
              </a:rPr>
              <a:t>Chờ đợi.</a:t>
            </a:r>
          </a:p>
          <a:p>
            <a:pPr marL="171450" indent="-171450">
              <a:spcAft>
                <a:spcPts val="300"/>
              </a:spcAft>
              <a:buFont typeface="Wingdings" panose="05000000000000000000" pitchFamily="2" charset="2"/>
              <a:buChar char="ü"/>
              <a:defRPr sz="1050">
                <a:solidFill>
                  <a:srgbClr val="1E293B"/>
                </a:solidFill>
                <a:latin typeface="Segoe UI"/>
              </a:defRPr>
            </a:pPr>
            <a:r>
              <a:rPr lang="vi-VN" sz="1050" dirty="0">
                <a:solidFill>
                  <a:srgbClr val="1E293B"/>
                </a:solidFill>
                <a:latin typeface="Segoe UI"/>
              </a:rPr>
              <a:t>Event chờ phản hồi UAT.</a:t>
            </a:r>
          </a:p>
          <a:p>
            <a:pPr marL="171450" indent="-171450">
              <a:spcAft>
                <a:spcPts val="300"/>
              </a:spcAft>
              <a:buFont typeface="Wingdings" panose="05000000000000000000" pitchFamily="2" charset="2"/>
              <a:buChar char="ü"/>
              <a:defRPr sz="1050">
                <a:solidFill>
                  <a:srgbClr val="1E293B"/>
                </a:solidFill>
                <a:latin typeface="Segoe UI"/>
              </a:defRPr>
            </a:pPr>
            <a:r>
              <a:rPr lang="vi-VN" sz="1050" dirty="0">
                <a:solidFill>
                  <a:srgbClr val="1E293B"/>
                </a:solidFill>
                <a:latin typeface="Segoe UI"/>
              </a:rPr>
              <a:t>Event chờ xác nhận thanh toán.</a:t>
            </a:r>
          </a:p>
          <a:p>
            <a:pPr marL="171450" indent="-171450">
              <a:spcAft>
                <a:spcPts val="300"/>
              </a:spcAft>
              <a:buFont typeface="Wingdings" panose="05000000000000000000" pitchFamily="2" charset="2"/>
              <a:buChar char="ü"/>
              <a:defRPr sz="1050">
                <a:solidFill>
                  <a:srgbClr val="1E293B"/>
                </a:solidFill>
                <a:latin typeface="Segoe UI"/>
              </a:defRPr>
            </a:pPr>
            <a:r>
              <a:rPr lang="vi-VN" sz="1050" dirty="0">
                <a:solidFill>
                  <a:srgbClr val="1E293B"/>
                </a:solidFill>
                <a:latin typeface="Segoe UI"/>
              </a:rPr>
              <a:t>Nguyên nhân: khách hàng bận công việc, quy trình kế toán và hồ sơ bàn giao rườm rà.</a:t>
            </a:r>
          </a:p>
          <a:p>
            <a:pPr marL="171450" indent="-171450">
              <a:spcAft>
                <a:spcPts val="300"/>
              </a:spcAft>
              <a:buFont typeface="Wingdings" panose="05000000000000000000" pitchFamily="2" charset="2"/>
              <a:buChar char="ü"/>
              <a:defRPr sz="1050">
                <a:solidFill>
                  <a:srgbClr val="1E293B"/>
                </a:solidFill>
                <a:latin typeface="Segoe UI"/>
              </a:defRPr>
            </a:pPr>
            <a:r>
              <a:rPr lang="vi-VN" sz="1050" dirty="0">
                <a:solidFill>
                  <a:srgbClr val="1E293B"/>
                </a:solidFill>
                <a:latin typeface="Segoe UI"/>
              </a:rPr>
              <a:t>Giải pháp: thỏa thuận SLA UAT và chuẩn bị sẵn hồ sơ nghiệm thu từ trước.</a:t>
            </a:r>
            <a:endParaRPr lang="en-US" sz="1050" dirty="0">
              <a:solidFill>
                <a:srgbClr val="1E293B"/>
              </a:solidFill>
              <a:latin typeface="Segoe UI"/>
            </a:endParaRPr>
          </a:p>
          <a:p>
            <a:pPr>
              <a:spcAft>
                <a:spcPts val="300"/>
              </a:spcAft>
              <a:defRPr sz="1050">
                <a:solidFill>
                  <a:srgbClr val="1E293B"/>
                </a:solidFill>
                <a:latin typeface="Segoe UI"/>
              </a:defRPr>
            </a:pPr>
            <a:endParaRPr dirty="0"/>
          </a:p>
        </p:txBody>
      </p:sp>
      <p:sp>
        <p:nvSpPr>
          <p:cNvPr id="13" name="Rounded Rectangle 12">
            <a:extLst>
              <a:ext uri="{FF2B5EF4-FFF2-40B4-BE49-F238E27FC236}">
                <a16:creationId xmlns:a16="http://schemas.microsoft.com/office/drawing/2014/main" id="{F6BE2B50-BA95-F64E-F3A6-9A34AD9BFF1D}"/>
              </a:ext>
            </a:extLst>
          </p:cNvPr>
          <p:cNvSpPr/>
          <p:nvPr/>
        </p:nvSpPr>
        <p:spPr>
          <a:xfrm>
            <a:off x="8046720" y="1371600"/>
            <a:ext cx="3413455" cy="48463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wrap="square" lIns="182880" tIns="164592" rIns="182880" bIns="164592" rtlCol="0" anchor="ctr"/>
          <a:lstStyle/>
          <a:p>
            <a:pPr algn="ctr">
              <a:spcAft>
                <a:spcPts val="600"/>
              </a:spcAft>
              <a:defRPr sz="1300" b="1">
                <a:solidFill>
                  <a:srgbClr val="005BAA"/>
                </a:solidFill>
                <a:latin typeface="Segoe UI"/>
              </a:defRPr>
            </a:pPr>
            <a:r>
              <a:rPr lang="vi-VN" sz="1300" b="1" dirty="0">
                <a:solidFill>
                  <a:srgbClr val="0DB14B"/>
                </a:solidFill>
                <a:latin typeface="Segoe UI"/>
              </a:rPr>
              <a:t>OVERDO</a:t>
            </a:r>
          </a:p>
          <a:p>
            <a:pPr algn="ctr">
              <a:spcAft>
                <a:spcPts val="600"/>
              </a:spcAft>
              <a:defRPr sz="1300" b="1">
                <a:solidFill>
                  <a:srgbClr val="005BAA"/>
                </a:solidFill>
                <a:latin typeface="Segoe UI"/>
              </a:defRPr>
            </a:pPr>
            <a:r>
              <a:rPr lang="vi-VN" sz="1000" b="1" dirty="0">
                <a:solidFill>
                  <a:srgbClr val="0DB14B"/>
                </a:solidFill>
                <a:latin typeface="Segoe UI"/>
              </a:rPr>
              <a:t>Làm quá mức.</a:t>
            </a:r>
          </a:p>
          <a:p>
            <a:pPr marL="171450" indent="-171450">
              <a:spcAft>
                <a:spcPts val="300"/>
              </a:spcAft>
              <a:buFont typeface="Wingdings" panose="05000000000000000000" pitchFamily="2" charset="2"/>
              <a:buChar char="ü"/>
              <a:defRPr sz="1050">
                <a:solidFill>
                  <a:srgbClr val="1E293B"/>
                </a:solidFill>
                <a:latin typeface="Segoe UI"/>
              </a:defRPr>
            </a:pPr>
            <a:r>
              <a:rPr lang="vi-VN" dirty="0"/>
              <a:t>Làm báo giá Change Request cho các sửa đổi quá nhỏ như đổi màu nút bấm, sửa vài chữ.</a:t>
            </a:r>
          </a:p>
          <a:p>
            <a:pPr marL="171450" indent="-171450">
              <a:spcAft>
                <a:spcPts val="300"/>
              </a:spcAft>
              <a:buFont typeface="Wingdings" panose="05000000000000000000" pitchFamily="2" charset="2"/>
              <a:buChar char="ü"/>
              <a:defRPr sz="1050">
                <a:solidFill>
                  <a:srgbClr val="1E293B"/>
                </a:solidFill>
                <a:latin typeface="Segoe UI"/>
              </a:defRPr>
            </a:pPr>
            <a:r>
              <a:rPr lang="vi-VN" dirty="0"/>
              <a:t>Viết test case ở mức độ chi tiết thái quá khi yêu cầu chưa được chốt cứng.</a:t>
            </a:r>
          </a:p>
          <a:p>
            <a:pPr marL="171450" indent="-171450">
              <a:spcAft>
                <a:spcPts val="300"/>
              </a:spcAft>
              <a:buFont typeface="Wingdings" panose="05000000000000000000" pitchFamily="2" charset="2"/>
              <a:buChar char="ü"/>
              <a:defRPr sz="1050">
                <a:solidFill>
                  <a:srgbClr val="1E293B"/>
                </a:solidFill>
                <a:latin typeface="Segoe UI"/>
              </a:defRPr>
            </a:pPr>
            <a:r>
              <a:rPr lang="vi-VN" dirty="0"/>
              <a:t>Nguyên nhân: quy trình quá cứng nhắc, yêu cầu chưa đúng scope.</a:t>
            </a:r>
          </a:p>
          <a:p>
            <a:pPr marL="171450" indent="-171450">
              <a:spcAft>
                <a:spcPts val="300"/>
              </a:spcAft>
              <a:buFont typeface="Wingdings" panose="05000000000000000000" pitchFamily="2" charset="2"/>
              <a:buChar char="ü"/>
              <a:defRPr sz="1050">
                <a:solidFill>
                  <a:srgbClr val="1E293B"/>
                </a:solidFill>
                <a:latin typeface="Segoe UI"/>
              </a:defRPr>
            </a:pPr>
            <a:r>
              <a:rPr lang="vi-VN" dirty="0"/>
              <a:t>Giải pháp: dành buffer time 10% dự án và áp dụng checklist thay vì viết test case quá sâu ngay từ đầu.</a:t>
            </a:r>
            <a:endParaRPr dirty="0"/>
          </a:p>
        </p:txBody>
      </p:sp>
    </p:spTree>
    <p:extLst>
      <p:ext uri="{BB962C8B-B14F-4D97-AF65-F5344CB8AC3E}">
        <p14:creationId xmlns:p14="http://schemas.microsoft.com/office/powerpoint/2010/main" val="10863984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7DF38A-5E8A-0F10-240C-76634376F9C3}"/>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A8C4108E-80A8-09B6-A237-B871C1180618}"/>
              </a:ext>
            </a:extLst>
          </p:cNvPr>
          <p:cNvSpPr/>
          <p:nvPr/>
        </p:nvSpPr>
        <p:spPr>
          <a:xfrm>
            <a:off x="0" y="0"/>
            <a:ext cx="12191695" cy="107899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a:extLst>
              <a:ext uri="{FF2B5EF4-FFF2-40B4-BE49-F238E27FC236}">
                <a16:creationId xmlns:a16="http://schemas.microsoft.com/office/drawing/2014/main" id="{8A260EE2-B3C2-5BEB-ED61-8F340E4FBEDD}"/>
              </a:ext>
            </a:extLst>
          </p:cNvPr>
          <p:cNvSpPr/>
          <p:nvPr/>
        </p:nvSpPr>
        <p:spPr>
          <a:xfrm>
            <a:off x="731520" y="1051560"/>
            <a:ext cx="7772400" cy="36576"/>
          </a:xfrm>
          <a:prstGeom prst="rect">
            <a:avLst/>
          </a:prstGeom>
          <a:solidFill>
            <a:srgbClr val="005B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a:extLst>
              <a:ext uri="{FF2B5EF4-FFF2-40B4-BE49-F238E27FC236}">
                <a16:creationId xmlns:a16="http://schemas.microsoft.com/office/drawing/2014/main" id="{069BB8C1-84B9-8777-086C-B32427ABA798}"/>
              </a:ext>
            </a:extLst>
          </p:cNvPr>
          <p:cNvSpPr/>
          <p:nvPr/>
        </p:nvSpPr>
        <p:spPr>
          <a:xfrm>
            <a:off x="8503920" y="1051560"/>
            <a:ext cx="2926080" cy="36576"/>
          </a:xfrm>
          <a:prstGeom prst="rect">
            <a:avLst/>
          </a:prstGeom>
          <a:solidFill>
            <a:srgbClr val="F370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a:extLst>
              <a:ext uri="{FF2B5EF4-FFF2-40B4-BE49-F238E27FC236}">
                <a16:creationId xmlns:a16="http://schemas.microsoft.com/office/drawing/2014/main" id="{3BCEE898-6120-6ABC-D7FC-7F459F16230D}"/>
              </a:ext>
            </a:extLst>
          </p:cNvPr>
          <p:cNvSpPr/>
          <p:nvPr/>
        </p:nvSpPr>
        <p:spPr>
          <a:xfrm>
            <a:off x="731520" y="146304"/>
            <a:ext cx="3840480" cy="256032"/>
          </a:xfrm>
          <a:prstGeom prst="roundRect">
            <a:avLst/>
          </a:prstGeom>
          <a:solidFill>
            <a:srgbClr val="FFF7ED"/>
          </a:solidFill>
          <a:ln w="9525">
            <a:solidFill>
              <a:srgbClr val="F37021"/>
            </a:solidFill>
          </a:ln>
        </p:spPr>
        <p:style>
          <a:lnRef idx="1">
            <a:schemeClr val="accent1"/>
          </a:lnRef>
          <a:fillRef idx="3">
            <a:schemeClr val="accent1"/>
          </a:fillRef>
          <a:effectRef idx="2">
            <a:schemeClr val="accent1"/>
          </a:effectRef>
          <a:fontRef idx="minor">
            <a:schemeClr val="lt1"/>
          </a:fontRef>
        </p:style>
        <p:txBody>
          <a:bodyPr wrap="square" lIns="109728" tIns="18288" rtlCol="0" anchor="ctr"/>
          <a:lstStyle/>
          <a:p>
            <a:pPr algn="ctr">
              <a:defRPr sz="950" b="1">
                <a:solidFill>
                  <a:srgbClr val="F37021"/>
                </a:solidFill>
                <a:latin typeface="Segoe UI"/>
              </a:defRPr>
            </a:pPr>
            <a:r>
              <a:t>PHẦN 3: QUY TRÌNH QUẢN LÝ</a:t>
            </a:r>
          </a:p>
        </p:txBody>
      </p:sp>
      <p:sp>
        <p:nvSpPr>
          <p:cNvPr id="6" name="TextBox 5">
            <a:extLst>
              <a:ext uri="{FF2B5EF4-FFF2-40B4-BE49-F238E27FC236}">
                <a16:creationId xmlns:a16="http://schemas.microsoft.com/office/drawing/2014/main" id="{6DF48E84-6BDE-49AB-5E8A-B6234F668599}"/>
              </a:ext>
            </a:extLst>
          </p:cNvPr>
          <p:cNvSpPr txBox="1"/>
          <p:nvPr/>
        </p:nvSpPr>
        <p:spPr>
          <a:xfrm>
            <a:off x="731520" y="438912"/>
            <a:ext cx="8686800" cy="338554"/>
          </a:xfrm>
          <a:prstGeom prst="rect">
            <a:avLst/>
          </a:prstGeom>
          <a:noFill/>
        </p:spPr>
        <p:txBody>
          <a:bodyPr wrap="square" lIns="0" tIns="0">
            <a:spAutoFit/>
          </a:bodyPr>
          <a:lstStyle/>
          <a:p>
            <a:pPr>
              <a:defRPr sz="1900" b="1">
                <a:solidFill>
                  <a:srgbClr val="0A2540"/>
                </a:solidFill>
                <a:latin typeface="Segoe UI"/>
              </a:defRPr>
            </a:pPr>
            <a:r>
              <a:rPr lang="vi-VN" dirty="0"/>
              <a:t>Phân Tích Quy Trình – Phân Tích Các Bên Liên Quan</a:t>
            </a:r>
            <a:endParaRPr dirty="0"/>
          </a:p>
        </p:txBody>
      </p:sp>
      <p:pic>
        <p:nvPicPr>
          <p:cNvPr id="7" name="Picture 6" descr="fpt_software_logo.png">
            <a:extLst>
              <a:ext uri="{FF2B5EF4-FFF2-40B4-BE49-F238E27FC236}">
                <a16:creationId xmlns:a16="http://schemas.microsoft.com/office/drawing/2014/main" id="{05F3184E-6F51-8C2A-07F3-62F04B940896}"/>
              </a:ext>
            </a:extLst>
          </p:cNvPr>
          <p:cNvPicPr>
            <a:picLocks noChangeAspect="1"/>
          </p:cNvPicPr>
          <p:nvPr/>
        </p:nvPicPr>
        <p:blipFill>
          <a:blip r:embed="rId2"/>
          <a:stretch>
            <a:fillRect/>
          </a:stretch>
        </p:blipFill>
        <p:spPr>
          <a:xfrm>
            <a:off x="9784080" y="201168"/>
            <a:ext cx="1691640" cy="422910"/>
          </a:xfrm>
          <a:prstGeom prst="rect">
            <a:avLst/>
          </a:prstGeom>
        </p:spPr>
      </p:pic>
      <p:sp>
        <p:nvSpPr>
          <p:cNvPr id="8" name="Rectangle 7">
            <a:extLst>
              <a:ext uri="{FF2B5EF4-FFF2-40B4-BE49-F238E27FC236}">
                <a16:creationId xmlns:a16="http://schemas.microsoft.com/office/drawing/2014/main" id="{DFBD875A-5F73-402E-77B8-41C65E3E5EB2}"/>
              </a:ext>
            </a:extLst>
          </p:cNvPr>
          <p:cNvSpPr/>
          <p:nvPr/>
        </p:nvSpPr>
        <p:spPr>
          <a:xfrm>
            <a:off x="731520" y="6419088"/>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a:extLst>
              <a:ext uri="{FF2B5EF4-FFF2-40B4-BE49-F238E27FC236}">
                <a16:creationId xmlns:a16="http://schemas.microsoft.com/office/drawing/2014/main" id="{DDBD5769-6AD6-177B-E44F-4A0625048B10}"/>
              </a:ext>
            </a:extLst>
          </p:cNvPr>
          <p:cNvSpPr txBox="1"/>
          <p:nvPr/>
        </p:nvSpPr>
        <p:spPr>
          <a:xfrm>
            <a:off x="731520" y="6473952"/>
            <a:ext cx="7772400" cy="274320"/>
          </a:xfrm>
          <a:prstGeom prst="rect">
            <a:avLst/>
          </a:prstGeom>
          <a:noFill/>
        </p:spPr>
        <p:txBody>
          <a:bodyPr wrap="none">
            <a:spAutoFit/>
          </a:bodyPr>
          <a:lstStyle/>
          <a:p>
            <a:pPr>
              <a:defRPr sz="850">
                <a:solidFill>
                  <a:srgbClr val="64748B"/>
                </a:solidFill>
                <a:latin typeface="Segoe UI"/>
              </a:defRPr>
            </a:pPr>
            <a:r>
              <a:t>FPT Software | Hệ thống Quản trị Quy trình Nghiệp vụ (BPM) - Đồ án Môn học - Nhóm 8</a:t>
            </a:r>
          </a:p>
        </p:txBody>
      </p:sp>
      <p:sp>
        <p:nvSpPr>
          <p:cNvPr id="10" name="TextBox 9">
            <a:extLst>
              <a:ext uri="{FF2B5EF4-FFF2-40B4-BE49-F238E27FC236}">
                <a16:creationId xmlns:a16="http://schemas.microsoft.com/office/drawing/2014/main" id="{5F03FB04-A3F9-7C26-18CA-6F7114C8AD31}"/>
              </a:ext>
            </a:extLst>
          </p:cNvPr>
          <p:cNvSpPr txBox="1"/>
          <p:nvPr/>
        </p:nvSpPr>
        <p:spPr>
          <a:xfrm>
            <a:off x="10058400" y="6473952"/>
            <a:ext cx="1371600" cy="274320"/>
          </a:xfrm>
          <a:prstGeom prst="rect">
            <a:avLst/>
          </a:prstGeom>
          <a:noFill/>
        </p:spPr>
        <p:txBody>
          <a:bodyPr wrap="none">
            <a:spAutoFit/>
          </a:bodyPr>
          <a:lstStyle/>
          <a:p>
            <a:pPr algn="r">
              <a:defRPr sz="850" b="1">
                <a:solidFill>
                  <a:srgbClr val="005BAA"/>
                </a:solidFill>
                <a:latin typeface="Segoe UI"/>
              </a:defRPr>
            </a:pPr>
            <a:r>
              <a:t>9 / 27</a:t>
            </a:r>
          </a:p>
        </p:txBody>
      </p:sp>
      <p:pic>
        <p:nvPicPr>
          <p:cNvPr id="18" name="Picture 17">
            <a:extLst>
              <a:ext uri="{FF2B5EF4-FFF2-40B4-BE49-F238E27FC236}">
                <a16:creationId xmlns:a16="http://schemas.microsoft.com/office/drawing/2014/main" id="{F98BE5CD-C3FE-5F45-E7AE-50543C31C015}"/>
              </a:ext>
            </a:extLst>
          </p:cNvPr>
          <p:cNvPicPr>
            <a:picLocks noChangeAspect="1"/>
          </p:cNvPicPr>
          <p:nvPr/>
        </p:nvPicPr>
        <p:blipFill>
          <a:blip r:embed="rId3"/>
          <a:srcRect t="7837"/>
          <a:stretch>
            <a:fillRect/>
          </a:stretch>
        </p:blipFill>
        <p:spPr>
          <a:xfrm>
            <a:off x="2086016" y="1453896"/>
            <a:ext cx="7880944" cy="4844590"/>
          </a:xfrm>
          <a:prstGeom prst="rect">
            <a:avLst/>
          </a:prstGeom>
        </p:spPr>
      </p:pic>
    </p:spTree>
    <p:extLst>
      <p:ext uri="{BB962C8B-B14F-4D97-AF65-F5344CB8AC3E}">
        <p14:creationId xmlns:p14="http://schemas.microsoft.com/office/powerpoint/2010/main" val="326473161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485C5B-D5B0-723B-854F-9826C61BDB78}"/>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852F7C74-EE05-4596-042B-281C9C01BC40}"/>
              </a:ext>
            </a:extLst>
          </p:cNvPr>
          <p:cNvSpPr/>
          <p:nvPr/>
        </p:nvSpPr>
        <p:spPr>
          <a:xfrm>
            <a:off x="0" y="0"/>
            <a:ext cx="12191695" cy="107899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a:extLst>
              <a:ext uri="{FF2B5EF4-FFF2-40B4-BE49-F238E27FC236}">
                <a16:creationId xmlns:a16="http://schemas.microsoft.com/office/drawing/2014/main" id="{AA9BCC2A-B947-95E0-5B1C-329DFAAC6156}"/>
              </a:ext>
            </a:extLst>
          </p:cNvPr>
          <p:cNvSpPr/>
          <p:nvPr/>
        </p:nvSpPr>
        <p:spPr>
          <a:xfrm>
            <a:off x="731520" y="1051560"/>
            <a:ext cx="7772400" cy="36576"/>
          </a:xfrm>
          <a:prstGeom prst="rect">
            <a:avLst/>
          </a:prstGeom>
          <a:solidFill>
            <a:srgbClr val="005B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a:extLst>
              <a:ext uri="{FF2B5EF4-FFF2-40B4-BE49-F238E27FC236}">
                <a16:creationId xmlns:a16="http://schemas.microsoft.com/office/drawing/2014/main" id="{D536EC51-1D15-A399-8A64-7C199793290A}"/>
              </a:ext>
            </a:extLst>
          </p:cNvPr>
          <p:cNvSpPr/>
          <p:nvPr/>
        </p:nvSpPr>
        <p:spPr>
          <a:xfrm>
            <a:off x="8503920" y="1051560"/>
            <a:ext cx="2926080" cy="36576"/>
          </a:xfrm>
          <a:prstGeom prst="rect">
            <a:avLst/>
          </a:prstGeom>
          <a:solidFill>
            <a:srgbClr val="F370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a:extLst>
              <a:ext uri="{FF2B5EF4-FFF2-40B4-BE49-F238E27FC236}">
                <a16:creationId xmlns:a16="http://schemas.microsoft.com/office/drawing/2014/main" id="{9E458763-FCB3-B8D4-D8C0-6610A92A92EF}"/>
              </a:ext>
            </a:extLst>
          </p:cNvPr>
          <p:cNvSpPr/>
          <p:nvPr/>
        </p:nvSpPr>
        <p:spPr>
          <a:xfrm>
            <a:off x="731520" y="146304"/>
            <a:ext cx="3840480" cy="256032"/>
          </a:xfrm>
          <a:prstGeom prst="roundRect">
            <a:avLst/>
          </a:prstGeom>
          <a:solidFill>
            <a:srgbClr val="FFF7ED"/>
          </a:solidFill>
          <a:ln w="9525">
            <a:solidFill>
              <a:srgbClr val="F37021"/>
            </a:solidFill>
          </a:ln>
        </p:spPr>
        <p:style>
          <a:lnRef idx="1">
            <a:schemeClr val="accent1"/>
          </a:lnRef>
          <a:fillRef idx="3">
            <a:schemeClr val="accent1"/>
          </a:fillRef>
          <a:effectRef idx="2">
            <a:schemeClr val="accent1"/>
          </a:effectRef>
          <a:fontRef idx="minor">
            <a:schemeClr val="lt1"/>
          </a:fontRef>
        </p:style>
        <p:txBody>
          <a:bodyPr wrap="square" lIns="109728" tIns="18288" rtlCol="0" anchor="ctr"/>
          <a:lstStyle/>
          <a:p>
            <a:pPr algn="ctr">
              <a:defRPr sz="950" b="1">
                <a:solidFill>
                  <a:srgbClr val="F37021"/>
                </a:solidFill>
                <a:latin typeface="Segoe UI"/>
              </a:defRPr>
            </a:pPr>
            <a:r>
              <a:t>PHẦN 4: QUY TRÌNH CỐT LÕI</a:t>
            </a:r>
          </a:p>
        </p:txBody>
      </p:sp>
      <p:sp>
        <p:nvSpPr>
          <p:cNvPr id="6" name="TextBox 5">
            <a:extLst>
              <a:ext uri="{FF2B5EF4-FFF2-40B4-BE49-F238E27FC236}">
                <a16:creationId xmlns:a16="http://schemas.microsoft.com/office/drawing/2014/main" id="{A7CC9BEF-DA88-CE9C-F053-8BE7AD31C432}"/>
              </a:ext>
            </a:extLst>
          </p:cNvPr>
          <p:cNvSpPr txBox="1"/>
          <p:nvPr/>
        </p:nvSpPr>
        <p:spPr>
          <a:xfrm>
            <a:off x="731520" y="438912"/>
            <a:ext cx="8686800" cy="338554"/>
          </a:xfrm>
          <a:prstGeom prst="rect">
            <a:avLst/>
          </a:prstGeom>
          <a:noFill/>
        </p:spPr>
        <p:txBody>
          <a:bodyPr wrap="square" lIns="0" tIns="0">
            <a:spAutoFit/>
          </a:bodyPr>
          <a:lstStyle/>
          <a:p>
            <a:pPr>
              <a:defRPr sz="1900" b="1">
                <a:solidFill>
                  <a:srgbClr val="0A2540"/>
                </a:solidFill>
                <a:latin typeface="Segoe UI"/>
              </a:defRPr>
            </a:pPr>
            <a:r>
              <a:rPr lang="vi-VN" dirty="0"/>
              <a:t>PHÂN TÍCH QUY TRÌNH – PHÂN TÍCH ĐỊNH LƯỢNG</a:t>
            </a:r>
            <a:endParaRPr dirty="0"/>
          </a:p>
        </p:txBody>
      </p:sp>
      <p:pic>
        <p:nvPicPr>
          <p:cNvPr id="7" name="Picture 6" descr="fpt_software_logo.png">
            <a:extLst>
              <a:ext uri="{FF2B5EF4-FFF2-40B4-BE49-F238E27FC236}">
                <a16:creationId xmlns:a16="http://schemas.microsoft.com/office/drawing/2014/main" id="{14437CE6-3585-F051-AC8D-9E56B137AB63}"/>
              </a:ext>
            </a:extLst>
          </p:cNvPr>
          <p:cNvPicPr>
            <a:picLocks noChangeAspect="1"/>
          </p:cNvPicPr>
          <p:nvPr/>
        </p:nvPicPr>
        <p:blipFill>
          <a:blip r:embed="rId2"/>
          <a:stretch>
            <a:fillRect/>
          </a:stretch>
        </p:blipFill>
        <p:spPr>
          <a:xfrm>
            <a:off x="9784080" y="201168"/>
            <a:ext cx="1691640" cy="422910"/>
          </a:xfrm>
          <a:prstGeom prst="rect">
            <a:avLst/>
          </a:prstGeom>
        </p:spPr>
      </p:pic>
      <p:sp>
        <p:nvSpPr>
          <p:cNvPr id="8" name="Rectangle 7">
            <a:extLst>
              <a:ext uri="{FF2B5EF4-FFF2-40B4-BE49-F238E27FC236}">
                <a16:creationId xmlns:a16="http://schemas.microsoft.com/office/drawing/2014/main" id="{75061BD1-18B6-2B40-5445-8933F41716AE}"/>
              </a:ext>
            </a:extLst>
          </p:cNvPr>
          <p:cNvSpPr/>
          <p:nvPr/>
        </p:nvSpPr>
        <p:spPr>
          <a:xfrm>
            <a:off x="731520" y="6419088"/>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a:extLst>
              <a:ext uri="{FF2B5EF4-FFF2-40B4-BE49-F238E27FC236}">
                <a16:creationId xmlns:a16="http://schemas.microsoft.com/office/drawing/2014/main" id="{79B7A047-751C-272C-8A61-0A0147A27863}"/>
              </a:ext>
            </a:extLst>
          </p:cNvPr>
          <p:cNvSpPr txBox="1"/>
          <p:nvPr/>
        </p:nvSpPr>
        <p:spPr>
          <a:xfrm>
            <a:off x="731520" y="6473952"/>
            <a:ext cx="7772400" cy="274320"/>
          </a:xfrm>
          <a:prstGeom prst="rect">
            <a:avLst/>
          </a:prstGeom>
          <a:noFill/>
        </p:spPr>
        <p:txBody>
          <a:bodyPr wrap="none">
            <a:spAutoFit/>
          </a:bodyPr>
          <a:lstStyle/>
          <a:p>
            <a:pPr>
              <a:defRPr sz="850">
                <a:solidFill>
                  <a:srgbClr val="64748B"/>
                </a:solidFill>
                <a:latin typeface="Segoe UI"/>
              </a:defRPr>
            </a:pPr>
            <a:r>
              <a:t>FPT Software | Hệ thống Quản trị Quy trình Nghiệp vụ (BPM) - Đồ án Môn học - Nhóm 8</a:t>
            </a:r>
          </a:p>
        </p:txBody>
      </p:sp>
      <p:sp>
        <p:nvSpPr>
          <p:cNvPr id="10" name="TextBox 9">
            <a:extLst>
              <a:ext uri="{FF2B5EF4-FFF2-40B4-BE49-F238E27FC236}">
                <a16:creationId xmlns:a16="http://schemas.microsoft.com/office/drawing/2014/main" id="{C77D7DA9-981B-933A-CE49-CDB746B873B6}"/>
              </a:ext>
            </a:extLst>
          </p:cNvPr>
          <p:cNvSpPr txBox="1"/>
          <p:nvPr/>
        </p:nvSpPr>
        <p:spPr>
          <a:xfrm>
            <a:off x="10058400" y="6473952"/>
            <a:ext cx="1371600" cy="274320"/>
          </a:xfrm>
          <a:prstGeom prst="rect">
            <a:avLst/>
          </a:prstGeom>
          <a:noFill/>
        </p:spPr>
        <p:txBody>
          <a:bodyPr wrap="none">
            <a:spAutoFit/>
          </a:bodyPr>
          <a:lstStyle/>
          <a:p>
            <a:pPr algn="r">
              <a:defRPr sz="850" b="1">
                <a:solidFill>
                  <a:srgbClr val="005BAA"/>
                </a:solidFill>
                <a:latin typeface="Segoe UI"/>
              </a:defRPr>
            </a:pPr>
            <a:r>
              <a:t>16 / 27</a:t>
            </a:r>
          </a:p>
        </p:txBody>
      </p:sp>
      <p:sp>
        <p:nvSpPr>
          <p:cNvPr id="11" name="Rounded Rectangle 10">
            <a:extLst>
              <a:ext uri="{FF2B5EF4-FFF2-40B4-BE49-F238E27FC236}">
                <a16:creationId xmlns:a16="http://schemas.microsoft.com/office/drawing/2014/main" id="{C683A64E-849D-7F3B-633D-D5CE32202152}"/>
              </a:ext>
            </a:extLst>
          </p:cNvPr>
          <p:cNvSpPr/>
          <p:nvPr/>
        </p:nvSpPr>
        <p:spPr>
          <a:xfrm>
            <a:off x="731520" y="1325880"/>
            <a:ext cx="6268091" cy="896112"/>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a:extLst>
              <a:ext uri="{FF2B5EF4-FFF2-40B4-BE49-F238E27FC236}">
                <a16:creationId xmlns:a16="http://schemas.microsoft.com/office/drawing/2014/main" id="{D4A21C59-A6CC-1308-6850-637C00723BC5}"/>
              </a:ext>
            </a:extLst>
          </p:cNvPr>
          <p:cNvSpPr/>
          <p:nvPr/>
        </p:nvSpPr>
        <p:spPr>
          <a:xfrm>
            <a:off x="731520" y="1325880"/>
            <a:ext cx="109728" cy="896112"/>
          </a:xfrm>
          <a:prstGeom prst="roundRect">
            <a:avLst/>
          </a:prstGeom>
          <a:solidFill>
            <a:srgbClr val="005B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a:extLst>
              <a:ext uri="{FF2B5EF4-FFF2-40B4-BE49-F238E27FC236}">
                <a16:creationId xmlns:a16="http://schemas.microsoft.com/office/drawing/2014/main" id="{F8C5D5FC-1646-0352-6AEA-8D36C1BEE1FB}"/>
              </a:ext>
            </a:extLst>
          </p:cNvPr>
          <p:cNvSpPr txBox="1"/>
          <p:nvPr/>
        </p:nvSpPr>
        <p:spPr>
          <a:xfrm>
            <a:off x="1005840" y="1417320"/>
            <a:ext cx="612668" cy="246221"/>
          </a:xfrm>
          <a:prstGeom prst="rect">
            <a:avLst/>
          </a:prstGeom>
          <a:noFill/>
        </p:spPr>
        <p:txBody>
          <a:bodyPr wrap="none">
            <a:spAutoFit/>
          </a:bodyPr>
          <a:lstStyle/>
          <a:p>
            <a:pPr>
              <a:defRPr sz="1000" b="1">
                <a:solidFill>
                  <a:srgbClr val="005BAA"/>
                </a:solidFill>
                <a:latin typeface="Segoe UI"/>
              </a:defRPr>
            </a:pPr>
            <a:r>
              <a:rPr lang="vi-VN" dirty="0"/>
              <a:t>KHỐI </a:t>
            </a:r>
            <a:r>
              <a:rPr dirty="0"/>
              <a:t>1</a:t>
            </a:r>
          </a:p>
        </p:txBody>
      </p:sp>
      <p:sp>
        <p:nvSpPr>
          <p:cNvPr id="14" name="TextBox 13">
            <a:extLst>
              <a:ext uri="{FF2B5EF4-FFF2-40B4-BE49-F238E27FC236}">
                <a16:creationId xmlns:a16="http://schemas.microsoft.com/office/drawing/2014/main" id="{B9F6F20C-474F-E65C-4A61-9DC7C62A7843}"/>
              </a:ext>
            </a:extLst>
          </p:cNvPr>
          <p:cNvSpPr txBox="1"/>
          <p:nvPr/>
        </p:nvSpPr>
        <p:spPr>
          <a:xfrm>
            <a:off x="1005840" y="1645920"/>
            <a:ext cx="2044149" cy="261610"/>
          </a:xfrm>
          <a:prstGeom prst="rect">
            <a:avLst/>
          </a:prstGeom>
          <a:noFill/>
        </p:spPr>
        <p:txBody>
          <a:bodyPr wrap="none">
            <a:spAutoFit/>
          </a:bodyPr>
          <a:lstStyle/>
          <a:p>
            <a:pPr>
              <a:defRPr sz="1100" b="1">
                <a:solidFill>
                  <a:srgbClr val="0A2540"/>
                </a:solidFill>
                <a:latin typeface="Segoe UI"/>
              </a:defRPr>
            </a:pPr>
            <a:r>
              <a:rPr dirty="0"/>
              <a:t>KHỞI TẠO &amp; </a:t>
            </a:r>
            <a:r>
              <a:rPr lang="vi-VN" dirty="0"/>
              <a:t>KÝ HỢP ĐỒNG</a:t>
            </a:r>
            <a:endParaRPr dirty="0"/>
          </a:p>
        </p:txBody>
      </p:sp>
      <p:sp>
        <p:nvSpPr>
          <p:cNvPr id="15" name="TextBox 14">
            <a:extLst>
              <a:ext uri="{FF2B5EF4-FFF2-40B4-BE49-F238E27FC236}">
                <a16:creationId xmlns:a16="http://schemas.microsoft.com/office/drawing/2014/main" id="{E13A7973-EC14-42B2-FE20-F194EAB2851A}"/>
              </a:ext>
            </a:extLst>
          </p:cNvPr>
          <p:cNvSpPr txBox="1"/>
          <p:nvPr/>
        </p:nvSpPr>
        <p:spPr>
          <a:xfrm>
            <a:off x="3108960" y="1682348"/>
            <a:ext cx="8229600" cy="238527"/>
          </a:xfrm>
          <a:prstGeom prst="rect">
            <a:avLst/>
          </a:prstGeom>
          <a:noFill/>
        </p:spPr>
        <p:txBody>
          <a:bodyPr wrap="square">
            <a:spAutoFit/>
          </a:bodyPr>
          <a:lstStyle/>
          <a:p>
            <a:pPr>
              <a:spcAft>
                <a:spcPts val="200"/>
              </a:spcAft>
              <a:defRPr sz="950">
                <a:solidFill>
                  <a:srgbClr val="1E293B"/>
                </a:solidFill>
                <a:latin typeface="Segoe UI"/>
              </a:defRPr>
            </a:pPr>
            <a:r>
              <a:rPr lang="en-US" dirty="0"/>
              <a:t>T1 = 3 </a:t>
            </a:r>
            <a:r>
              <a:rPr lang="en-US" dirty="0" err="1"/>
              <a:t>ngày</a:t>
            </a:r>
            <a:endParaRPr dirty="0"/>
          </a:p>
        </p:txBody>
      </p:sp>
      <p:sp>
        <p:nvSpPr>
          <p:cNvPr id="16" name="Rounded Rectangle 15">
            <a:extLst>
              <a:ext uri="{FF2B5EF4-FFF2-40B4-BE49-F238E27FC236}">
                <a16:creationId xmlns:a16="http://schemas.microsoft.com/office/drawing/2014/main" id="{0F23F90D-DEAE-8CE8-FF0C-2EDD7DE59C84}"/>
              </a:ext>
            </a:extLst>
          </p:cNvPr>
          <p:cNvSpPr/>
          <p:nvPr/>
        </p:nvSpPr>
        <p:spPr>
          <a:xfrm>
            <a:off x="731520" y="2313432"/>
            <a:ext cx="6268091" cy="896112"/>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a:extLst>
              <a:ext uri="{FF2B5EF4-FFF2-40B4-BE49-F238E27FC236}">
                <a16:creationId xmlns:a16="http://schemas.microsoft.com/office/drawing/2014/main" id="{6361713E-0B14-08C8-66DE-5320A349CCAB}"/>
              </a:ext>
            </a:extLst>
          </p:cNvPr>
          <p:cNvSpPr/>
          <p:nvPr/>
        </p:nvSpPr>
        <p:spPr>
          <a:xfrm>
            <a:off x="731520" y="2313432"/>
            <a:ext cx="109728" cy="896112"/>
          </a:xfrm>
          <a:prstGeom prst="roundRect">
            <a:avLst/>
          </a:prstGeom>
          <a:solidFill>
            <a:srgbClr val="F370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a:extLst>
              <a:ext uri="{FF2B5EF4-FFF2-40B4-BE49-F238E27FC236}">
                <a16:creationId xmlns:a16="http://schemas.microsoft.com/office/drawing/2014/main" id="{E4278BA0-A246-C1EF-0586-0900B21D6845}"/>
              </a:ext>
            </a:extLst>
          </p:cNvPr>
          <p:cNvSpPr txBox="1"/>
          <p:nvPr/>
        </p:nvSpPr>
        <p:spPr>
          <a:xfrm>
            <a:off x="1005840" y="2404872"/>
            <a:ext cx="1645920" cy="274320"/>
          </a:xfrm>
          <a:prstGeom prst="rect">
            <a:avLst/>
          </a:prstGeom>
          <a:noFill/>
        </p:spPr>
        <p:txBody>
          <a:bodyPr wrap="none">
            <a:spAutoFit/>
          </a:bodyPr>
          <a:lstStyle/>
          <a:p>
            <a:pPr>
              <a:defRPr sz="1000" b="1">
                <a:solidFill>
                  <a:srgbClr val="F37021"/>
                </a:solidFill>
                <a:latin typeface="Segoe UI"/>
              </a:defRPr>
            </a:pPr>
            <a:r>
              <a:t>GIAI ĐOẠN 2</a:t>
            </a:r>
          </a:p>
        </p:txBody>
      </p:sp>
      <p:sp>
        <p:nvSpPr>
          <p:cNvPr id="19" name="TextBox 18">
            <a:extLst>
              <a:ext uri="{FF2B5EF4-FFF2-40B4-BE49-F238E27FC236}">
                <a16:creationId xmlns:a16="http://schemas.microsoft.com/office/drawing/2014/main" id="{E8E4DD88-6D75-E62D-30D5-D1BAAD59D704}"/>
              </a:ext>
            </a:extLst>
          </p:cNvPr>
          <p:cNvSpPr txBox="1"/>
          <p:nvPr/>
        </p:nvSpPr>
        <p:spPr>
          <a:xfrm>
            <a:off x="1005840" y="2633472"/>
            <a:ext cx="2135521" cy="261610"/>
          </a:xfrm>
          <a:prstGeom prst="rect">
            <a:avLst/>
          </a:prstGeom>
          <a:noFill/>
        </p:spPr>
        <p:txBody>
          <a:bodyPr wrap="none">
            <a:spAutoFit/>
          </a:bodyPr>
          <a:lstStyle/>
          <a:p>
            <a:pPr>
              <a:defRPr sz="1100" b="1">
                <a:solidFill>
                  <a:srgbClr val="0A2540"/>
                </a:solidFill>
                <a:latin typeface="Segoe UI"/>
              </a:defRPr>
            </a:pPr>
            <a:r>
              <a:rPr lang="vi-VN" dirty="0"/>
              <a:t>PHÂN TÍCH &amp; CHỐT TÀI LIỆU</a:t>
            </a:r>
            <a:endParaRPr dirty="0"/>
          </a:p>
        </p:txBody>
      </p:sp>
      <p:sp>
        <p:nvSpPr>
          <p:cNvPr id="20" name="TextBox 19">
            <a:extLst>
              <a:ext uri="{FF2B5EF4-FFF2-40B4-BE49-F238E27FC236}">
                <a16:creationId xmlns:a16="http://schemas.microsoft.com/office/drawing/2014/main" id="{49C43EEF-F2DF-59BB-DF93-B6665F81B5D6}"/>
              </a:ext>
            </a:extLst>
          </p:cNvPr>
          <p:cNvSpPr txBox="1"/>
          <p:nvPr/>
        </p:nvSpPr>
        <p:spPr>
          <a:xfrm>
            <a:off x="3108960" y="2386584"/>
            <a:ext cx="8229600" cy="410369"/>
          </a:xfrm>
          <a:prstGeom prst="rect">
            <a:avLst/>
          </a:prstGeom>
          <a:noFill/>
        </p:spPr>
        <p:txBody>
          <a:bodyPr wrap="square">
            <a:spAutoFit/>
          </a:bodyPr>
          <a:lstStyle/>
          <a:p>
            <a:pPr>
              <a:spcAft>
                <a:spcPts val="200"/>
              </a:spcAft>
              <a:defRPr sz="950">
                <a:solidFill>
                  <a:srgbClr val="1E293B"/>
                </a:solidFill>
                <a:latin typeface="Segoe UI"/>
              </a:defRPr>
            </a:pPr>
            <a:r>
              <a:rPr lang="en-US" dirty="0"/>
              <a:t>T2 = 5 </a:t>
            </a:r>
            <a:r>
              <a:rPr lang="en-US" dirty="0" err="1"/>
              <a:t>ngày</a:t>
            </a:r>
            <a:r>
              <a:rPr lang="en-US" dirty="0"/>
              <a:t>; </a:t>
            </a:r>
            <a:r>
              <a:rPr lang="en-US" dirty="0" err="1"/>
              <a:t>xác</a:t>
            </a:r>
            <a:r>
              <a:rPr lang="en-US" dirty="0"/>
              <a:t> </a:t>
            </a:r>
            <a:r>
              <a:rPr lang="en-US" dirty="0" err="1"/>
              <a:t>suất</a:t>
            </a:r>
            <a:r>
              <a:rPr lang="en-US" dirty="0"/>
              <a:t> </a:t>
            </a:r>
            <a:r>
              <a:rPr lang="en-US" dirty="0" err="1"/>
              <a:t>khách</a:t>
            </a:r>
            <a:r>
              <a:rPr lang="en-US" dirty="0"/>
              <a:t> </a:t>
            </a:r>
            <a:r>
              <a:rPr lang="en-US" dirty="0" err="1"/>
              <a:t>hàng</a:t>
            </a:r>
            <a:r>
              <a:rPr lang="en-US" dirty="0"/>
              <a:t> </a:t>
            </a:r>
            <a:r>
              <a:rPr lang="en-US" dirty="0" err="1"/>
              <a:t>yêu</a:t>
            </a:r>
            <a:r>
              <a:rPr lang="en-US" dirty="0"/>
              <a:t> </a:t>
            </a:r>
            <a:r>
              <a:rPr lang="en-US" dirty="0" err="1"/>
              <a:t>cầu</a:t>
            </a:r>
            <a:r>
              <a:rPr lang="en-US" dirty="0"/>
              <a:t> </a:t>
            </a:r>
            <a:r>
              <a:rPr lang="en-US" dirty="0" err="1"/>
              <a:t>sửa</a:t>
            </a:r>
            <a:r>
              <a:rPr lang="en-US" dirty="0"/>
              <a:t> </a:t>
            </a:r>
            <a:r>
              <a:rPr lang="en-US" dirty="0" err="1"/>
              <a:t>lại</a:t>
            </a:r>
            <a:r>
              <a:rPr lang="en-US" dirty="0"/>
              <a:t> r1 = 20%.</a:t>
            </a:r>
          </a:p>
          <a:p>
            <a:pPr>
              <a:spcAft>
                <a:spcPts val="200"/>
              </a:spcAft>
              <a:defRPr sz="950">
                <a:solidFill>
                  <a:srgbClr val="1E293B"/>
                </a:solidFill>
                <a:latin typeface="Segoe UI"/>
              </a:defRPr>
            </a:pPr>
            <a:r>
              <a:rPr lang="en-US" dirty="0" err="1"/>
              <a:t>Thời</a:t>
            </a:r>
            <a:r>
              <a:rPr lang="en-US" dirty="0"/>
              <a:t> </a:t>
            </a:r>
            <a:r>
              <a:rPr lang="en-US" dirty="0" err="1"/>
              <a:t>gian</a:t>
            </a:r>
            <a:r>
              <a:rPr lang="en-US" dirty="0"/>
              <a:t> chu </a:t>
            </a:r>
            <a:r>
              <a:rPr lang="en-US" dirty="0" err="1"/>
              <a:t>kỳ</a:t>
            </a:r>
            <a:r>
              <a:rPr lang="en-US" dirty="0"/>
              <a:t> </a:t>
            </a:r>
            <a:r>
              <a:rPr lang="en-US" dirty="0" err="1"/>
              <a:t>thực</a:t>
            </a:r>
            <a:r>
              <a:rPr lang="en-US" dirty="0"/>
              <a:t> </a:t>
            </a:r>
            <a:r>
              <a:rPr lang="en-US" dirty="0" err="1"/>
              <a:t>tế</a:t>
            </a:r>
            <a:r>
              <a:rPr lang="en-US" dirty="0"/>
              <a:t>: CT2 = 5 / (1 - 0.2) = 6.25 </a:t>
            </a:r>
            <a:r>
              <a:rPr lang="en-US" dirty="0" err="1"/>
              <a:t>ngày</a:t>
            </a:r>
            <a:r>
              <a:rPr lang="en-US" dirty="0"/>
              <a:t>.</a:t>
            </a:r>
            <a:endParaRPr dirty="0"/>
          </a:p>
        </p:txBody>
      </p:sp>
      <p:sp>
        <p:nvSpPr>
          <p:cNvPr id="21" name="Rounded Rectangle 20">
            <a:extLst>
              <a:ext uri="{FF2B5EF4-FFF2-40B4-BE49-F238E27FC236}">
                <a16:creationId xmlns:a16="http://schemas.microsoft.com/office/drawing/2014/main" id="{9BB49AFC-FD0D-930B-50F1-A9FD2365008A}"/>
              </a:ext>
            </a:extLst>
          </p:cNvPr>
          <p:cNvSpPr/>
          <p:nvPr/>
        </p:nvSpPr>
        <p:spPr>
          <a:xfrm>
            <a:off x="731520" y="3300984"/>
            <a:ext cx="6268091" cy="896112"/>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a:extLst>
              <a:ext uri="{FF2B5EF4-FFF2-40B4-BE49-F238E27FC236}">
                <a16:creationId xmlns:a16="http://schemas.microsoft.com/office/drawing/2014/main" id="{7F2E6B7C-2520-5A32-AA32-D14B635E1F8E}"/>
              </a:ext>
            </a:extLst>
          </p:cNvPr>
          <p:cNvSpPr/>
          <p:nvPr/>
        </p:nvSpPr>
        <p:spPr>
          <a:xfrm>
            <a:off x="731520" y="3300984"/>
            <a:ext cx="109728" cy="896112"/>
          </a:xfrm>
          <a:prstGeom prst="roundRect">
            <a:avLst/>
          </a:prstGeom>
          <a:solidFill>
            <a:srgbClr val="005B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a:extLst>
              <a:ext uri="{FF2B5EF4-FFF2-40B4-BE49-F238E27FC236}">
                <a16:creationId xmlns:a16="http://schemas.microsoft.com/office/drawing/2014/main" id="{6C64313A-33F4-B6F8-57D4-9744BE0EC7B2}"/>
              </a:ext>
            </a:extLst>
          </p:cNvPr>
          <p:cNvSpPr txBox="1"/>
          <p:nvPr/>
        </p:nvSpPr>
        <p:spPr>
          <a:xfrm>
            <a:off x="1005840" y="3392424"/>
            <a:ext cx="1645920" cy="274320"/>
          </a:xfrm>
          <a:prstGeom prst="rect">
            <a:avLst/>
          </a:prstGeom>
          <a:noFill/>
        </p:spPr>
        <p:txBody>
          <a:bodyPr wrap="none">
            <a:spAutoFit/>
          </a:bodyPr>
          <a:lstStyle/>
          <a:p>
            <a:pPr>
              <a:defRPr sz="1000" b="1">
                <a:solidFill>
                  <a:srgbClr val="005BAA"/>
                </a:solidFill>
                <a:latin typeface="Segoe UI"/>
              </a:defRPr>
            </a:pPr>
            <a:r>
              <a:t>GIAI ĐOẠN 3</a:t>
            </a:r>
          </a:p>
        </p:txBody>
      </p:sp>
      <p:sp>
        <p:nvSpPr>
          <p:cNvPr id="24" name="TextBox 23">
            <a:extLst>
              <a:ext uri="{FF2B5EF4-FFF2-40B4-BE49-F238E27FC236}">
                <a16:creationId xmlns:a16="http://schemas.microsoft.com/office/drawing/2014/main" id="{CD83CD61-9F09-E716-0516-C570B1B9ECF6}"/>
              </a:ext>
            </a:extLst>
          </p:cNvPr>
          <p:cNvSpPr txBox="1"/>
          <p:nvPr/>
        </p:nvSpPr>
        <p:spPr>
          <a:xfrm>
            <a:off x="1005840" y="3621024"/>
            <a:ext cx="2011680" cy="502920"/>
          </a:xfrm>
          <a:prstGeom prst="rect">
            <a:avLst/>
          </a:prstGeom>
          <a:noFill/>
        </p:spPr>
        <p:txBody>
          <a:bodyPr wrap="none">
            <a:spAutoFit/>
          </a:bodyPr>
          <a:lstStyle/>
          <a:p>
            <a:pPr>
              <a:defRPr sz="1100" b="1">
                <a:solidFill>
                  <a:srgbClr val="0A2540"/>
                </a:solidFill>
                <a:latin typeface="Segoe UI"/>
              </a:defRPr>
            </a:pPr>
            <a:r>
              <a:rPr lang="en-US" dirty="0"/>
              <a:t>PHÁT TRIỂN &amp; TEST NỘI BỘ</a:t>
            </a:r>
          </a:p>
        </p:txBody>
      </p:sp>
      <p:sp>
        <p:nvSpPr>
          <p:cNvPr id="25" name="TextBox 24">
            <a:extLst>
              <a:ext uri="{FF2B5EF4-FFF2-40B4-BE49-F238E27FC236}">
                <a16:creationId xmlns:a16="http://schemas.microsoft.com/office/drawing/2014/main" id="{AB03FF54-7D51-A1A2-D9A9-DAFCF4128E6B}"/>
              </a:ext>
            </a:extLst>
          </p:cNvPr>
          <p:cNvSpPr txBox="1"/>
          <p:nvPr/>
        </p:nvSpPr>
        <p:spPr>
          <a:xfrm>
            <a:off x="3108960" y="3374136"/>
            <a:ext cx="8229600" cy="582211"/>
          </a:xfrm>
          <a:prstGeom prst="rect">
            <a:avLst/>
          </a:prstGeom>
          <a:noFill/>
        </p:spPr>
        <p:txBody>
          <a:bodyPr wrap="square">
            <a:spAutoFit/>
          </a:bodyPr>
          <a:lstStyle/>
          <a:p>
            <a:pPr>
              <a:spcAft>
                <a:spcPts val="200"/>
              </a:spcAft>
              <a:defRPr sz="950">
                <a:solidFill>
                  <a:srgbClr val="1E293B"/>
                </a:solidFill>
                <a:latin typeface="Segoe UI"/>
              </a:defRPr>
            </a:pPr>
            <a:r>
              <a:rPr lang="en-US" dirty="0"/>
              <a:t>Dev </a:t>
            </a:r>
            <a:r>
              <a:rPr lang="en-US" dirty="0" err="1"/>
              <a:t>viết</a:t>
            </a:r>
            <a:r>
              <a:rPr lang="en-US" dirty="0"/>
              <a:t> code: T3A = 15 </a:t>
            </a:r>
            <a:r>
              <a:rPr lang="en-US" dirty="0" err="1"/>
              <a:t>ngày</a:t>
            </a:r>
            <a:r>
              <a:rPr lang="en-US" dirty="0"/>
              <a:t>.</a:t>
            </a:r>
          </a:p>
          <a:p>
            <a:pPr>
              <a:spcAft>
                <a:spcPts val="200"/>
              </a:spcAft>
              <a:defRPr sz="950">
                <a:solidFill>
                  <a:srgbClr val="1E293B"/>
                </a:solidFill>
                <a:latin typeface="Segoe UI"/>
              </a:defRPr>
            </a:pPr>
            <a:r>
              <a:rPr lang="en-US" dirty="0"/>
              <a:t>QA </a:t>
            </a:r>
            <a:r>
              <a:rPr lang="en-US" dirty="0" err="1"/>
              <a:t>viết</a:t>
            </a:r>
            <a:r>
              <a:rPr lang="en-US" dirty="0"/>
              <a:t> test case: T3B = 3 </a:t>
            </a:r>
            <a:r>
              <a:rPr lang="en-US" dirty="0" err="1"/>
              <a:t>ngày</a:t>
            </a:r>
            <a:r>
              <a:rPr lang="en-US" dirty="0"/>
              <a:t>.</a:t>
            </a:r>
          </a:p>
          <a:p>
            <a:pPr>
              <a:spcAft>
                <a:spcPts val="200"/>
              </a:spcAft>
              <a:defRPr sz="950">
                <a:solidFill>
                  <a:srgbClr val="1E293B"/>
                </a:solidFill>
                <a:latin typeface="Segoe UI"/>
              </a:defRPr>
            </a:pPr>
            <a:r>
              <a:rPr lang="en-US" dirty="0" err="1"/>
              <a:t>Thời</a:t>
            </a:r>
            <a:r>
              <a:rPr lang="en-US" dirty="0"/>
              <a:t> </a:t>
            </a:r>
            <a:r>
              <a:rPr lang="en-US" dirty="0" err="1"/>
              <a:t>gian</a:t>
            </a:r>
            <a:r>
              <a:rPr lang="en-US" dirty="0"/>
              <a:t> chu </a:t>
            </a:r>
            <a:r>
              <a:rPr lang="en-US" dirty="0" err="1"/>
              <a:t>kỳ</a:t>
            </a:r>
            <a:r>
              <a:rPr lang="en-US" dirty="0"/>
              <a:t>: CT3 = max(15, 3) = 15 </a:t>
            </a:r>
            <a:r>
              <a:rPr lang="en-US" dirty="0" err="1"/>
              <a:t>ngày</a:t>
            </a:r>
            <a:r>
              <a:rPr lang="en-US" dirty="0"/>
              <a:t>.</a:t>
            </a:r>
            <a:endParaRPr dirty="0"/>
          </a:p>
        </p:txBody>
      </p:sp>
      <p:sp>
        <p:nvSpPr>
          <p:cNvPr id="26" name="Rounded Rectangle 25">
            <a:extLst>
              <a:ext uri="{FF2B5EF4-FFF2-40B4-BE49-F238E27FC236}">
                <a16:creationId xmlns:a16="http://schemas.microsoft.com/office/drawing/2014/main" id="{417DEB8B-647B-2DF9-D2F6-11AACB77A9FD}"/>
              </a:ext>
            </a:extLst>
          </p:cNvPr>
          <p:cNvSpPr/>
          <p:nvPr/>
        </p:nvSpPr>
        <p:spPr>
          <a:xfrm>
            <a:off x="731520" y="4288536"/>
            <a:ext cx="6268091" cy="896112"/>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a:extLst>
              <a:ext uri="{FF2B5EF4-FFF2-40B4-BE49-F238E27FC236}">
                <a16:creationId xmlns:a16="http://schemas.microsoft.com/office/drawing/2014/main" id="{3DB89624-B166-FAA3-92C8-71B3DA622994}"/>
              </a:ext>
            </a:extLst>
          </p:cNvPr>
          <p:cNvSpPr/>
          <p:nvPr/>
        </p:nvSpPr>
        <p:spPr>
          <a:xfrm>
            <a:off x="731520" y="4288536"/>
            <a:ext cx="109728" cy="896112"/>
          </a:xfrm>
          <a:prstGeom prst="roundRect">
            <a:avLst/>
          </a:prstGeom>
          <a:solidFill>
            <a:srgbClr val="F370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a:extLst>
              <a:ext uri="{FF2B5EF4-FFF2-40B4-BE49-F238E27FC236}">
                <a16:creationId xmlns:a16="http://schemas.microsoft.com/office/drawing/2014/main" id="{9EB5F96F-D791-5021-9D43-97D6AE612C65}"/>
              </a:ext>
            </a:extLst>
          </p:cNvPr>
          <p:cNvSpPr txBox="1"/>
          <p:nvPr/>
        </p:nvSpPr>
        <p:spPr>
          <a:xfrm>
            <a:off x="1005840" y="4379976"/>
            <a:ext cx="1645920" cy="274320"/>
          </a:xfrm>
          <a:prstGeom prst="rect">
            <a:avLst/>
          </a:prstGeom>
          <a:noFill/>
        </p:spPr>
        <p:txBody>
          <a:bodyPr wrap="none">
            <a:spAutoFit/>
          </a:bodyPr>
          <a:lstStyle/>
          <a:p>
            <a:pPr>
              <a:defRPr sz="1000" b="1">
                <a:solidFill>
                  <a:srgbClr val="F37021"/>
                </a:solidFill>
                <a:latin typeface="Segoe UI"/>
              </a:defRPr>
            </a:pPr>
            <a:r>
              <a:rPr dirty="0"/>
              <a:t>GIAI ĐOẠN 4</a:t>
            </a:r>
          </a:p>
        </p:txBody>
      </p:sp>
      <p:sp>
        <p:nvSpPr>
          <p:cNvPr id="29" name="TextBox 28">
            <a:extLst>
              <a:ext uri="{FF2B5EF4-FFF2-40B4-BE49-F238E27FC236}">
                <a16:creationId xmlns:a16="http://schemas.microsoft.com/office/drawing/2014/main" id="{419E6132-7D06-D32B-BF1E-47B3701F0132}"/>
              </a:ext>
            </a:extLst>
          </p:cNvPr>
          <p:cNvSpPr txBox="1"/>
          <p:nvPr/>
        </p:nvSpPr>
        <p:spPr>
          <a:xfrm>
            <a:off x="1005840" y="4608576"/>
            <a:ext cx="2066591" cy="261610"/>
          </a:xfrm>
          <a:prstGeom prst="rect">
            <a:avLst/>
          </a:prstGeom>
          <a:noFill/>
        </p:spPr>
        <p:txBody>
          <a:bodyPr wrap="none">
            <a:spAutoFit/>
          </a:bodyPr>
          <a:lstStyle/>
          <a:p>
            <a:pPr>
              <a:defRPr sz="1100" b="1">
                <a:solidFill>
                  <a:srgbClr val="0A2540"/>
                </a:solidFill>
                <a:latin typeface="Segoe UI"/>
              </a:defRPr>
            </a:pPr>
            <a:r>
              <a:rPr dirty="0"/>
              <a:t>NGHIỆM THU NGƯỜI </a:t>
            </a:r>
            <a:r>
              <a:rPr lang="vi-VN" dirty="0"/>
              <a:t>DÙNG</a:t>
            </a:r>
            <a:endParaRPr dirty="0"/>
          </a:p>
        </p:txBody>
      </p:sp>
      <p:sp>
        <p:nvSpPr>
          <p:cNvPr id="30" name="TextBox 29">
            <a:extLst>
              <a:ext uri="{FF2B5EF4-FFF2-40B4-BE49-F238E27FC236}">
                <a16:creationId xmlns:a16="http://schemas.microsoft.com/office/drawing/2014/main" id="{E2B4BC07-B424-B85E-7747-FE5C0C97CBF7}"/>
              </a:ext>
            </a:extLst>
          </p:cNvPr>
          <p:cNvSpPr txBox="1"/>
          <p:nvPr/>
        </p:nvSpPr>
        <p:spPr>
          <a:xfrm>
            <a:off x="3108960" y="4361688"/>
            <a:ext cx="8229600" cy="410369"/>
          </a:xfrm>
          <a:prstGeom prst="rect">
            <a:avLst/>
          </a:prstGeom>
          <a:noFill/>
        </p:spPr>
        <p:txBody>
          <a:bodyPr wrap="square">
            <a:spAutoFit/>
          </a:bodyPr>
          <a:lstStyle/>
          <a:p>
            <a:pPr>
              <a:spcAft>
                <a:spcPts val="200"/>
              </a:spcAft>
              <a:defRPr sz="950">
                <a:solidFill>
                  <a:srgbClr val="1E293B"/>
                </a:solidFill>
                <a:latin typeface="Segoe UI"/>
              </a:defRPr>
            </a:pPr>
            <a:r>
              <a:rPr lang="en-US" dirty="0"/>
              <a:t>T4 = 2 </a:t>
            </a:r>
            <a:r>
              <a:rPr lang="en-US" dirty="0" err="1"/>
              <a:t>ngày</a:t>
            </a:r>
            <a:r>
              <a:rPr lang="en-US" dirty="0"/>
              <a:t>; </a:t>
            </a:r>
            <a:r>
              <a:rPr lang="en-US" dirty="0" err="1"/>
              <a:t>xác</a:t>
            </a:r>
            <a:r>
              <a:rPr lang="en-US" dirty="0"/>
              <a:t> </a:t>
            </a:r>
            <a:r>
              <a:rPr lang="en-US" dirty="0" err="1"/>
              <a:t>suất</a:t>
            </a:r>
            <a:r>
              <a:rPr lang="en-US" dirty="0"/>
              <a:t> </a:t>
            </a:r>
            <a:r>
              <a:rPr lang="en-US" dirty="0" err="1"/>
              <a:t>lỗi</a:t>
            </a:r>
            <a:r>
              <a:rPr lang="en-US" dirty="0"/>
              <a:t> r2 = 30%.</a:t>
            </a:r>
          </a:p>
          <a:p>
            <a:pPr>
              <a:spcAft>
                <a:spcPts val="200"/>
              </a:spcAft>
              <a:defRPr sz="950">
                <a:solidFill>
                  <a:srgbClr val="1E293B"/>
                </a:solidFill>
                <a:latin typeface="Segoe UI"/>
              </a:defRPr>
            </a:pPr>
            <a:r>
              <a:rPr lang="en-US" dirty="0" err="1"/>
              <a:t>Thời</a:t>
            </a:r>
            <a:r>
              <a:rPr lang="en-US" dirty="0"/>
              <a:t> </a:t>
            </a:r>
            <a:r>
              <a:rPr lang="en-US" dirty="0" err="1"/>
              <a:t>gian</a:t>
            </a:r>
            <a:r>
              <a:rPr lang="en-US" dirty="0"/>
              <a:t> chu </a:t>
            </a:r>
            <a:r>
              <a:rPr lang="en-US" dirty="0" err="1"/>
              <a:t>kỳ</a:t>
            </a:r>
            <a:r>
              <a:rPr lang="en-US" dirty="0"/>
              <a:t> </a:t>
            </a:r>
            <a:r>
              <a:rPr lang="en-US" dirty="0" err="1"/>
              <a:t>thực</a:t>
            </a:r>
            <a:r>
              <a:rPr lang="en-US" dirty="0"/>
              <a:t> </a:t>
            </a:r>
            <a:r>
              <a:rPr lang="en-US" dirty="0" err="1"/>
              <a:t>tế</a:t>
            </a:r>
            <a:r>
              <a:rPr lang="en-US" dirty="0"/>
              <a:t>: CT4 = 2 / (1 - 0.3) ≈ 2.86 </a:t>
            </a:r>
            <a:r>
              <a:rPr lang="en-US" dirty="0" err="1"/>
              <a:t>ngày</a:t>
            </a:r>
            <a:r>
              <a:rPr lang="en-US" dirty="0"/>
              <a:t>.</a:t>
            </a:r>
            <a:endParaRPr dirty="0"/>
          </a:p>
        </p:txBody>
      </p:sp>
      <p:sp>
        <p:nvSpPr>
          <p:cNvPr id="31" name="Rounded Rectangle 30">
            <a:extLst>
              <a:ext uri="{FF2B5EF4-FFF2-40B4-BE49-F238E27FC236}">
                <a16:creationId xmlns:a16="http://schemas.microsoft.com/office/drawing/2014/main" id="{41CA8C80-CFA4-F906-F0B9-EC36D87F8095}"/>
              </a:ext>
            </a:extLst>
          </p:cNvPr>
          <p:cNvSpPr/>
          <p:nvPr/>
        </p:nvSpPr>
        <p:spPr>
          <a:xfrm>
            <a:off x="731520" y="5276088"/>
            <a:ext cx="6268091" cy="896112"/>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ounded Rectangle 31">
            <a:extLst>
              <a:ext uri="{FF2B5EF4-FFF2-40B4-BE49-F238E27FC236}">
                <a16:creationId xmlns:a16="http://schemas.microsoft.com/office/drawing/2014/main" id="{050DBDE6-9573-F206-87FD-A88040238C88}"/>
              </a:ext>
            </a:extLst>
          </p:cNvPr>
          <p:cNvSpPr/>
          <p:nvPr/>
        </p:nvSpPr>
        <p:spPr>
          <a:xfrm>
            <a:off x="731520" y="5276088"/>
            <a:ext cx="109728" cy="896112"/>
          </a:xfrm>
          <a:prstGeom prst="roundRect">
            <a:avLst/>
          </a:prstGeom>
          <a:solidFill>
            <a:srgbClr val="0DB1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a:extLst>
              <a:ext uri="{FF2B5EF4-FFF2-40B4-BE49-F238E27FC236}">
                <a16:creationId xmlns:a16="http://schemas.microsoft.com/office/drawing/2014/main" id="{D927935A-C865-F9A6-2386-B31C06125586}"/>
              </a:ext>
            </a:extLst>
          </p:cNvPr>
          <p:cNvSpPr txBox="1"/>
          <p:nvPr/>
        </p:nvSpPr>
        <p:spPr>
          <a:xfrm>
            <a:off x="1005840" y="5367528"/>
            <a:ext cx="1645920" cy="274320"/>
          </a:xfrm>
          <a:prstGeom prst="rect">
            <a:avLst/>
          </a:prstGeom>
          <a:noFill/>
        </p:spPr>
        <p:txBody>
          <a:bodyPr wrap="none">
            <a:spAutoFit/>
          </a:bodyPr>
          <a:lstStyle/>
          <a:p>
            <a:pPr>
              <a:defRPr sz="1000" b="1">
                <a:solidFill>
                  <a:srgbClr val="0DB14B"/>
                </a:solidFill>
                <a:latin typeface="Segoe UI"/>
              </a:defRPr>
            </a:pPr>
            <a:r>
              <a:rPr dirty="0"/>
              <a:t>GIAI ĐOẠN 5</a:t>
            </a:r>
          </a:p>
        </p:txBody>
      </p:sp>
      <p:sp>
        <p:nvSpPr>
          <p:cNvPr id="34" name="TextBox 33">
            <a:extLst>
              <a:ext uri="{FF2B5EF4-FFF2-40B4-BE49-F238E27FC236}">
                <a16:creationId xmlns:a16="http://schemas.microsoft.com/office/drawing/2014/main" id="{860F1BF1-4D11-ACF2-2987-AD3FBD935A29}"/>
              </a:ext>
            </a:extLst>
          </p:cNvPr>
          <p:cNvSpPr txBox="1"/>
          <p:nvPr/>
        </p:nvSpPr>
        <p:spPr>
          <a:xfrm>
            <a:off x="1005840" y="5596128"/>
            <a:ext cx="2011680" cy="502920"/>
          </a:xfrm>
          <a:prstGeom prst="rect">
            <a:avLst/>
          </a:prstGeom>
          <a:noFill/>
        </p:spPr>
        <p:txBody>
          <a:bodyPr wrap="none">
            <a:spAutoFit/>
          </a:bodyPr>
          <a:lstStyle/>
          <a:p>
            <a:pPr>
              <a:defRPr sz="1100" b="1">
                <a:solidFill>
                  <a:srgbClr val="0A2540"/>
                </a:solidFill>
                <a:latin typeface="Segoe UI"/>
              </a:defRPr>
            </a:pPr>
            <a:r>
              <a:t>BÀN GIAO &amp; ĐÓNG DỰ ÁN</a:t>
            </a:r>
          </a:p>
        </p:txBody>
      </p:sp>
      <p:sp>
        <p:nvSpPr>
          <p:cNvPr id="35" name="TextBox 34">
            <a:extLst>
              <a:ext uri="{FF2B5EF4-FFF2-40B4-BE49-F238E27FC236}">
                <a16:creationId xmlns:a16="http://schemas.microsoft.com/office/drawing/2014/main" id="{55FD74E6-8970-E243-0683-2DB6F4A15D4A}"/>
              </a:ext>
            </a:extLst>
          </p:cNvPr>
          <p:cNvSpPr txBox="1"/>
          <p:nvPr/>
        </p:nvSpPr>
        <p:spPr>
          <a:xfrm>
            <a:off x="3108960" y="5349240"/>
            <a:ext cx="8229600" cy="410369"/>
          </a:xfrm>
          <a:prstGeom prst="rect">
            <a:avLst/>
          </a:prstGeom>
          <a:noFill/>
        </p:spPr>
        <p:txBody>
          <a:bodyPr wrap="square">
            <a:spAutoFit/>
          </a:bodyPr>
          <a:lstStyle/>
          <a:p>
            <a:pPr>
              <a:spcAft>
                <a:spcPts val="200"/>
              </a:spcAft>
              <a:defRPr sz="950">
                <a:solidFill>
                  <a:srgbClr val="1E293B"/>
                </a:solidFill>
                <a:latin typeface="Segoe UI"/>
              </a:defRPr>
            </a:pPr>
            <a:r>
              <a:rPr lang="en-US" dirty="0"/>
              <a:t>T5 = 4 </a:t>
            </a:r>
            <a:r>
              <a:rPr lang="en-US" dirty="0" err="1"/>
              <a:t>ngày</a:t>
            </a:r>
            <a:r>
              <a:rPr lang="en-US" dirty="0"/>
              <a:t>; </a:t>
            </a:r>
            <a:r>
              <a:rPr lang="en-US" dirty="0" err="1"/>
              <a:t>xác</a:t>
            </a:r>
            <a:r>
              <a:rPr lang="en-US" dirty="0"/>
              <a:t> </a:t>
            </a:r>
            <a:r>
              <a:rPr lang="en-US" dirty="0" err="1"/>
              <a:t>suất</a:t>
            </a:r>
            <a:r>
              <a:rPr lang="en-US" dirty="0"/>
              <a:t> </a:t>
            </a:r>
            <a:r>
              <a:rPr lang="en-US" dirty="0" err="1"/>
              <a:t>khách</a:t>
            </a:r>
            <a:r>
              <a:rPr lang="en-US" dirty="0"/>
              <a:t> </a:t>
            </a:r>
            <a:r>
              <a:rPr lang="en-US" dirty="0" err="1"/>
              <a:t>hàng</a:t>
            </a:r>
            <a:r>
              <a:rPr lang="en-US" dirty="0"/>
              <a:t> </a:t>
            </a:r>
            <a:r>
              <a:rPr lang="en-US" dirty="0" err="1"/>
              <a:t>bắt</a:t>
            </a:r>
            <a:r>
              <a:rPr lang="en-US" dirty="0"/>
              <a:t> </a:t>
            </a:r>
            <a:r>
              <a:rPr lang="en-US" dirty="0" err="1"/>
              <a:t>lỗi</a:t>
            </a:r>
            <a:r>
              <a:rPr lang="en-US" dirty="0"/>
              <a:t> UAT r3 = 20%.</a:t>
            </a:r>
          </a:p>
          <a:p>
            <a:pPr>
              <a:spcAft>
                <a:spcPts val="200"/>
              </a:spcAft>
              <a:defRPr sz="950">
                <a:solidFill>
                  <a:srgbClr val="1E293B"/>
                </a:solidFill>
                <a:latin typeface="Segoe UI"/>
              </a:defRPr>
            </a:pPr>
            <a:r>
              <a:rPr lang="en-US" dirty="0" err="1"/>
              <a:t>Thời</a:t>
            </a:r>
            <a:r>
              <a:rPr lang="en-US" dirty="0"/>
              <a:t> </a:t>
            </a:r>
            <a:r>
              <a:rPr lang="en-US" dirty="0" err="1"/>
              <a:t>gian</a:t>
            </a:r>
            <a:r>
              <a:rPr lang="en-US" dirty="0"/>
              <a:t> chu </a:t>
            </a:r>
            <a:r>
              <a:rPr lang="en-US" dirty="0" err="1"/>
              <a:t>kỳ</a:t>
            </a:r>
            <a:r>
              <a:rPr lang="en-US" dirty="0"/>
              <a:t> </a:t>
            </a:r>
            <a:r>
              <a:rPr lang="en-US" dirty="0" err="1"/>
              <a:t>thực</a:t>
            </a:r>
            <a:r>
              <a:rPr lang="en-US" dirty="0"/>
              <a:t> </a:t>
            </a:r>
            <a:r>
              <a:rPr lang="en-US" dirty="0" err="1"/>
              <a:t>tế</a:t>
            </a:r>
            <a:r>
              <a:rPr lang="en-US" dirty="0"/>
              <a:t>: CT5 = 4 / (1 - 0.2) = 5 </a:t>
            </a:r>
            <a:r>
              <a:rPr lang="en-US" dirty="0" err="1"/>
              <a:t>ngày</a:t>
            </a:r>
            <a:r>
              <a:rPr lang="en-US" dirty="0"/>
              <a:t>.</a:t>
            </a:r>
            <a:endParaRPr dirty="0"/>
          </a:p>
        </p:txBody>
      </p:sp>
      <p:sp>
        <p:nvSpPr>
          <p:cNvPr id="36" name="Rounded Rectangle 10">
            <a:extLst>
              <a:ext uri="{FF2B5EF4-FFF2-40B4-BE49-F238E27FC236}">
                <a16:creationId xmlns:a16="http://schemas.microsoft.com/office/drawing/2014/main" id="{AA699E6B-D35A-AD0A-3D1D-4786E1EB8347}"/>
              </a:ext>
            </a:extLst>
          </p:cNvPr>
          <p:cNvSpPr/>
          <p:nvPr/>
        </p:nvSpPr>
        <p:spPr>
          <a:xfrm>
            <a:off x="7223760" y="1360514"/>
            <a:ext cx="4598488" cy="1972474"/>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r>
              <a:rPr lang="vi-VN" sz="950" b="1" dirty="0">
                <a:solidFill>
                  <a:srgbClr val="1E293B"/>
                </a:solidFill>
                <a:latin typeface="Segoe UI"/>
              </a:rPr>
              <a:t>Tổng thời gian chu kỳ của dự án</a:t>
            </a:r>
          </a:p>
          <a:p>
            <a:endParaRPr lang="vi-VN" sz="950" b="1" dirty="0">
              <a:solidFill>
                <a:srgbClr val="1E293B"/>
              </a:solidFill>
              <a:latin typeface="Segoe UI"/>
            </a:endParaRPr>
          </a:p>
          <a:p>
            <a:r>
              <a:rPr lang="vi-VN" sz="950" dirty="0">
                <a:solidFill>
                  <a:srgbClr val="1E293B"/>
                </a:solidFill>
                <a:latin typeface="Segoe UI"/>
              </a:rPr>
              <a:t>CT = 3 + 6.25 + 15 + 2.86 + 5 = 32.11 ngày.</a:t>
            </a:r>
          </a:p>
          <a:p>
            <a:endParaRPr lang="vi-VN" sz="950" b="1" dirty="0">
              <a:solidFill>
                <a:srgbClr val="1E293B"/>
              </a:solidFill>
              <a:latin typeface="Segoe UI"/>
            </a:endParaRPr>
          </a:p>
          <a:p>
            <a:r>
              <a:rPr lang="vi-VN" sz="950" b="1" dirty="0">
                <a:solidFill>
                  <a:srgbClr val="1E293B"/>
                </a:solidFill>
                <a:latin typeface="Segoe UI"/>
              </a:rPr>
              <a:t>Hiệu suất thời gian</a:t>
            </a:r>
          </a:p>
          <a:p>
            <a:endParaRPr lang="vi-VN" sz="950" b="1" dirty="0">
              <a:solidFill>
                <a:srgbClr val="1E293B"/>
              </a:solidFill>
              <a:latin typeface="Segoe UI"/>
            </a:endParaRPr>
          </a:p>
          <a:p>
            <a:r>
              <a:rPr lang="vi-VN" sz="950" dirty="0">
                <a:solidFill>
                  <a:srgbClr val="1E293B"/>
                </a:solidFill>
                <a:latin typeface="Segoe UI"/>
              </a:rPr>
              <a:t>Thời gian xử lý lý tưởng nếu không có rework: PT = 29 ngày.</a:t>
            </a:r>
          </a:p>
          <a:p>
            <a:r>
              <a:rPr lang="vi-VN" sz="950" dirty="0">
                <a:solidFill>
                  <a:srgbClr val="1E293B"/>
                </a:solidFill>
                <a:latin typeface="Segoe UI"/>
              </a:rPr>
              <a:t>Hiệu suất = 29 / 32.11 ≈ 90.3%.</a:t>
            </a:r>
            <a:endParaRPr lang="en-US" sz="950" dirty="0">
              <a:solidFill>
                <a:srgbClr val="1E293B"/>
              </a:solidFill>
              <a:latin typeface="Segoe UI"/>
            </a:endParaRPr>
          </a:p>
        </p:txBody>
      </p:sp>
      <p:sp>
        <p:nvSpPr>
          <p:cNvPr id="37" name="Rounded Rectangle 10">
            <a:extLst>
              <a:ext uri="{FF2B5EF4-FFF2-40B4-BE49-F238E27FC236}">
                <a16:creationId xmlns:a16="http://schemas.microsoft.com/office/drawing/2014/main" id="{67093B96-1848-D79E-3692-A91EE6E504B8}"/>
              </a:ext>
            </a:extLst>
          </p:cNvPr>
          <p:cNvSpPr/>
          <p:nvPr/>
        </p:nvSpPr>
        <p:spPr>
          <a:xfrm>
            <a:off x="7257747" y="3579876"/>
            <a:ext cx="4598488" cy="1972474"/>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vi-VN" sz="1000" b="1" dirty="0">
                <a:solidFill>
                  <a:srgbClr val="F37021"/>
                </a:solidFill>
                <a:latin typeface="Segoe UI"/>
              </a:rPr>
              <a:t>KẾT LUẬN</a:t>
            </a:r>
          </a:p>
          <a:p>
            <a:endParaRPr lang="vi-VN" sz="1100" b="1" dirty="0">
              <a:solidFill>
                <a:srgbClr val="0A2540"/>
              </a:solidFill>
              <a:latin typeface="Segoe UI"/>
            </a:endParaRPr>
          </a:p>
          <a:p>
            <a:r>
              <a:rPr lang="en-US" sz="950" dirty="0" err="1">
                <a:solidFill>
                  <a:srgbClr val="1E293B"/>
                </a:solidFill>
                <a:latin typeface="Segoe UI"/>
              </a:rPr>
              <a:t>Nút</a:t>
            </a:r>
            <a:r>
              <a:rPr lang="en-US" sz="950" dirty="0">
                <a:solidFill>
                  <a:srgbClr val="1E293B"/>
                </a:solidFill>
                <a:latin typeface="Segoe UI"/>
              </a:rPr>
              <a:t> </a:t>
            </a:r>
            <a:r>
              <a:rPr lang="en-US" sz="950" dirty="0" err="1">
                <a:solidFill>
                  <a:srgbClr val="1E293B"/>
                </a:solidFill>
                <a:latin typeface="Segoe UI"/>
              </a:rPr>
              <a:t>thắt</a:t>
            </a:r>
            <a:r>
              <a:rPr lang="en-US" sz="950" dirty="0">
                <a:solidFill>
                  <a:srgbClr val="1E293B"/>
                </a:solidFill>
                <a:latin typeface="Segoe UI"/>
              </a:rPr>
              <a:t> </a:t>
            </a:r>
            <a:r>
              <a:rPr lang="en-US" sz="950" dirty="0" err="1">
                <a:solidFill>
                  <a:srgbClr val="1E293B"/>
                </a:solidFill>
                <a:latin typeface="Segoe UI"/>
              </a:rPr>
              <a:t>cổ</a:t>
            </a:r>
            <a:r>
              <a:rPr lang="en-US" sz="950" dirty="0">
                <a:solidFill>
                  <a:srgbClr val="1E293B"/>
                </a:solidFill>
                <a:latin typeface="Segoe UI"/>
              </a:rPr>
              <a:t> chai </a:t>
            </a:r>
            <a:r>
              <a:rPr lang="en-US" sz="950" dirty="0" err="1">
                <a:solidFill>
                  <a:srgbClr val="1E293B"/>
                </a:solidFill>
                <a:latin typeface="Segoe UI"/>
              </a:rPr>
              <a:t>nằm</a:t>
            </a:r>
            <a:r>
              <a:rPr lang="en-US" sz="950" dirty="0">
                <a:solidFill>
                  <a:srgbClr val="1E293B"/>
                </a:solidFill>
                <a:latin typeface="Segoe UI"/>
              </a:rPr>
              <a:t> ở </a:t>
            </a:r>
            <a:r>
              <a:rPr lang="en-US" sz="950" dirty="0" err="1">
                <a:solidFill>
                  <a:srgbClr val="1E293B"/>
                </a:solidFill>
                <a:latin typeface="Segoe UI"/>
              </a:rPr>
              <a:t>các</a:t>
            </a:r>
            <a:r>
              <a:rPr lang="en-US" sz="950" dirty="0">
                <a:solidFill>
                  <a:srgbClr val="1E293B"/>
                </a:solidFill>
                <a:latin typeface="Segoe UI"/>
              </a:rPr>
              <a:t> </a:t>
            </a:r>
            <a:r>
              <a:rPr lang="en-US" sz="950" dirty="0" err="1">
                <a:solidFill>
                  <a:srgbClr val="1E293B"/>
                </a:solidFill>
                <a:latin typeface="Segoe UI"/>
              </a:rPr>
              <a:t>vòng</a:t>
            </a:r>
            <a:r>
              <a:rPr lang="en-US" sz="950" dirty="0">
                <a:solidFill>
                  <a:srgbClr val="1E293B"/>
                </a:solidFill>
                <a:latin typeface="Segoe UI"/>
              </a:rPr>
              <a:t> </a:t>
            </a:r>
            <a:r>
              <a:rPr lang="en-US" sz="950" dirty="0" err="1">
                <a:solidFill>
                  <a:srgbClr val="1E293B"/>
                </a:solidFill>
                <a:latin typeface="Segoe UI"/>
              </a:rPr>
              <a:t>lặp</a:t>
            </a:r>
            <a:r>
              <a:rPr lang="en-US" sz="950" dirty="0">
                <a:solidFill>
                  <a:srgbClr val="1E293B"/>
                </a:solidFill>
                <a:latin typeface="Segoe UI"/>
              </a:rPr>
              <a:t> rework (</a:t>
            </a:r>
            <a:r>
              <a:rPr lang="en-US" sz="950" dirty="0" err="1">
                <a:solidFill>
                  <a:srgbClr val="1E293B"/>
                </a:solidFill>
                <a:latin typeface="Segoe UI"/>
              </a:rPr>
              <a:t>sửa</a:t>
            </a:r>
            <a:r>
              <a:rPr lang="en-US" sz="950" dirty="0">
                <a:solidFill>
                  <a:srgbClr val="1E293B"/>
                </a:solidFill>
                <a:latin typeface="Segoe UI"/>
              </a:rPr>
              <a:t> </a:t>
            </a:r>
            <a:r>
              <a:rPr lang="en-US" sz="950" dirty="0" err="1">
                <a:solidFill>
                  <a:srgbClr val="1E293B"/>
                </a:solidFill>
                <a:latin typeface="Segoe UI"/>
              </a:rPr>
              <a:t>tài</a:t>
            </a:r>
            <a:r>
              <a:rPr lang="en-US" sz="950" dirty="0">
                <a:solidFill>
                  <a:srgbClr val="1E293B"/>
                </a:solidFill>
                <a:latin typeface="Segoe UI"/>
              </a:rPr>
              <a:t> </a:t>
            </a:r>
            <a:r>
              <a:rPr lang="en-US" sz="950" dirty="0" err="1">
                <a:solidFill>
                  <a:srgbClr val="1E293B"/>
                </a:solidFill>
                <a:latin typeface="Segoe UI"/>
              </a:rPr>
              <a:t>liệu</a:t>
            </a:r>
            <a:r>
              <a:rPr lang="en-US" sz="950" dirty="0">
                <a:solidFill>
                  <a:srgbClr val="1E293B"/>
                </a:solidFill>
                <a:latin typeface="Segoe UI"/>
              </a:rPr>
              <a:t>, </a:t>
            </a:r>
            <a:r>
              <a:rPr lang="en-US" sz="950" dirty="0" err="1">
                <a:solidFill>
                  <a:srgbClr val="1E293B"/>
                </a:solidFill>
                <a:latin typeface="Segoe UI"/>
              </a:rPr>
              <a:t>kiểm</a:t>
            </a:r>
            <a:r>
              <a:rPr lang="en-US" sz="950" dirty="0">
                <a:solidFill>
                  <a:srgbClr val="1E293B"/>
                </a:solidFill>
                <a:latin typeface="Segoe UI"/>
              </a:rPr>
              <a:t> </a:t>
            </a:r>
            <a:r>
              <a:rPr lang="en-US" sz="950" dirty="0" err="1">
                <a:solidFill>
                  <a:srgbClr val="1E293B"/>
                </a:solidFill>
                <a:latin typeface="Segoe UI"/>
              </a:rPr>
              <a:t>thử</a:t>
            </a:r>
            <a:r>
              <a:rPr lang="en-US" sz="950" dirty="0">
                <a:solidFill>
                  <a:srgbClr val="1E293B"/>
                </a:solidFill>
                <a:latin typeface="Segoe UI"/>
              </a:rPr>
              <a:t> </a:t>
            </a:r>
            <a:r>
              <a:rPr lang="en-US" sz="950" dirty="0" err="1">
                <a:solidFill>
                  <a:srgbClr val="1E293B"/>
                </a:solidFill>
                <a:latin typeface="Segoe UI"/>
              </a:rPr>
              <a:t>nội</a:t>
            </a:r>
            <a:r>
              <a:rPr lang="en-US" sz="950" dirty="0">
                <a:solidFill>
                  <a:srgbClr val="1E293B"/>
                </a:solidFill>
                <a:latin typeface="Segoe UI"/>
              </a:rPr>
              <a:t> </a:t>
            </a:r>
            <a:r>
              <a:rPr lang="en-US" sz="950" dirty="0" err="1">
                <a:solidFill>
                  <a:srgbClr val="1E293B"/>
                </a:solidFill>
                <a:latin typeface="Segoe UI"/>
              </a:rPr>
              <a:t>bộ</a:t>
            </a:r>
            <a:r>
              <a:rPr lang="en-US" sz="950" dirty="0">
                <a:solidFill>
                  <a:srgbClr val="1E293B"/>
                </a:solidFill>
                <a:latin typeface="Segoe UI"/>
              </a:rPr>
              <a:t>, UAT).</a:t>
            </a:r>
          </a:p>
          <a:p>
            <a:r>
              <a:rPr lang="en-US" sz="950" dirty="0" err="1">
                <a:solidFill>
                  <a:srgbClr val="1E293B"/>
                </a:solidFill>
                <a:latin typeface="Segoe UI"/>
              </a:rPr>
              <a:t>Việc</a:t>
            </a:r>
            <a:r>
              <a:rPr lang="en-US" sz="950" dirty="0">
                <a:solidFill>
                  <a:srgbClr val="1E293B"/>
                </a:solidFill>
                <a:latin typeface="Segoe UI"/>
              </a:rPr>
              <a:t> </a:t>
            </a:r>
            <a:r>
              <a:rPr lang="en-US" sz="950" dirty="0" err="1">
                <a:solidFill>
                  <a:srgbClr val="1E293B"/>
                </a:solidFill>
                <a:latin typeface="Segoe UI"/>
              </a:rPr>
              <a:t>chạy</a:t>
            </a:r>
            <a:r>
              <a:rPr lang="en-US" sz="950" dirty="0">
                <a:solidFill>
                  <a:srgbClr val="1E293B"/>
                </a:solidFill>
                <a:latin typeface="Segoe UI"/>
              </a:rPr>
              <a:t> song </a:t>
            </a:r>
            <a:r>
              <a:rPr lang="en-US" sz="950" dirty="0" err="1">
                <a:solidFill>
                  <a:srgbClr val="1E293B"/>
                </a:solidFill>
                <a:latin typeface="Segoe UI"/>
              </a:rPr>
              <a:t>song</a:t>
            </a:r>
            <a:r>
              <a:rPr lang="en-US" sz="950" dirty="0">
                <a:solidFill>
                  <a:srgbClr val="1E293B"/>
                </a:solidFill>
                <a:latin typeface="Segoe UI"/>
              </a:rPr>
              <a:t> </a:t>
            </a:r>
            <a:r>
              <a:rPr lang="en-US" sz="950" dirty="0" err="1">
                <a:solidFill>
                  <a:srgbClr val="1E293B"/>
                </a:solidFill>
                <a:latin typeface="Segoe UI"/>
              </a:rPr>
              <a:t>giữa</a:t>
            </a:r>
            <a:r>
              <a:rPr lang="en-US" sz="950" dirty="0">
                <a:solidFill>
                  <a:srgbClr val="1E293B"/>
                </a:solidFill>
                <a:latin typeface="Segoe UI"/>
              </a:rPr>
              <a:t> Dev </a:t>
            </a:r>
            <a:r>
              <a:rPr lang="en-US" sz="950" dirty="0" err="1">
                <a:solidFill>
                  <a:srgbClr val="1E293B"/>
                </a:solidFill>
                <a:latin typeface="Segoe UI"/>
              </a:rPr>
              <a:t>và</a:t>
            </a:r>
            <a:r>
              <a:rPr lang="en-US" sz="950" dirty="0">
                <a:solidFill>
                  <a:srgbClr val="1E293B"/>
                </a:solidFill>
                <a:latin typeface="Segoe UI"/>
              </a:rPr>
              <a:t> QA </a:t>
            </a:r>
            <a:r>
              <a:rPr lang="en-US" sz="950" dirty="0" err="1">
                <a:solidFill>
                  <a:srgbClr val="1E293B"/>
                </a:solidFill>
                <a:latin typeface="Segoe UI"/>
              </a:rPr>
              <a:t>giúp</a:t>
            </a:r>
            <a:r>
              <a:rPr lang="en-US" sz="950" dirty="0">
                <a:solidFill>
                  <a:srgbClr val="1E293B"/>
                </a:solidFill>
                <a:latin typeface="Segoe UI"/>
              </a:rPr>
              <a:t> </a:t>
            </a:r>
            <a:r>
              <a:rPr lang="en-US" sz="950" dirty="0" err="1">
                <a:solidFill>
                  <a:srgbClr val="1E293B"/>
                </a:solidFill>
                <a:latin typeface="Segoe UI"/>
              </a:rPr>
              <a:t>tối</a:t>
            </a:r>
            <a:r>
              <a:rPr lang="en-US" sz="950" dirty="0">
                <a:solidFill>
                  <a:srgbClr val="1E293B"/>
                </a:solidFill>
                <a:latin typeface="Segoe UI"/>
              </a:rPr>
              <a:t> </a:t>
            </a:r>
            <a:r>
              <a:rPr lang="en-US" sz="950" dirty="0" err="1">
                <a:solidFill>
                  <a:srgbClr val="1E293B"/>
                </a:solidFill>
                <a:latin typeface="Segoe UI"/>
              </a:rPr>
              <a:t>ưu</a:t>
            </a:r>
            <a:r>
              <a:rPr lang="en-US" sz="950" dirty="0">
                <a:solidFill>
                  <a:srgbClr val="1E293B"/>
                </a:solidFill>
                <a:latin typeface="Segoe UI"/>
              </a:rPr>
              <a:t> </a:t>
            </a:r>
            <a:r>
              <a:rPr lang="en-US" sz="950" dirty="0" err="1">
                <a:solidFill>
                  <a:srgbClr val="1E293B"/>
                </a:solidFill>
                <a:latin typeface="Segoe UI"/>
              </a:rPr>
              <a:t>thời</a:t>
            </a:r>
            <a:r>
              <a:rPr lang="en-US" sz="950" dirty="0">
                <a:solidFill>
                  <a:srgbClr val="1E293B"/>
                </a:solidFill>
                <a:latin typeface="Segoe UI"/>
              </a:rPr>
              <a:t> </a:t>
            </a:r>
            <a:r>
              <a:rPr lang="en-US" sz="950" dirty="0" err="1">
                <a:solidFill>
                  <a:srgbClr val="1E293B"/>
                </a:solidFill>
                <a:latin typeface="Segoe UI"/>
              </a:rPr>
              <a:t>gian</a:t>
            </a:r>
            <a:r>
              <a:rPr lang="en-US" sz="950" dirty="0">
                <a:solidFill>
                  <a:srgbClr val="1E293B"/>
                </a:solidFill>
                <a:latin typeface="Segoe UI"/>
              </a:rPr>
              <a:t>, </a:t>
            </a:r>
            <a:r>
              <a:rPr lang="en-US" sz="950" dirty="0" err="1">
                <a:solidFill>
                  <a:srgbClr val="1E293B"/>
                </a:solidFill>
                <a:latin typeface="Segoe UI"/>
              </a:rPr>
              <a:t>nhưng</a:t>
            </a:r>
            <a:r>
              <a:rPr lang="en-US" sz="950" dirty="0">
                <a:solidFill>
                  <a:srgbClr val="1E293B"/>
                </a:solidFill>
                <a:latin typeface="Segoe UI"/>
              </a:rPr>
              <a:t> rework </a:t>
            </a:r>
            <a:r>
              <a:rPr lang="en-US" sz="950" dirty="0" err="1">
                <a:solidFill>
                  <a:srgbClr val="1E293B"/>
                </a:solidFill>
                <a:latin typeface="Segoe UI"/>
              </a:rPr>
              <a:t>vẫn</a:t>
            </a:r>
            <a:r>
              <a:rPr lang="en-US" sz="950" dirty="0">
                <a:solidFill>
                  <a:srgbClr val="1E293B"/>
                </a:solidFill>
                <a:latin typeface="Segoe UI"/>
              </a:rPr>
              <a:t> </a:t>
            </a:r>
            <a:r>
              <a:rPr lang="en-US" sz="950" dirty="0" err="1">
                <a:solidFill>
                  <a:srgbClr val="1E293B"/>
                </a:solidFill>
                <a:latin typeface="Segoe UI"/>
              </a:rPr>
              <a:t>là</a:t>
            </a:r>
            <a:r>
              <a:rPr lang="en-US" sz="950" dirty="0">
                <a:solidFill>
                  <a:srgbClr val="1E293B"/>
                </a:solidFill>
                <a:latin typeface="Segoe UI"/>
              </a:rPr>
              <a:t> </a:t>
            </a:r>
            <a:r>
              <a:rPr lang="en-US" sz="950" dirty="0" err="1">
                <a:solidFill>
                  <a:srgbClr val="1E293B"/>
                </a:solidFill>
                <a:latin typeface="Segoe UI"/>
              </a:rPr>
              <a:t>yếu</a:t>
            </a:r>
            <a:r>
              <a:rPr lang="en-US" sz="950" dirty="0">
                <a:solidFill>
                  <a:srgbClr val="1E293B"/>
                </a:solidFill>
                <a:latin typeface="Segoe UI"/>
              </a:rPr>
              <a:t> </a:t>
            </a:r>
            <a:r>
              <a:rPr lang="en-US" sz="950" dirty="0" err="1">
                <a:solidFill>
                  <a:srgbClr val="1E293B"/>
                </a:solidFill>
                <a:latin typeface="Segoe UI"/>
              </a:rPr>
              <a:t>tố</a:t>
            </a:r>
            <a:r>
              <a:rPr lang="en-US" sz="950" dirty="0">
                <a:solidFill>
                  <a:srgbClr val="1E293B"/>
                </a:solidFill>
                <a:latin typeface="Segoe UI"/>
              </a:rPr>
              <a:t> </a:t>
            </a:r>
            <a:r>
              <a:rPr lang="en-US" sz="950" dirty="0" err="1">
                <a:solidFill>
                  <a:srgbClr val="1E293B"/>
                </a:solidFill>
                <a:latin typeface="Segoe UI"/>
              </a:rPr>
              <a:t>chính</a:t>
            </a:r>
            <a:r>
              <a:rPr lang="en-US" sz="950" dirty="0">
                <a:solidFill>
                  <a:srgbClr val="1E293B"/>
                </a:solidFill>
                <a:latin typeface="Segoe UI"/>
              </a:rPr>
              <a:t> </a:t>
            </a:r>
            <a:r>
              <a:rPr lang="en-US" sz="950" dirty="0" err="1">
                <a:solidFill>
                  <a:srgbClr val="1E293B"/>
                </a:solidFill>
                <a:latin typeface="Segoe UI"/>
              </a:rPr>
              <a:t>làm</a:t>
            </a:r>
            <a:r>
              <a:rPr lang="en-US" sz="950" dirty="0">
                <a:solidFill>
                  <a:srgbClr val="1E293B"/>
                </a:solidFill>
                <a:latin typeface="Segoe UI"/>
              </a:rPr>
              <a:t> </a:t>
            </a:r>
            <a:r>
              <a:rPr lang="en-US" sz="950" dirty="0" err="1">
                <a:solidFill>
                  <a:srgbClr val="1E293B"/>
                </a:solidFill>
                <a:latin typeface="Segoe UI"/>
              </a:rPr>
              <a:t>tăng</a:t>
            </a:r>
            <a:r>
              <a:rPr lang="en-US" sz="950" dirty="0">
                <a:solidFill>
                  <a:srgbClr val="1E293B"/>
                </a:solidFill>
                <a:latin typeface="Segoe UI"/>
              </a:rPr>
              <a:t> chu </a:t>
            </a:r>
            <a:r>
              <a:rPr lang="en-US" sz="950" dirty="0" err="1">
                <a:solidFill>
                  <a:srgbClr val="1E293B"/>
                </a:solidFill>
                <a:latin typeface="Segoe UI"/>
              </a:rPr>
              <a:t>kỳ</a:t>
            </a:r>
            <a:r>
              <a:rPr lang="en-US" sz="950" dirty="0">
                <a:solidFill>
                  <a:srgbClr val="1E293B"/>
                </a:solidFill>
                <a:latin typeface="Segoe UI"/>
              </a:rPr>
              <a:t> </a:t>
            </a:r>
            <a:r>
              <a:rPr lang="en-US" sz="950" dirty="0" err="1">
                <a:solidFill>
                  <a:srgbClr val="1E293B"/>
                </a:solidFill>
                <a:latin typeface="Segoe UI"/>
              </a:rPr>
              <a:t>dự</a:t>
            </a:r>
            <a:r>
              <a:rPr lang="en-US" sz="950" dirty="0">
                <a:solidFill>
                  <a:srgbClr val="1E293B"/>
                </a:solidFill>
                <a:latin typeface="Segoe UI"/>
              </a:rPr>
              <a:t> </a:t>
            </a:r>
            <a:r>
              <a:rPr lang="en-US" sz="950" dirty="0" err="1">
                <a:solidFill>
                  <a:srgbClr val="1E293B"/>
                </a:solidFill>
                <a:latin typeface="Segoe UI"/>
              </a:rPr>
              <a:t>án</a:t>
            </a:r>
            <a:r>
              <a:rPr lang="en-US" sz="950" dirty="0">
                <a:solidFill>
                  <a:srgbClr val="1E293B"/>
                </a:solidFill>
                <a:latin typeface="Segoe UI"/>
              </a:rPr>
              <a:t>.</a:t>
            </a:r>
          </a:p>
        </p:txBody>
      </p:sp>
    </p:spTree>
    <p:extLst>
      <p:ext uri="{BB962C8B-B14F-4D97-AF65-F5344CB8AC3E}">
        <p14:creationId xmlns:p14="http://schemas.microsoft.com/office/powerpoint/2010/main" val="332870737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7899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731520" y="1051560"/>
            <a:ext cx="7772400" cy="36576"/>
          </a:xfrm>
          <a:prstGeom prst="rect">
            <a:avLst/>
          </a:prstGeom>
          <a:solidFill>
            <a:srgbClr val="005B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8503920" y="1051560"/>
            <a:ext cx="2926080" cy="36576"/>
          </a:xfrm>
          <a:prstGeom prst="rect">
            <a:avLst/>
          </a:prstGeom>
          <a:solidFill>
            <a:srgbClr val="F370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731520" y="146304"/>
            <a:ext cx="3840480" cy="256032"/>
          </a:xfrm>
          <a:prstGeom prst="roundRect">
            <a:avLst/>
          </a:prstGeom>
          <a:solidFill>
            <a:srgbClr val="FFF7ED"/>
          </a:solidFill>
          <a:ln w="9525">
            <a:solidFill>
              <a:srgbClr val="F37021"/>
            </a:solidFill>
          </a:ln>
        </p:spPr>
        <p:style>
          <a:lnRef idx="1">
            <a:schemeClr val="accent1"/>
          </a:lnRef>
          <a:fillRef idx="3">
            <a:schemeClr val="accent1"/>
          </a:fillRef>
          <a:effectRef idx="2">
            <a:schemeClr val="accent1"/>
          </a:effectRef>
          <a:fontRef idx="minor">
            <a:schemeClr val="lt1"/>
          </a:fontRef>
        </p:style>
        <p:txBody>
          <a:bodyPr wrap="square" lIns="109728" tIns="18288" rtlCol="0" anchor="ctr"/>
          <a:lstStyle/>
          <a:p>
            <a:pPr algn="ctr">
              <a:defRPr sz="950" b="1">
                <a:solidFill>
                  <a:srgbClr val="F37021"/>
                </a:solidFill>
                <a:latin typeface="Segoe UI"/>
              </a:defRPr>
            </a:pPr>
            <a:r>
              <a:t>PHẦN 4: QUY TRÌNH CỐT LÕI</a:t>
            </a:r>
          </a:p>
        </p:txBody>
      </p:sp>
      <p:sp>
        <p:nvSpPr>
          <p:cNvPr id="6" name="TextBox 5"/>
          <p:cNvSpPr txBox="1"/>
          <p:nvPr/>
        </p:nvSpPr>
        <p:spPr>
          <a:xfrm>
            <a:off x="731520" y="438912"/>
            <a:ext cx="8686800" cy="566928"/>
          </a:xfrm>
          <a:prstGeom prst="rect">
            <a:avLst/>
          </a:prstGeom>
          <a:noFill/>
        </p:spPr>
        <p:txBody>
          <a:bodyPr wrap="square" lIns="0" tIns="0">
            <a:spAutoFit/>
          </a:bodyPr>
          <a:lstStyle/>
          <a:p>
            <a:pPr>
              <a:defRPr sz="1900" b="1">
                <a:solidFill>
                  <a:srgbClr val="0A2540"/>
                </a:solidFill>
                <a:latin typeface="Segoe UI"/>
              </a:defRPr>
            </a:pPr>
            <a:r>
              <a:t>Mô tả Chi tiết 5 Giai đoạn Phân tích và Phát triển Phần mềm</a:t>
            </a:r>
          </a:p>
        </p:txBody>
      </p:sp>
      <p:pic>
        <p:nvPicPr>
          <p:cNvPr id="7" name="Picture 6" descr="fpt_software_logo.png"/>
          <p:cNvPicPr>
            <a:picLocks noChangeAspect="1"/>
          </p:cNvPicPr>
          <p:nvPr/>
        </p:nvPicPr>
        <p:blipFill>
          <a:blip r:embed="rId2"/>
          <a:stretch>
            <a:fillRect/>
          </a:stretch>
        </p:blipFill>
        <p:spPr>
          <a:xfrm>
            <a:off x="9784080" y="201168"/>
            <a:ext cx="1691640" cy="422910"/>
          </a:xfrm>
          <a:prstGeom prst="rect">
            <a:avLst/>
          </a:prstGeom>
        </p:spPr>
      </p:pic>
      <p:sp>
        <p:nvSpPr>
          <p:cNvPr id="8" name="Rectangle 7"/>
          <p:cNvSpPr/>
          <p:nvPr/>
        </p:nvSpPr>
        <p:spPr>
          <a:xfrm>
            <a:off x="731520" y="6419088"/>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31520" y="6473952"/>
            <a:ext cx="7772400" cy="274320"/>
          </a:xfrm>
          <a:prstGeom prst="rect">
            <a:avLst/>
          </a:prstGeom>
          <a:noFill/>
        </p:spPr>
        <p:txBody>
          <a:bodyPr wrap="none">
            <a:spAutoFit/>
          </a:bodyPr>
          <a:lstStyle/>
          <a:p>
            <a:pPr>
              <a:defRPr sz="850">
                <a:solidFill>
                  <a:srgbClr val="64748B"/>
                </a:solidFill>
                <a:latin typeface="Segoe UI"/>
              </a:defRPr>
            </a:pPr>
            <a:r>
              <a:t>FPT Software | Hệ thống Quản trị Quy trình Nghiệp vụ (BPM) - Đồ án Môn học - Nhóm 8</a:t>
            </a:r>
          </a:p>
        </p:txBody>
      </p:sp>
      <p:sp>
        <p:nvSpPr>
          <p:cNvPr id="10" name="TextBox 9"/>
          <p:cNvSpPr txBox="1"/>
          <p:nvPr/>
        </p:nvSpPr>
        <p:spPr>
          <a:xfrm>
            <a:off x="10058400" y="6473952"/>
            <a:ext cx="1371600" cy="274320"/>
          </a:xfrm>
          <a:prstGeom prst="rect">
            <a:avLst/>
          </a:prstGeom>
          <a:noFill/>
        </p:spPr>
        <p:txBody>
          <a:bodyPr wrap="none">
            <a:spAutoFit/>
          </a:bodyPr>
          <a:lstStyle/>
          <a:p>
            <a:pPr algn="r">
              <a:defRPr sz="850" b="1">
                <a:solidFill>
                  <a:srgbClr val="005BAA"/>
                </a:solidFill>
                <a:latin typeface="Segoe UI"/>
              </a:defRPr>
            </a:pPr>
            <a:r>
              <a:t>16 / 27</a:t>
            </a:r>
          </a:p>
        </p:txBody>
      </p:sp>
      <p:sp>
        <p:nvSpPr>
          <p:cNvPr id="11" name="Rounded Rectangle 10"/>
          <p:cNvSpPr/>
          <p:nvPr/>
        </p:nvSpPr>
        <p:spPr>
          <a:xfrm>
            <a:off x="731520" y="1325880"/>
            <a:ext cx="10728655" cy="896112"/>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731520" y="1325880"/>
            <a:ext cx="109728" cy="896112"/>
          </a:xfrm>
          <a:prstGeom prst="roundRect">
            <a:avLst/>
          </a:prstGeom>
          <a:solidFill>
            <a:srgbClr val="005B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005840" y="1417320"/>
            <a:ext cx="1645920" cy="274320"/>
          </a:xfrm>
          <a:prstGeom prst="rect">
            <a:avLst/>
          </a:prstGeom>
          <a:noFill/>
        </p:spPr>
        <p:txBody>
          <a:bodyPr wrap="none">
            <a:spAutoFit/>
          </a:bodyPr>
          <a:lstStyle/>
          <a:p>
            <a:pPr>
              <a:defRPr sz="1000" b="1">
                <a:solidFill>
                  <a:srgbClr val="005BAA"/>
                </a:solidFill>
                <a:latin typeface="Segoe UI"/>
              </a:defRPr>
            </a:pPr>
            <a:r>
              <a:rPr dirty="0"/>
              <a:t>GIAI ĐOẠN 1</a:t>
            </a:r>
          </a:p>
        </p:txBody>
      </p:sp>
      <p:sp>
        <p:nvSpPr>
          <p:cNvPr id="14" name="TextBox 13"/>
          <p:cNvSpPr txBox="1"/>
          <p:nvPr/>
        </p:nvSpPr>
        <p:spPr>
          <a:xfrm>
            <a:off x="1005840" y="1645920"/>
            <a:ext cx="2011680" cy="502920"/>
          </a:xfrm>
          <a:prstGeom prst="rect">
            <a:avLst/>
          </a:prstGeom>
          <a:noFill/>
        </p:spPr>
        <p:txBody>
          <a:bodyPr wrap="none">
            <a:spAutoFit/>
          </a:bodyPr>
          <a:lstStyle/>
          <a:p>
            <a:pPr>
              <a:defRPr sz="1100" b="1">
                <a:solidFill>
                  <a:srgbClr val="0A2540"/>
                </a:solidFill>
                <a:latin typeface="Segoe UI"/>
              </a:defRPr>
            </a:pPr>
            <a:r>
              <a:t>KHỞI TẠO &amp; BÁO GIÁ SƠ BỘ</a:t>
            </a:r>
          </a:p>
        </p:txBody>
      </p:sp>
      <p:sp>
        <p:nvSpPr>
          <p:cNvPr id="15" name="TextBox 14"/>
          <p:cNvSpPr txBox="1"/>
          <p:nvPr/>
        </p:nvSpPr>
        <p:spPr>
          <a:xfrm>
            <a:off x="3108960" y="1399032"/>
            <a:ext cx="8229600" cy="749808"/>
          </a:xfrm>
          <a:prstGeom prst="rect">
            <a:avLst/>
          </a:prstGeom>
          <a:noFill/>
        </p:spPr>
        <p:txBody>
          <a:bodyPr wrap="square">
            <a:spAutoFit/>
          </a:bodyPr>
          <a:lstStyle/>
          <a:p>
            <a:pPr>
              <a:spcAft>
                <a:spcPts val="200"/>
              </a:spcAft>
              <a:defRPr sz="950">
                <a:solidFill>
                  <a:srgbClr val="1E293B"/>
                </a:solidFill>
                <a:latin typeface="Segoe UI"/>
              </a:defRPr>
            </a:pPr>
            <a:r>
              <a:t>• Khách hàng gửi yêu cầu (RFP). Sales phối hợp cùng BA và Dev Team làm rõ yêu cầu, đánh giá tính khả thi kỹ thuật và ước lượng khối lượng (Effort Estimation).</a:t>
            </a:r>
          </a:p>
          <a:p>
            <a:pPr>
              <a:spcAft>
                <a:spcPts val="200"/>
              </a:spcAft>
              <a:defRPr sz="950">
                <a:solidFill>
                  <a:srgbClr val="1E293B"/>
                </a:solidFill>
                <a:latin typeface="Segoe UI"/>
              </a:defRPr>
            </a:pPr>
            <a:r>
              <a:t>• Lập và gửi báo giá sơ bộ cho khách hàng. Nếu khách hàng đồng ý, hai bên tiến hành ký kết hợp đồng thương mại.</a:t>
            </a:r>
          </a:p>
        </p:txBody>
      </p:sp>
      <p:sp>
        <p:nvSpPr>
          <p:cNvPr id="16" name="Rounded Rectangle 15"/>
          <p:cNvSpPr/>
          <p:nvPr/>
        </p:nvSpPr>
        <p:spPr>
          <a:xfrm>
            <a:off x="731520" y="2313432"/>
            <a:ext cx="10728655" cy="896112"/>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731520" y="2313432"/>
            <a:ext cx="109728" cy="896112"/>
          </a:xfrm>
          <a:prstGeom prst="roundRect">
            <a:avLst/>
          </a:prstGeom>
          <a:solidFill>
            <a:srgbClr val="F370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005840" y="2404872"/>
            <a:ext cx="1645920" cy="274320"/>
          </a:xfrm>
          <a:prstGeom prst="rect">
            <a:avLst/>
          </a:prstGeom>
          <a:noFill/>
        </p:spPr>
        <p:txBody>
          <a:bodyPr wrap="none">
            <a:spAutoFit/>
          </a:bodyPr>
          <a:lstStyle/>
          <a:p>
            <a:pPr>
              <a:defRPr sz="1000" b="1">
                <a:solidFill>
                  <a:srgbClr val="F37021"/>
                </a:solidFill>
                <a:latin typeface="Segoe UI"/>
              </a:defRPr>
            </a:pPr>
            <a:r>
              <a:t>GIAI ĐOẠN 2</a:t>
            </a:r>
          </a:p>
        </p:txBody>
      </p:sp>
      <p:sp>
        <p:nvSpPr>
          <p:cNvPr id="19" name="TextBox 18"/>
          <p:cNvSpPr txBox="1"/>
          <p:nvPr/>
        </p:nvSpPr>
        <p:spPr>
          <a:xfrm>
            <a:off x="1005840" y="2633472"/>
            <a:ext cx="2011680" cy="502920"/>
          </a:xfrm>
          <a:prstGeom prst="rect">
            <a:avLst/>
          </a:prstGeom>
          <a:noFill/>
        </p:spPr>
        <p:txBody>
          <a:bodyPr wrap="none">
            <a:spAutoFit/>
          </a:bodyPr>
          <a:lstStyle/>
          <a:p>
            <a:pPr>
              <a:defRPr sz="1100" b="1">
                <a:solidFill>
                  <a:srgbClr val="0A2540"/>
                </a:solidFill>
                <a:latin typeface="Segoe UI"/>
              </a:defRPr>
            </a:pPr>
            <a:r>
              <a:t>CHỐT YÊU CẦU CHI TIẾT (SRS)</a:t>
            </a:r>
          </a:p>
        </p:txBody>
      </p:sp>
      <p:sp>
        <p:nvSpPr>
          <p:cNvPr id="20" name="TextBox 19"/>
          <p:cNvSpPr txBox="1"/>
          <p:nvPr/>
        </p:nvSpPr>
        <p:spPr>
          <a:xfrm>
            <a:off x="3108960" y="2386584"/>
            <a:ext cx="8229600" cy="749808"/>
          </a:xfrm>
          <a:prstGeom prst="rect">
            <a:avLst/>
          </a:prstGeom>
          <a:noFill/>
        </p:spPr>
        <p:txBody>
          <a:bodyPr wrap="square">
            <a:spAutoFit/>
          </a:bodyPr>
          <a:lstStyle/>
          <a:p>
            <a:pPr>
              <a:spcAft>
                <a:spcPts val="200"/>
              </a:spcAft>
              <a:defRPr sz="950">
                <a:solidFill>
                  <a:srgbClr val="1E293B"/>
                </a:solidFill>
                <a:latin typeface="Segoe UI"/>
              </a:defRPr>
            </a:pPr>
            <a:r>
              <a:t>• Bộ phận BA xây dựng tài liệu đặc tả yêu cầu hệ thống (SRS/Backlog) từ thông tin khách hàng, cập nhật phản hồi đến khi được phê duyệt chính thức.</a:t>
            </a:r>
          </a:p>
          <a:p>
            <a:pPr>
              <a:spcAft>
                <a:spcPts val="200"/>
              </a:spcAft>
              <a:defRPr sz="950">
                <a:solidFill>
                  <a:srgbClr val="1E293B"/>
                </a:solidFill>
                <a:latin typeface="Segoe UI"/>
              </a:defRPr>
            </a:pPr>
            <a:r>
              <a:t>• Quản lý dự án (PM) chốt phạm vi công việc (Baseline Scope), lập kế hoạch chi tiết và thống nhất các mốc bàn giao.</a:t>
            </a:r>
          </a:p>
        </p:txBody>
      </p:sp>
      <p:sp>
        <p:nvSpPr>
          <p:cNvPr id="21" name="Rounded Rectangle 20"/>
          <p:cNvSpPr/>
          <p:nvPr/>
        </p:nvSpPr>
        <p:spPr>
          <a:xfrm>
            <a:off x="731520" y="3300984"/>
            <a:ext cx="10728655" cy="896112"/>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731520" y="3300984"/>
            <a:ext cx="109728" cy="896112"/>
          </a:xfrm>
          <a:prstGeom prst="roundRect">
            <a:avLst/>
          </a:prstGeom>
          <a:solidFill>
            <a:srgbClr val="005B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005840" y="3392424"/>
            <a:ext cx="1645920" cy="274320"/>
          </a:xfrm>
          <a:prstGeom prst="rect">
            <a:avLst/>
          </a:prstGeom>
          <a:noFill/>
        </p:spPr>
        <p:txBody>
          <a:bodyPr wrap="none">
            <a:spAutoFit/>
          </a:bodyPr>
          <a:lstStyle/>
          <a:p>
            <a:pPr>
              <a:defRPr sz="1000" b="1">
                <a:solidFill>
                  <a:srgbClr val="005BAA"/>
                </a:solidFill>
                <a:latin typeface="Segoe UI"/>
              </a:defRPr>
            </a:pPr>
            <a:r>
              <a:t>GIAI ĐOẠN 3</a:t>
            </a:r>
          </a:p>
        </p:txBody>
      </p:sp>
      <p:sp>
        <p:nvSpPr>
          <p:cNvPr id="24" name="TextBox 23"/>
          <p:cNvSpPr txBox="1"/>
          <p:nvPr/>
        </p:nvSpPr>
        <p:spPr>
          <a:xfrm>
            <a:off x="1005840" y="3621024"/>
            <a:ext cx="2011680" cy="502920"/>
          </a:xfrm>
          <a:prstGeom prst="rect">
            <a:avLst/>
          </a:prstGeom>
          <a:noFill/>
        </p:spPr>
        <p:txBody>
          <a:bodyPr wrap="none">
            <a:spAutoFit/>
          </a:bodyPr>
          <a:lstStyle/>
          <a:p>
            <a:pPr>
              <a:defRPr sz="1100" b="1">
                <a:solidFill>
                  <a:srgbClr val="0A2540"/>
                </a:solidFill>
                <a:latin typeface="Segoe UI"/>
              </a:defRPr>
            </a:pPr>
            <a:r>
              <a:t>PHÁT TRIỂN &amp; TEST NỘI BỘ</a:t>
            </a:r>
          </a:p>
        </p:txBody>
      </p:sp>
      <p:sp>
        <p:nvSpPr>
          <p:cNvPr id="25" name="TextBox 24"/>
          <p:cNvSpPr txBox="1"/>
          <p:nvPr/>
        </p:nvSpPr>
        <p:spPr>
          <a:xfrm>
            <a:off x="3108960" y="3374136"/>
            <a:ext cx="8229600" cy="749808"/>
          </a:xfrm>
          <a:prstGeom prst="rect">
            <a:avLst/>
          </a:prstGeom>
          <a:noFill/>
        </p:spPr>
        <p:txBody>
          <a:bodyPr wrap="square">
            <a:spAutoFit/>
          </a:bodyPr>
          <a:lstStyle/>
          <a:p>
            <a:pPr>
              <a:spcAft>
                <a:spcPts val="200"/>
              </a:spcAft>
              <a:defRPr sz="950">
                <a:solidFill>
                  <a:srgbClr val="1E293B"/>
                </a:solidFill>
                <a:latin typeface="Segoe UI"/>
              </a:defRPr>
            </a:pPr>
            <a:r>
              <a:t>• Đội Lập trình (Dev) tiến hành viết mã nguồn theo các Sprint hoặc giai đoạn kiến trúc. QA Team song song chuẩn bị kịch bản kiểm thử (Test Cases).</a:t>
            </a:r>
          </a:p>
          <a:p>
            <a:pPr>
              <a:spcAft>
                <a:spcPts val="200"/>
              </a:spcAft>
              <a:defRPr sz="950">
                <a:solidFill>
                  <a:srgbClr val="1E293B"/>
                </a:solidFill>
                <a:latin typeface="Segoe UI"/>
              </a:defRPr>
            </a:pPr>
            <a:r>
              <a:t>• Sau khi hoàn tất lập trình, QA thực hiện kiểm thử chức năng và hiệu năng; Dev sửa lỗi đến khi sản phẩm đạt tiêu chuẩn chất lượng nội bộ.</a:t>
            </a:r>
          </a:p>
        </p:txBody>
      </p:sp>
      <p:sp>
        <p:nvSpPr>
          <p:cNvPr id="26" name="Rounded Rectangle 25"/>
          <p:cNvSpPr/>
          <p:nvPr/>
        </p:nvSpPr>
        <p:spPr>
          <a:xfrm>
            <a:off x="731520" y="4288536"/>
            <a:ext cx="10728655" cy="896112"/>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731520" y="4288536"/>
            <a:ext cx="109728" cy="896112"/>
          </a:xfrm>
          <a:prstGeom prst="roundRect">
            <a:avLst/>
          </a:prstGeom>
          <a:solidFill>
            <a:srgbClr val="F370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1005840" y="4379976"/>
            <a:ext cx="1645920" cy="274320"/>
          </a:xfrm>
          <a:prstGeom prst="rect">
            <a:avLst/>
          </a:prstGeom>
          <a:noFill/>
        </p:spPr>
        <p:txBody>
          <a:bodyPr wrap="none">
            <a:spAutoFit/>
          </a:bodyPr>
          <a:lstStyle/>
          <a:p>
            <a:pPr>
              <a:defRPr sz="1000" b="1">
                <a:solidFill>
                  <a:srgbClr val="F37021"/>
                </a:solidFill>
                <a:latin typeface="Segoe UI"/>
              </a:defRPr>
            </a:pPr>
            <a:r>
              <a:t>GIAI ĐOẠN 4</a:t>
            </a:r>
          </a:p>
        </p:txBody>
      </p:sp>
      <p:sp>
        <p:nvSpPr>
          <p:cNvPr id="29" name="TextBox 28"/>
          <p:cNvSpPr txBox="1"/>
          <p:nvPr/>
        </p:nvSpPr>
        <p:spPr>
          <a:xfrm>
            <a:off x="1005840" y="4608576"/>
            <a:ext cx="2011680" cy="502920"/>
          </a:xfrm>
          <a:prstGeom prst="rect">
            <a:avLst/>
          </a:prstGeom>
          <a:noFill/>
        </p:spPr>
        <p:txBody>
          <a:bodyPr wrap="none">
            <a:spAutoFit/>
          </a:bodyPr>
          <a:lstStyle/>
          <a:p>
            <a:pPr>
              <a:defRPr sz="1100" b="1">
                <a:solidFill>
                  <a:srgbClr val="0A2540"/>
                </a:solidFill>
                <a:latin typeface="Segoe UI"/>
              </a:defRPr>
            </a:pPr>
            <a:r>
              <a:t>NGHIỆM THU NGƯỜI DÙNG (UAT)</a:t>
            </a:r>
          </a:p>
        </p:txBody>
      </p:sp>
      <p:sp>
        <p:nvSpPr>
          <p:cNvPr id="30" name="TextBox 29"/>
          <p:cNvSpPr txBox="1"/>
          <p:nvPr/>
        </p:nvSpPr>
        <p:spPr>
          <a:xfrm>
            <a:off x="3108960" y="4361688"/>
            <a:ext cx="8229600" cy="749808"/>
          </a:xfrm>
          <a:prstGeom prst="rect">
            <a:avLst/>
          </a:prstGeom>
          <a:noFill/>
        </p:spPr>
        <p:txBody>
          <a:bodyPr wrap="square">
            <a:spAutoFit/>
          </a:bodyPr>
          <a:lstStyle/>
          <a:p>
            <a:pPr>
              <a:spcAft>
                <a:spcPts val="200"/>
              </a:spcAft>
              <a:defRPr sz="950">
                <a:solidFill>
                  <a:srgbClr val="1E293B"/>
                </a:solidFill>
                <a:latin typeface="Segoe UI"/>
              </a:defRPr>
            </a:pPr>
            <a:r>
              <a:t>• PM đưa phần mềm lên môi trường UAT để khách hàng trực tiếp kiểm thử. Nếu có lỗi kỹ thuật, Dev sửa lỗi ngay.</a:t>
            </a:r>
          </a:p>
          <a:p>
            <a:pPr>
              <a:spcAft>
                <a:spcPts val="200"/>
              </a:spcAft>
              <a:defRPr sz="950">
                <a:solidFill>
                  <a:srgbClr val="1E293B"/>
                </a:solidFill>
                <a:latin typeface="Segoe UI"/>
              </a:defRPr>
            </a:pPr>
            <a:r>
              <a:t>• Nếu phát sinh yêu cầu mới ngoài phạm vi hợp đồng, PM kích hoạt quy trình quản lý thay đổi (CR) và báo giá bổ sung. Khách hàng ký duyệt khi đạt yêu cầu.</a:t>
            </a:r>
          </a:p>
        </p:txBody>
      </p:sp>
      <p:sp>
        <p:nvSpPr>
          <p:cNvPr id="31" name="Rounded Rectangle 30"/>
          <p:cNvSpPr/>
          <p:nvPr/>
        </p:nvSpPr>
        <p:spPr>
          <a:xfrm>
            <a:off x="731520" y="5276088"/>
            <a:ext cx="10728655" cy="896112"/>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ounded Rectangle 31"/>
          <p:cNvSpPr/>
          <p:nvPr/>
        </p:nvSpPr>
        <p:spPr>
          <a:xfrm>
            <a:off x="731520" y="5276088"/>
            <a:ext cx="109728" cy="896112"/>
          </a:xfrm>
          <a:prstGeom prst="roundRect">
            <a:avLst/>
          </a:prstGeom>
          <a:solidFill>
            <a:srgbClr val="0DB1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1005840" y="5367528"/>
            <a:ext cx="1645920" cy="274320"/>
          </a:xfrm>
          <a:prstGeom prst="rect">
            <a:avLst/>
          </a:prstGeom>
          <a:noFill/>
        </p:spPr>
        <p:txBody>
          <a:bodyPr wrap="none">
            <a:spAutoFit/>
          </a:bodyPr>
          <a:lstStyle/>
          <a:p>
            <a:pPr>
              <a:defRPr sz="1000" b="1">
                <a:solidFill>
                  <a:srgbClr val="0DB14B"/>
                </a:solidFill>
                <a:latin typeface="Segoe UI"/>
              </a:defRPr>
            </a:pPr>
            <a:r>
              <a:rPr dirty="0"/>
              <a:t>GIAI ĐOẠN 5</a:t>
            </a:r>
          </a:p>
        </p:txBody>
      </p:sp>
      <p:sp>
        <p:nvSpPr>
          <p:cNvPr id="34" name="TextBox 33"/>
          <p:cNvSpPr txBox="1"/>
          <p:nvPr/>
        </p:nvSpPr>
        <p:spPr>
          <a:xfrm>
            <a:off x="1005840" y="5596128"/>
            <a:ext cx="2011680" cy="502920"/>
          </a:xfrm>
          <a:prstGeom prst="rect">
            <a:avLst/>
          </a:prstGeom>
          <a:noFill/>
        </p:spPr>
        <p:txBody>
          <a:bodyPr wrap="none">
            <a:spAutoFit/>
          </a:bodyPr>
          <a:lstStyle/>
          <a:p>
            <a:pPr>
              <a:defRPr sz="1100" b="1">
                <a:solidFill>
                  <a:srgbClr val="0A2540"/>
                </a:solidFill>
                <a:latin typeface="Segoe UI"/>
              </a:defRPr>
            </a:pPr>
            <a:r>
              <a:t>BÀN GIAO &amp; ĐÓNG DỰ ÁN</a:t>
            </a:r>
          </a:p>
        </p:txBody>
      </p:sp>
      <p:sp>
        <p:nvSpPr>
          <p:cNvPr id="35" name="TextBox 34"/>
          <p:cNvSpPr txBox="1"/>
          <p:nvPr/>
        </p:nvSpPr>
        <p:spPr>
          <a:xfrm>
            <a:off x="3108960" y="5349240"/>
            <a:ext cx="8229600" cy="749808"/>
          </a:xfrm>
          <a:prstGeom prst="rect">
            <a:avLst/>
          </a:prstGeom>
          <a:noFill/>
        </p:spPr>
        <p:txBody>
          <a:bodyPr wrap="square">
            <a:spAutoFit/>
          </a:bodyPr>
          <a:lstStyle/>
          <a:p>
            <a:pPr>
              <a:spcAft>
                <a:spcPts val="200"/>
              </a:spcAft>
              <a:defRPr sz="950">
                <a:solidFill>
                  <a:srgbClr val="1E293B"/>
                </a:solidFill>
                <a:latin typeface="Segoe UI"/>
              </a:defRPr>
            </a:pPr>
            <a:r>
              <a:t>• Triển khai hệ thống lên môi trường chính thức (Production). Bàn giao toàn bộ mã nguồn, tài liệu hướng dẫn vận hành cho khách hàng.</a:t>
            </a:r>
          </a:p>
          <a:p>
            <a:pPr>
              <a:spcAft>
                <a:spcPts val="200"/>
              </a:spcAft>
              <a:defRPr sz="950">
                <a:solidFill>
                  <a:srgbClr val="1E293B"/>
                </a:solidFill>
                <a:latin typeface="Segoe UI"/>
              </a:defRPr>
            </a:pPr>
            <a:r>
              <a:t>• Khách hàng ký biên bản nghiệm thu cuối cùng và thực hiện thanh toán; dự án được đóng chính thức trên hệ thống quản lý sau khi xác nhận tài chính.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1012</TotalTime>
  <Words>2875</Words>
  <Application>Microsoft Office PowerPoint</Application>
  <PresentationFormat>Widescreen</PresentationFormat>
  <Paragraphs>275</Paragraphs>
  <Slides>11</Slides>
  <Notes>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11</vt:i4>
      </vt:variant>
    </vt:vector>
  </HeadingPairs>
  <TitlesOfParts>
    <vt:vector size="16" baseType="lpstr">
      <vt:lpstr>Arial</vt:lpstr>
      <vt:lpstr>Calibri</vt:lpstr>
      <vt:lpstr>Segoe UI</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
  <cp:keywords/>
  <dc:description>generated using python-pptx</dc:description>
  <cp:lastModifiedBy>Hoa Nguyen</cp:lastModifiedBy>
  <cp:revision>8</cp:revision>
  <dcterms:created xsi:type="dcterms:W3CDTF">2013-01-27T09:14:16Z</dcterms:created>
  <dcterms:modified xsi:type="dcterms:W3CDTF">2026-09-05T06:11:18Z</dcterms:modified>
  <cp:category/>
</cp:coreProperties>
</file>