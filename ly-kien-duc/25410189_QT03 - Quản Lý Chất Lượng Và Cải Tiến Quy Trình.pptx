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84" r:id="rId6"/>
    <p:sldId id="282" r:id="rId7"/>
    <p:sldId id="283" r:id="rId8"/>
    <p:sldId id="281" r:id="rId9"/>
    <p:sldId id="262" r:id="rId10"/>
    <p:sldId id="286" r:id="rId11"/>
    <p:sldId id="287" r:id="rId12"/>
    <p:sldId id="288" r:id="rId13"/>
    <p:sldId id="263" r:id="rId14"/>
    <p:sldId id="290" r:id="rId15"/>
    <p:sldId id="291" r:id="rId16"/>
    <p:sldId id="292" r:id="rId17"/>
    <p:sldId id="293" r:id="rId18"/>
    <p:sldId id="296" r:id="rId19"/>
    <p:sldId id="297" r:id="rId20"/>
    <p:sldId id="298" r:id="rId21"/>
    <p:sldId id="299" r:id="rId22"/>
    <p:sldId id="294" r:id="rId23"/>
    <p:sldId id="300" r:id="rId24"/>
    <p:sldId id="301" r:id="rId25"/>
    <p:sldId id="302" r:id="rId26"/>
    <p:sldId id="303" r:id="rId27"/>
    <p:sldId id="304" r:id="rId28"/>
    <p:sldId id="295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280" r:id="rId37"/>
  </p:sldIdLst>
  <p:sldSz cx="18288000" cy="10287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Kodchasan" panose="020B0604020202020204" charset="-34"/>
      <p:regular r:id="rId39"/>
    </p:embeddedFont>
    <p:embeddedFont>
      <p:font typeface="Patriot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033" autoAdjust="0"/>
  </p:normalViewPr>
  <p:slideViewPr>
    <p:cSldViewPr>
      <p:cViewPr varScale="1">
        <p:scale>
          <a:sx n="49" d="100"/>
          <a:sy n="49" d="100"/>
        </p:scale>
        <p:origin x="970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374258" y="4504420"/>
            <a:ext cx="8769742" cy="2391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238"/>
              </a:lnSpc>
            </a:pPr>
            <a:r>
              <a:rPr lang="en-US" sz="10000" b="1" dirty="0">
                <a:gradFill>
                  <a:gsLst>
                    <a:gs pos="0">
                      <a:srgbClr val="FFA55A">
                        <a:alpha val="100000"/>
                      </a:srgbClr>
                    </a:gs>
                    <a:gs pos="100000">
                      <a:srgbClr val="FA651B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atriot" panose="020B0604020202020204" charset="0"/>
                <a:ea typeface="Danh Da Bold"/>
                <a:cs typeface="Danh Da Bold"/>
                <a:sym typeface="Danh Da Bold"/>
              </a:rPr>
              <a:t>CẢI TIẾN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0920" y="7048500"/>
            <a:ext cx="7416555" cy="154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2"/>
              </a:lnSpc>
            </a:pPr>
            <a:r>
              <a:rPr lang="en-US" sz="10000" b="1" dirty="0">
                <a:solidFill>
                  <a:srgbClr val="004AAD"/>
                </a:solidFill>
                <a:latin typeface="Patriot" panose="020B0604020202020204" charset="0"/>
                <a:ea typeface="Patriot Bold"/>
                <a:cs typeface="Patriot Bold"/>
                <a:sym typeface="Patriot Bold"/>
              </a:rPr>
              <a:t>QUY TRÌNH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0920" y="2051158"/>
            <a:ext cx="7416555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2"/>
              </a:lnSpc>
            </a:pPr>
            <a:r>
              <a:rPr lang="en-US" sz="10000" dirty="0">
                <a:solidFill>
                  <a:srgbClr val="004AAD"/>
                </a:solidFill>
                <a:latin typeface="Patriot"/>
                <a:ea typeface="Patriot"/>
                <a:cs typeface="Patriot"/>
                <a:sym typeface="Patriot"/>
              </a:rPr>
              <a:t>Quản </a:t>
            </a:r>
            <a:r>
              <a:rPr lang="en-US" sz="10000" dirty="0" err="1">
                <a:solidFill>
                  <a:srgbClr val="004AAD"/>
                </a:solidFill>
                <a:latin typeface="Patriot"/>
                <a:ea typeface="Patriot"/>
                <a:cs typeface="Patriot"/>
                <a:sym typeface="Patriot"/>
              </a:rPr>
              <a:t>lý</a:t>
            </a:r>
            <a:endParaRPr lang="en-US" sz="10000" dirty="0">
              <a:solidFill>
                <a:srgbClr val="004AAD"/>
              </a:solidFill>
              <a:latin typeface="Patriot"/>
              <a:ea typeface="Patriot"/>
              <a:cs typeface="Patriot"/>
              <a:sym typeface="Patrio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60920" y="3630265"/>
            <a:ext cx="7416555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2"/>
              </a:lnSpc>
            </a:pPr>
            <a:r>
              <a:rPr lang="en-US" sz="10000" dirty="0" err="1">
                <a:solidFill>
                  <a:srgbClr val="004AAD"/>
                </a:solidFill>
                <a:latin typeface="Patriot"/>
                <a:ea typeface="Patriot"/>
                <a:cs typeface="Patriot"/>
                <a:sym typeface="Patriot"/>
              </a:rPr>
              <a:t>Chất</a:t>
            </a:r>
            <a:r>
              <a:rPr lang="en-US" sz="10000" dirty="0">
                <a:solidFill>
                  <a:srgbClr val="004AAD"/>
                </a:solidFill>
                <a:latin typeface="Patriot"/>
                <a:ea typeface="Patriot"/>
                <a:cs typeface="Patriot"/>
                <a:sym typeface="Patriot"/>
              </a:rPr>
              <a:t> </a:t>
            </a:r>
            <a:r>
              <a:rPr lang="en-US" sz="10000" dirty="0" err="1">
                <a:solidFill>
                  <a:srgbClr val="004AAD"/>
                </a:solidFill>
                <a:latin typeface="Patriot"/>
                <a:ea typeface="Patriot"/>
                <a:cs typeface="Patriot"/>
                <a:sym typeface="Patriot"/>
              </a:rPr>
              <a:t>lượng</a:t>
            </a:r>
            <a:endParaRPr lang="en-US" sz="10000" dirty="0">
              <a:solidFill>
                <a:srgbClr val="004AAD"/>
              </a:solidFill>
              <a:latin typeface="Patriot"/>
              <a:ea typeface="Patriot"/>
              <a:cs typeface="Patriot"/>
              <a:sym typeface="Patrio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C36C60-FD88-79C0-C396-0159AC01E916}"/>
              </a:ext>
            </a:extLst>
          </p:cNvPr>
          <p:cNvGrpSpPr/>
          <p:nvPr/>
        </p:nvGrpSpPr>
        <p:grpSpPr>
          <a:xfrm>
            <a:off x="5152460" y="856143"/>
            <a:ext cx="3658972" cy="605538"/>
            <a:chOff x="1979828" y="833873"/>
            <a:chExt cx="3658972" cy="605538"/>
          </a:xfrm>
        </p:grpSpPr>
        <p:grpSp>
          <p:nvGrpSpPr>
            <p:cNvPr id="4" name="Group 4"/>
            <p:cNvGrpSpPr/>
            <p:nvPr/>
          </p:nvGrpSpPr>
          <p:grpSpPr>
            <a:xfrm>
              <a:off x="1979828" y="833873"/>
              <a:ext cx="3658972" cy="605538"/>
              <a:chOff x="0" y="0"/>
              <a:chExt cx="1953452" cy="20469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53452" cy="204697"/>
              </a:xfrm>
              <a:custGeom>
                <a:avLst/>
                <a:gdLst/>
                <a:ahLst/>
                <a:cxnLst/>
                <a:rect l="l" t="t" r="r" b="b"/>
                <a:pathLst>
                  <a:path w="1953452" h="204697">
                    <a:moveTo>
                      <a:pt x="102348" y="0"/>
                    </a:moveTo>
                    <a:lnTo>
                      <a:pt x="1851103" y="0"/>
                    </a:lnTo>
                    <a:cubicBezTo>
                      <a:pt x="1907629" y="0"/>
                      <a:pt x="1953452" y="45823"/>
                      <a:pt x="1953452" y="102348"/>
                    </a:cubicBezTo>
                    <a:lnTo>
                      <a:pt x="1953452" y="102348"/>
                    </a:lnTo>
                    <a:cubicBezTo>
                      <a:pt x="1953452" y="129493"/>
                      <a:pt x="1942669" y="155526"/>
                      <a:pt x="1923475" y="174720"/>
                    </a:cubicBezTo>
                    <a:cubicBezTo>
                      <a:pt x="1904281" y="193914"/>
                      <a:pt x="1878248" y="204697"/>
                      <a:pt x="1851103" y="204697"/>
                    </a:cubicBezTo>
                    <a:lnTo>
                      <a:pt x="102348" y="204697"/>
                    </a:lnTo>
                    <a:cubicBezTo>
                      <a:pt x="75204" y="204697"/>
                      <a:pt x="49171" y="193914"/>
                      <a:pt x="29977" y="174720"/>
                    </a:cubicBezTo>
                    <a:cubicBezTo>
                      <a:pt x="10783" y="155526"/>
                      <a:pt x="0" y="129493"/>
                      <a:pt x="0" y="102348"/>
                    </a:cubicBezTo>
                    <a:lnTo>
                      <a:pt x="0" y="102348"/>
                    </a:lnTo>
                    <a:cubicBezTo>
                      <a:pt x="0" y="75204"/>
                      <a:pt x="10783" y="49171"/>
                      <a:pt x="29977" y="29977"/>
                    </a:cubicBezTo>
                    <a:cubicBezTo>
                      <a:pt x="49171" y="10783"/>
                      <a:pt x="75204" y="0"/>
                      <a:pt x="102348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 w="19050" cap="rnd">
                <a:solidFill>
                  <a:srgbClr val="004AA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953452" cy="2427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071899" y="915446"/>
              <a:ext cx="3474830" cy="4001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600" b="1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Montserrat Semi-Bold"/>
                  <a:cs typeface="Times New Roman" panose="02020603050405020304" pitchFamily="18" charset="0"/>
                  <a:sym typeface="Montserrat Semi-Bold"/>
                </a:rPr>
                <a:t>Nhóm</a:t>
              </a:r>
              <a:r>
                <a:rPr lang="en-US" sz="26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Montserrat Semi-Bold"/>
                  <a:cs typeface="Times New Roman" panose="02020603050405020304" pitchFamily="18" charset="0"/>
                  <a:sym typeface="Montserrat Semi-Bold"/>
                </a:rPr>
                <a:t> 08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9F60AB-B1D7-325B-D99D-D26670635167}"/>
              </a:ext>
            </a:extLst>
          </p:cNvPr>
          <p:cNvGrpSpPr/>
          <p:nvPr/>
        </p:nvGrpSpPr>
        <p:grpSpPr>
          <a:xfrm>
            <a:off x="1160920" y="856143"/>
            <a:ext cx="3658972" cy="605538"/>
            <a:chOff x="1979828" y="833873"/>
            <a:chExt cx="3658972" cy="605538"/>
          </a:xfrm>
        </p:grpSpPr>
        <p:grpSp>
          <p:nvGrpSpPr>
            <p:cNvPr id="21" name="Group 4">
              <a:extLst>
                <a:ext uri="{FF2B5EF4-FFF2-40B4-BE49-F238E27FC236}">
                  <a16:creationId xmlns:a16="http://schemas.microsoft.com/office/drawing/2014/main" id="{B59E5F1B-A646-121B-20C9-D56844E0D8E3}"/>
                </a:ext>
              </a:extLst>
            </p:cNvPr>
            <p:cNvGrpSpPr/>
            <p:nvPr/>
          </p:nvGrpSpPr>
          <p:grpSpPr>
            <a:xfrm>
              <a:off x="1979828" y="833873"/>
              <a:ext cx="3658972" cy="605538"/>
              <a:chOff x="0" y="0"/>
              <a:chExt cx="1953452" cy="204697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09FFAF9-ABAD-576C-0374-ABDF9AEADD1F}"/>
                  </a:ext>
                </a:extLst>
              </p:cNvPr>
              <p:cNvSpPr/>
              <p:nvPr/>
            </p:nvSpPr>
            <p:spPr>
              <a:xfrm>
                <a:off x="0" y="0"/>
                <a:ext cx="1953452" cy="204697"/>
              </a:xfrm>
              <a:custGeom>
                <a:avLst/>
                <a:gdLst/>
                <a:ahLst/>
                <a:cxnLst/>
                <a:rect l="l" t="t" r="r" b="b"/>
                <a:pathLst>
                  <a:path w="1953452" h="204697">
                    <a:moveTo>
                      <a:pt x="102348" y="0"/>
                    </a:moveTo>
                    <a:lnTo>
                      <a:pt x="1851103" y="0"/>
                    </a:lnTo>
                    <a:cubicBezTo>
                      <a:pt x="1907629" y="0"/>
                      <a:pt x="1953452" y="45823"/>
                      <a:pt x="1953452" y="102348"/>
                    </a:cubicBezTo>
                    <a:lnTo>
                      <a:pt x="1953452" y="102348"/>
                    </a:lnTo>
                    <a:cubicBezTo>
                      <a:pt x="1953452" y="129493"/>
                      <a:pt x="1942669" y="155526"/>
                      <a:pt x="1923475" y="174720"/>
                    </a:cubicBezTo>
                    <a:cubicBezTo>
                      <a:pt x="1904281" y="193914"/>
                      <a:pt x="1878248" y="204697"/>
                      <a:pt x="1851103" y="204697"/>
                    </a:cubicBezTo>
                    <a:lnTo>
                      <a:pt x="102348" y="204697"/>
                    </a:lnTo>
                    <a:cubicBezTo>
                      <a:pt x="75204" y="204697"/>
                      <a:pt x="49171" y="193914"/>
                      <a:pt x="29977" y="174720"/>
                    </a:cubicBezTo>
                    <a:cubicBezTo>
                      <a:pt x="10783" y="155526"/>
                      <a:pt x="0" y="129493"/>
                      <a:pt x="0" y="102348"/>
                    </a:cubicBezTo>
                    <a:lnTo>
                      <a:pt x="0" y="102348"/>
                    </a:lnTo>
                    <a:cubicBezTo>
                      <a:pt x="0" y="75204"/>
                      <a:pt x="10783" y="49171"/>
                      <a:pt x="29977" y="29977"/>
                    </a:cubicBezTo>
                    <a:cubicBezTo>
                      <a:pt x="49171" y="10783"/>
                      <a:pt x="75204" y="0"/>
                      <a:pt x="1023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19050" cap="rnd">
                <a:solidFill>
                  <a:srgbClr val="004AA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 dirty="0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B7B97FB0-7903-FD4D-D661-7817368F49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53452" cy="2427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46797516-8920-D421-F649-074212CAEAF7}"/>
                </a:ext>
              </a:extLst>
            </p:cNvPr>
            <p:cNvSpPr txBox="1"/>
            <p:nvPr/>
          </p:nvSpPr>
          <p:spPr>
            <a:xfrm>
              <a:off x="2087139" y="1054651"/>
              <a:ext cx="3474830" cy="2609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1905"/>
                </a:lnSpc>
              </a:pPr>
              <a:r>
                <a:rPr lang="en-US" sz="2600" b="1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Montserrat Semi-Bold"/>
                  <a:cs typeface="Times New Roman" panose="02020603050405020304" pitchFamily="18" charset="0"/>
                  <a:sym typeface="Montserrat Semi-Bold"/>
                </a:rPr>
                <a:t>ThS</a:t>
              </a:r>
              <a:r>
                <a:rPr lang="en-US" sz="26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Montserrat Semi-Bold"/>
                  <a:cs typeface="Times New Roman" panose="02020603050405020304" pitchFamily="18" charset="0"/>
                  <a:sym typeface="Montserrat Semi-Bold"/>
                </a:rPr>
                <a:t>. Hà Lê Hoài Trung</a:t>
              </a:r>
            </a:p>
          </p:txBody>
        </p:sp>
      </p:grpSp>
      <p:sp>
        <p:nvSpPr>
          <p:cNvPr id="26" name="Freeform 13">
            <a:extLst>
              <a:ext uri="{FF2B5EF4-FFF2-40B4-BE49-F238E27FC236}">
                <a16:creationId xmlns:a16="http://schemas.microsoft.com/office/drawing/2014/main" id="{0C5E44D0-13EC-7ED6-AD37-884F7594A325}"/>
              </a:ext>
            </a:extLst>
          </p:cNvPr>
          <p:cNvSpPr/>
          <p:nvPr/>
        </p:nvSpPr>
        <p:spPr>
          <a:xfrm>
            <a:off x="9787382" y="1862148"/>
            <a:ext cx="8328024" cy="6611045"/>
          </a:xfrm>
          <a:custGeom>
            <a:avLst/>
            <a:gdLst/>
            <a:ahLst/>
            <a:cxnLst/>
            <a:rect l="l" t="t" r="r" b="b"/>
            <a:pathLst>
              <a:path w="8328024" h="6611045">
                <a:moveTo>
                  <a:pt x="0" y="0"/>
                </a:moveTo>
                <a:lnTo>
                  <a:pt x="8328024" y="0"/>
                </a:lnTo>
                <a:lnTo>
                  <a:pt x="8328024" y="6611045"/>
                </a:lnTo>
                <a:lnTo>
                  <a:pt x="0" y="6611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6FBFF33-1EA2-4639-E401-3911F92B3022}"/>
              </a:ext>
            </a:extLst>
          </p:cNvPr>
          <p:cNvGrpSpPr/>
          <p:nvPr/>
        </p:nvGrpSpPr>
        <p:grpSpPr>
          <a:xfrm>
            <a:off x="2850173" y="3817519"/>
            <a:ext cx="7104396" cy="618357"/>
            <a:chOff x="2850173" y="3817519"/>
            <a:chExt cx="7104396" cy="618357"/>
          </a:xfrm>
        </p:grpSpPr>
        <p:grpSp>
          <p:nvGrpSpPr>
            <p:cNvPr id="4" name="Group 4"/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01</a:t>
                </a: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25410212 · Nguyễn Xuân Hiếu ·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Nhóm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trưởng</a:t>
              </a:r>
              <a:endPara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50173" y="4930561"/>
            <a:ext cx="618357" cy="618357"/>
            <a:chOff x="0" y="0"/>
            <a:chExt cx="635000" cy="63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77708" y="5067930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24210006 · Nguyễn Thị Ngọc Ánh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850173" y="6043603"/>
            <a:ext cx="618357" cy="618357"/>
            <a:chOff x="0" y="0"/>
            <a:chExt cx="635000" cy="63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03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77708" y="6195077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24410360 · </a:t>
            </a:r>
            <a:r>
              <a:rPr lang="en-US" sz="2000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Trần</a:t>
            </a: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Quỳnh </a:t>
            </a:r>
            <a:r>
              <a:rPr lang="en-US" sz="2000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Tiền</a:t>
            </a:r>
            <a:endParaRPr lang="en-US" sz="2000" u="none" strike="noStrike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850173" y="7156645"/>
            <a:ext cx="618357" cy="618357"/>
            <a:chOff x="0" y="0"/>
            <a:chExt cx="635000" cy="63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04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771001" y="7308119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25410207 · Nguyễn Thị </a:t>
            </a:r>
            <a:r>
              <a:rPr lang="en-US" sz="2000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Hiền</a:t>
            </a:r>
            <a:endParaRPr lang="en-US" sz="2000" u="none" strike="noStrike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765138" y="3817519"/>
            <a:ext cx="618357" cy="618357"/>
            <a:chOff x="0" y="0"/>
            <a:chExt cx="635000" cy="63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05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692670" y="3968992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25410189 · Lý Kiến Đức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765138" y="4930561"/>
            <a:ext cx="618357" cy="618357"/>
            <a:chOff x="0" y="0"/>
            <a:chExt cx="635000" cy="63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06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692671" y="5082035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25410216 · Nguyễn Thái </a:t>
            </a:r>
            <a:r>
              <a:rPr lang="en-US" sz="2000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Hòa</a:t>
            </a:r>
            <a:endParaRPr lang="en-US" sz="2000" u="none" strike="noStrike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765138" y="6043603"/>
            <a:ext cx="618357" cy="618357"/>
            <a:chOff x="0" y="0"/>
            <a:chExt cx="635000" cy="635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07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692669" y="6195077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25410188 · Võ Hữu Đạt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765138" y="7156645"/>
            <a:ext cx="618357" cy="618357"/>
            <a:chOff x="0" y="0"/>
            <a:chExt cx="635000" cy="635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63500" y="0"/>
                  </a:moveTo>
                  <a:lnTo>
                    <a:pt x="571500" y="0"/>
                  </a:lnTo>
                  <a:cubicBezTo>
                    <a:pt x="606570" y="0"/>
                    <a:pt x="635000" y="28430"/>
                    <a:pt x="635000" y="63500"/>
                  </a:cubicBezTo>
                  <a:lnTo>
                    <a:pt x="635000" y="571500"/>
                  </a:lnTo>
                  <a:cubicBezTo>
                    <a:pt x="635000" y="606570"/>
                    <a:pt x="606570" y="635000"/>
                    <a:pt x="571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B82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635000" cy="65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08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692669" y="7308119"/>
            <a:ext cx="6183567" cy="31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25410205 · Bạch </a:t>
            </a:r>
            <a:r>
              <a:rPr lang="en-US" sz="2000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Thế</a:t>
            </a:r>
            <a:r>
              <a: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Hiển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78726" y="881912"/>
            <a:ext cx="4730548" cy="16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23"/>
              </a:lnSpc>
            </a:pPr>
            <a:r>
              <a:rPr lang="en-US" sz="5000" b="1" dirty="0">
                <a:solidFill>
                  <a:srgbClr val="004AAD"/>
                </a:solidFill>
                <a:latin typeface="Times New Roman" panose="02020603050405020304" pitchFamily="18" charset="0"/>
                <a:ea typeface="Danh Da Bold"/>
                <a:cs typeface="Times New Roman" panose="02020603050405020304" pitchFamily="18" charset="0"/>
                <a:sym typeface="Danh Da Bold"/>
              </a:rPr>
              <a:t>THÀNH VIÊN NHÓM 08</a:t>
            </a:r>
          </a:p>
        </p:txBody>
      </p:sp>
      <p:sp>
        <p:nvSpPr>
          <p:cNvPr id="37" name="AutoShape 37"/>
          <p:cNvSpPr/>
          <p:nvPr/>
        </p:nvSpPr>
        <p:spPr>
          <a:xfrm>
            <a:off x="7924793" y="2857500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E2C9D64C-E876-2380-8F92-DD03076BF962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/>
          <p:cNvSpPr/>
          <p:nvPr/>
        </p:nvSpPr>
        <p:spPr>
          <a:xfrm>
            <a:off x="5937953" y="2247900"/>
            <a:ext cx="6412092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7867877" y="58127"/>
            <a:ext cx="2552245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08198" y="1257300"/>
            <a:ext cx="12271604" cy="81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MÔ TẢ QUY TRÌNH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AAF534-111E-478B-30B4-25314EFEC3DC}"/>
              </a:ext>
            </a:extLst>
          </p:cNvPr>
          <p:cNvGrpSpPr/>
          <p:nvPr/>
        </p:nvGrpSpPr>
        <p:grpSpPr>
          <a:xfrm>
            <a:off x="1219200" y="2552700"/>
            <a:ext cx="7104396" cy="618357"/>
            <a:chOff x="2850173" y="3817519"/>
            <a:chExt cx="7104396" cy="618357"/>
          </a:xfrm>
        </p:grpSpPr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C26D102E-940F-F46F-CEAA-831546DB3061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FBB045F7-7EF5-7A7D-AFB6-488550D9BB70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3" name="TextBox 6">
                <a:extLst>
                  <a:ext uri="{FF2B5EF4-FFF2-40B4-BE49-F238E27FC236}">
                    <a16:creationId xmlns:a16="http://schemas.microsoft.com/office/drawing/2014/main" id="{3D17FB7D-0F92-0188-8BB6-D618DF767B2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01</a:t>
                </a:r>
              </a:p>
            </p:txBody>
          </p:sp>
        </p:grp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7441AB50-C4B0-3BF8-9AD7-AA3175FCD856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Actors: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SEPG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PM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SQA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Project Team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FQC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BOD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Client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F2405-855E-ECC5-7EC2-E19B046E546E}"/>
              </a:ext>
            </a:extLst>
          </p:cNvPr>
          <p:cNvGrpSpPr/>
          <p:nvPr/>
        </p:nvGrpSpPr>
        <p:grpSpPr>
          <a:xfrm>
            <a:off x="1219200" y="4202086"/>
            <a:ext cx="7084187" cy="2879116"/>
            <a:chOff x="2850173" y="3817519"/>
            <a:chExt cx="7084187" cy="2879116"/>
          </a:xfrm>
        </p:grpSpPr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FA06786E-552D-42EF-2A88-FC0F066CFF40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9CBB55AC-2FBE-B4B9-3A15-2FD35CC769A2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C1B6633D-589E-CCBE-0806-B9CE24EC608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03</a:t>
                </a:r>
              </a:p>
            </p:txBody>
          </p:sp>
        </p:grp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E58BAF83-C4F9-803C-ED11-DDADD413B4CB}"/>
                </a:ext>
              </a:extLst>
            </p:cNvPr>
            <p:cNvSpPr txBox="1"/>
            <p:nvPr/>
          </p:nvSpPr>
          <p:spPr>
            <a:xfrm>
              <a:off x="3750793" y="3926646"/>
              <a:ext cx="6183567" cy="2769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spcBef>
                  <a:spcPts val="400"/>
                </a:spcBef>
                <a:spcAft>
                  <a:spcPts val="400"/>
                </a:spcAft>
              </a:pP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Giá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trị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cho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KH: 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  <a:p>
              <a:pPr marL="342900" lvl="0" indent="-342900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Đảm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bảo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chất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sản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phẩm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tốt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nhất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Cam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đúng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tối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ưu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chi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phí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Tính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minh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bạch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phù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hợp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cao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Quy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hiệu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chỉnh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chuẩn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hóa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Mục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tiêu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lường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định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rõ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rang.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hóa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giảm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tải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công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sức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,…</a:t>
              </a:r>
              <a:endPara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3B82CD-81BF-6134-2214-EFC0D6FDDD60}"/>
              </a:ext>
            </a:extLst>
          </p:cNvPr>
          <p:cNvGrpSpPr/>
          <p:nvPr/>
        </p:nvGrpSpPr>
        <p:grpSpPr>
          <a:xfrm>
            <a:off x="1219200" y="3366200"/>
            <a:ext cx="7104396" cy="629668"/>
            <a:chOff x="2850173" y="3806208"/>
            <a:chExt cx="7104396" cy="629668"/>
          </a:xfrm>
        </p:grpSpPr>
        <p:grpSp>
          <p:nvGrpSpPr>
            <p:cNvPr id="20" name="Group 4">
              <a:extLst>
                <a:ext uri="{FF2B5EF4-FFF2-40B4-BE49-F238E27FC236}">
                  <a16:creationId xmlns:a16="http://schemas.microsoft.com/office/drawing/2014/main" id="{760FE60E-6E36-7FFC-3FDB-52BEF613E441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E1434B18-1134-E8C2-F146-B2A62068B7B9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3" name="TextBox 6">
                <a:extLst>
                  <a:ext uri="{FF2B5EF4-FFF2-40B4-BE49-F238E27FC236}">
                    <a16:creationId xmlns:a16="http://schemas.microsoft.com/office/drawing/2014/main" id="{59E849D0-EB09-465F-AA3C-26F69C4ED36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02</a:t>
                </a:r>
                <a:endParaRPr lang="en-US" sz="20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endParaRPr>
              </a:p>
            </p:txBody>
          </p:sp>
        </p:grp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4C5CE5D4-0CA9-457F-A6B0-05DA01199512}"/>
                </a:ext>
              </a:extLst>
            </p:cNvPr>
            <p:cNvSpPr txBox="1"/>
            <p:nvPr/>
          </p:nvSpPr>
          <p:spPr>
            <a:xfrm>
              <a:off x="3771002" y="3806208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Khách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Hàng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: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Nội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bộ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PM &amp; Project Team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) &amp;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Bên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ngoài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</a:t>
              </a:r>
              <a:r>
                <a:rPr lang="en-US" sz="2000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Client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D8106D-1A8F-EA2B-0BC6-638A024F6247}"/>
              </a:ext>
            </a:extLst>
          </p:cNvPr>
          <p:cNvGrpSpPr/>
          <p:nvPr/>
        </p:nvGrpSpPr>
        <p:grpSpPr>
          <a:xfrm>
            <a:off x="9143999" y="2554907"/>
            <a:ext cx="7084187" cy="2673932"/>
            <a:chOff x="2850173" y="3817519"/>
            <a:chExt cx="7084187" cy="2673932"/>
          </a:xfrm>
        </p:grpSpPr>
        <p:grpSp>
          <p:nvGrpSpPr>
            <p:cNvPr id="25" name="Group 4">
              <a:extLst>
                <a:ext uri="{FF2B5EF4-FFF2-40B4-BE49-F238E27FC236}">
                  <a16:creationId xmlns:a16="http://schemas.microsoft.com/office/drawing/2014/main" id="{00FB8121-BAA3-505D-397F-2E2A2EAB8FDB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C60A26CB-3523-1D70-9E29-544149CDC363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8" name="TextBox 6">
                <a:extLst>
                  <a:ext uri="{FF2B5EF4-FFF2-40B4-BE49-F238E27FC236}">
                    <a16:creationId xmlns:a16="http://schemas.microsoft.com/office/drawing/2014/main" id="{70EA8E5D-8116-D1A5-6A0B-CF85A2F4ACA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04</a:t>
                </a:r>
              </a:p>
            </p:txBody>
          </p:sp>
        </p:grp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A68E29D3-D385-540E-790F-2A04A2EF3371}"/>
                </a:ext>
              </a:extLst>
            </p:cNvPr>
            <p:cNvSpPr txBox="1"/>
            <p:nvPr/>
          </p:nvSpPr>
          <p:spPr>
            <a:xfrm>
              <a:off x="3750793" y="3926646"/>
              <a:ext cx="6183567" cy="2564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spcBef>
                  <a:spcPts val="400"/>
                </a:spcBef>
                <a:spcAft>
                  <a:spcPts val="400"/>
                </a:spcAft>
              </a:pP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Kết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quả</a:t>
              </a:r>
              <a:r>
                <a:rPr lang="en-US" sz="2000" b="1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(Outcomes): 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  <a:p>
              <a:pPr marL="342900" lvl="0" indent="-342900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Bàn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giao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dự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án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thành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công</a:t>
              </a:r>
              <a:r>
                <a: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(End Event 1).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Quy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bị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hủy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/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hoãn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/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quá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hạn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bởi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FQC (End Event 2)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Yêu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cầu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phê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duyệt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bị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hủy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bỏ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do Timeout QPPOs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tại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PM (End Event 3)</a:t>
              </a:r>
            </a:p>
            <a:p>
              <a:pPr marL="342900" lvl="0" indent="-342900" algn="l">
                <a:spcBef>
                  <a:spcPts val="400"/>
                </a:spcBef>
                <a:spcAft>
                  <a:spcPts val="400"/>
                </a:spcAft>
                <a:buFontTx/>
                <a:buChar char="-"/>
              </a:pP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Dừng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dự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án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khẩn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cấp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do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vượt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ngưỡng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kiểm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soát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thống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kê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(End Event 4)</a:t>
              </a:r>
              <a:endParaRPr lang="en-US" sz="2000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sp>
        <p:nvSpPr>
          <p:cNvPr id="31" name="TextBox 22">
            <a:extLst>
              <a:ext uri="{FF2B5EF4-FFF2-40B4-BE49-F238E27FC236}">
                <a16:creationId xmlns:a16="http://schemas.microsoft.com/office/drawing/2014/main" id="{F9618E81-E644-9B1B-FC82-D65930002F1F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DD95A6-4FE8-060F-E369-5EB06BA18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43" y="7271044"/>
            <a:ext cx="16240311" cy="276998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/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71800" y="519461"/>
            <a:ext cx="877348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MÔ HÌNH HÓA QUY TRÌNH (BPMN)</a:t>
            </a:r>
          </a:p>
        </p:txBody>
      </p:sp>
      <p:sp>
        <p:nvSpPr>
          <p:cNvPr id="6" name="AutoShape 6"/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70EF17-0B8A-3BBF-3517-5411CEBB030B}"/>
              </a:ext>
            </a:extLst>
          </p:cNvPr>
          <p:cNvGrpSpPr/>
          <p:nvPr/>
        </p:nvGrpSpPr>
        <p:grpSpPr>
          <a:xfrm>
            <a:off x="11745283" y="2171700"/>
            <a:ext cx="7104396" cy="618357"/>
            <a:chOff x="2850173" y="3817519"/>
            <a:chExt cx="7104396" cy="618357"/>
          </a:xfrm>
        </p:grpSpPr>
        <p:grpSp>
          <p:nvGrpSpPr>
            <p:cNvPr id="13" name="Group 4">
              <a:extLst>
                <a:ext uri="{FF2B5EF4-FFF2-40B4-BE49-F238E27FC236}">
                  <a16:creationId xmlns:a16="http://schemas.microsoft.com/office/drawing/2014/main" id="{066A36FD-71F7-1E0B-B9E8-CC5A33161EE5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13C341FC-23C2-6023-ABCB-8ED24D248D75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" name="TextBox 6">
                <a:extLst>
                  <a:ext uri="{FF2B5EF4-FFF2-40B4-BE49-F238E27FC236}">
                    <a16:creationId xmlns:a16="http://schemas.microsoft.com/office/drawing/2014/main" id="{43E187E0-8421-4D53-853D-CE49663690C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01</a:t>
                </a:r>
              </a:p>
            </p:txBody>
          </p:sp>
        </p:grp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783091CC-5A3A-B9E3-4F50-C01CB4171815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Số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Tasks: </a:t>
              </a:r>
              <a:r>
                <a:rPr lang="en-US" sz="2000" b="1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25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4BA15D-59D2-D9A6-26EB-D38C662309F7}"/>
              </a:ext>
            </a:extLst>
          </p:cNvPr>
          <p:cNvGrpSpPr/>
          <p:nvPr/>
        </p:nvGrpSpPr>
        <p:grpSpPr>
          <a:xfrm>
            <a:off x="11745283" y="2986563"/>
            <a:ext cx="7104396" cy="618357"/>
            <a:chOff x="2850173" y="3817519"/>
            <a:chExt cx="7104396" cy="618357"/>
          </a:xfrm>
        </p:grpSpPr>
        <p:grpSp>
          <p:nvGrpSpPr>
            <p:cNvPr id="18" name="Group 4">
              <a:extLst>
                <a:ext uri="{FF2B5EF4-FFF2-40B4-BE49-F238E27FC236}">
                  <a16:creationId xmlns:a16="http://schemas.microsoft.com/office/drawing/2014/main" id="{C25CD39E-BE66-F089-2D17-D63A8B2BA7E3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2217FE53-2938-D2C3-0F3D-C202FFFDB1FF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1" name="TextBox 6">
                <a:extLst>
                  <a:ext uri="{FF2B5EF4-FFF2-40B4-BE49-F238E27FC236}">
                    <a16:creationId xmlns:a16="http://schemas.microsoft.com/office/drawing/2014/main" id="{33350A2C-0C6C-E0DC-4B81-75BEEB9D1E7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02</a:t>
                </a:r>
              </a:p>
            </p:txBody>
          </p:sp>
        </p:grp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3C6710A0-4E90-D718-EDC7-5B24E66A2000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Số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Gateways: </a:t>
              </a:r>
              <a:r>
                <a:rPr lang="en-US" sz="2000" b="1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12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1D5AC9-9480-BA54-398E-6051F89650D2}"/>
              </a:ext>
            </a:extLst>
          </p:cNvPr>
          <p:cNvGrpSpPr/>
          <p:nvPr/>
        </p:nvGrpSpPr>
        <p:grpSpPr>
          <a:xfrm>
            <a:off x="11745283" y="3762177"/>
            <a:ext cx="7104396" cy="618357"/>
            <a:chOff x="2850173" y="3817519"/>
            <a:chExt cx="7104396" cy="618357"/>
          </a:xfrm>
        </p:grpSpPr>
        <p:grpSp>
          <p:nvGrpSpPr>
            <p:cNvPr id="23" name="Group 4">
              <a:extLst>
                <a:ext uri="{FF2B5EF4-FFF2-40B4-BE49-F238E27FC236}">
                  <a16:creationId xmlns:a16="http://schemas.microsoft.com/office/drawing/2014/main" id="{C7043FCA-1BE1-8229-7DAB-E1D7F6CF3C2B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E8AEAE49-90C8-FAD7-B44E-2467194B8C69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840DA7E2-A217-35A8-7647-6B7F988C82E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03</a:t>
                </a:r>
              </a:p>
            </p:txBody>
          </p:sp>
        </p:grp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19CB5267-CAB1-6D73-24FE-8BB1D9C5B9EB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Split &amp; Join: </a:t>
              </a:r>
              <a:r>
                <a:rPr lang="en-US" sz="2000" b="1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12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A3FA17-330B-0D34-ABF9-A79C56349DF5}"/>
              </a:ext>
            </a:extLst>
          </p:cNvPr>
          <p:cNvGrpSpPr/>
          <p:nvPr/>
        </p:nvGrpSpPr>
        <p:grpSpPr>
          <a:xfrm>
            <a:off x="11745283" y="4557340"/>
            <a:ext cx="7104396" cy="618357"/>
            <a:chOff x="2850173" y="3817519"/>
            <a:chExt cx="7104396" cy="618357"/>
          </a:xfrm>
        </p:grpSpPr>
        <p:grpSp>
          <p:nvGrpSpPr>
            <p:cNvPr id="28" name="Group 4">
              <a:extLst>
                <a:ext uri="{FF2B5EF4-FFF2-40B4-BE49-F238E27FC236}">
                  <a16:creationId xmlns:a16="http://schemas.microsoft.com/office/drawing/2014/main" id="{1C8FD43F-43A6-1110-4C12-AD5E447F6AC4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1E3A1C83-2BF1-40A0-02A2-EC64FCFFF2F7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31" name="TextBox 6">
                <a:extLst>
                  <a:ext uri="{FF2B5EF4-FFF2-40B4-BE49-F238E27FC236}">
                    <a16:creationId xmlns:a16="http://schemas.microsoft.com/office/drawing/2014/main" id="{026696B1-510A-68DA-83DA-B9EBDDACBCE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04</a:t>
                </a:r>
              </a:p>
            </p:txBody>
          </p:sp>
        </p:grp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B55E9F91-C02A-FAAB-F5E5-B17C532BAD00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Vòng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lặp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: 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4 </a:t>
              </a:r>
              <a:r>
                <a:rPr lang="en-US" sz="20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vòng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lặp</a:t>
              </a:r>
              <a:endParaRPr lang="en-US" sz="2000" b="1" u="none" strike="noStrik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07BCFE-61C8-CCF1-DFD1-CB008661F2B4}"/>
              </a:ext>
            </a:extLst>
          </p:cNvPr>
          <p:cNvGrpSpPr/>
          <p:nvPr/>
        </p:nvGrpSpPr>
        <p:grpSpPr>
          <a:xfrm>
            <a:off x="11745283" y="5333952"/>
            <a:ext cx="7104396" cy="618357"/>
            <a:chOff x="2850173" y="3817519"/>
            <a:chExt cx="7104396" cy="618357"/>
          </a:xfrm>
        </p:grpSpPr>
        <p:grpSp>
          <p:nvGrpSpPr>
            <p:cNvPr id="33" name="Group 4">
              <a:extLst>
                <a:ext uri="{FF2B5EF4-FFF2-40B4-BE49-F238E27FC236}">
                  <a16:creationId xmlns:a16="http://schemas.microsoft.com/office/drawing/2014/main" id="{95947613-3908-5368-51E1-14AFE9B4C0FE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35" name="Freeform 5">
                <a:extLst>
                  <a:ext uri="{FF2B5EF4-FFF2-40B4-BE49-F238E27FC236}">
                    <a16:creationId xmlns:a16="http://schemas.microsoft.com/office/drawing/2014/main" id="{E685AAD7-6FE5-0AC1-D8C5-EDE27DBC5E10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36" name="TextBox 6">
                <a:extLst>
                  <a:ext uri="{FF2B5EF4-FFF2-40B4-BE49-F238E27FC236}">
                    <a16:creationId xmlns:a16="http://schemas.microsoft.com/office/drawing/2014/main" id="{C80A924D-0019-3246-877E-D3054A22D8C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05</a:t>
                </a:r>
              </a:p>
            </p:txBody>
          </p:sp>
        </p:grpSp>
        <p:sp>
          <p:nvSpPr>
            <p:cNvPr id="34" name="TextBox 7">
              <a:extLst>
                <a:ext uri="{FF2B5EF4-FFF2-40B4-BE49-F238E27FC236}">
                  <a16:creationId xmlns:a16="http://schemas.microsoft.com/office/drawing/2014/main" id="{25887AEB-B037-0DF9-AD49-5F895C286C84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Mức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độ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phức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tạp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: 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Cao</a:t>
              </a:r>
              <a:endParaRPr lang="en-US" sz="2000" b="1" u="none" strike="noStrik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sp>
        <p:nvSpPr>
          <p:cNvPr id="38" name="TextBox 7">
            <a:extLst>
              <a:ext uri="{FF2B5EF4-FFF2-40B4-BE49-F238E27FC236}">
                <a16:creationId xmlns:a16="http://schemas.microsoft.com/office/drawing/2014/main" id="{A1939F1D-35A0-9730-7672-F5C485017AEE}"/>
              </a:ext>
            </a:extLst>
          </p:cNvPr>
          <p:cNvSpPr txBox="1"/>
          <p:nvPr/>
        </p:nvSpPr>
        <p:spPr>
          <a:xfrm>
            <a:off x="1304216" y="9767539"/>
            <a:ext cx="882156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2.1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BPMN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Quản Lý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Tiến Quy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0C2FDA2A-C7CF-A4A9-FA6D-DA430E64A184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DD9D44-27D9-EAAC-75A0-25FBD2F491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09700"/>
            <a:ext cx="10668000" cy="8266562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AA5D-CBAF-5F2C-FE8B-4A96F831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AF7F6B-BB75-DD2F-98D6-AD4294D67329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92182D0-8139-DE43-4C34-7C00314FD45B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0FB4F24-1C0E-0D15-83B7-6169204C0178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1FD503C-2739-0151-3D34-DC3341E5BDB8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EAE907E-2BB3-005A-5206-21921401AC7F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75416D-D149-72E6-F3B6-8CF2C9C3755A}"/>
              </a:ext>
            </a:extLst>
          </p:cNvPr>
          <p:cNvGrpSpPr/>
          <p:nvPr/>
        </p:nvGrpSpPr>
        <p:grpSpPr>
          <a:xfrm>
            <a:off x="2971800" y="1437519"/>
            <a:ext cx="7104396" cy="618357"/>
            <a:chOff x="2850173" y="3817519"/>
            <a:chExt cx="7104396" cy="618357"/>
          </a:xfrm>
        </p:grpSpPr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BA58C46C-64E2-31A3-B96F-E6A9E894D00B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FD3FAB5E-57ED-F8BC-6188-F74F8B1C8FBC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FEEF3EC5-A335-2AB5-096A-1C0F14F8BAB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I</a:t>
                </a:r>
              </a:p>
            </p:txBody>
          </p:sp>
        </p:grp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73A67F46-5110-D6AB-F2ED-E06CBE47B674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Sơ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đồ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tổ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chức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– </a:t>
              </a:r>
              <a:r>
                <a:rPr lang="en-US" sz="20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Khối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1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386E386-7F4D-D649-446B-8D985B3AC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11" y="2055876"/>
            <a:ext cx="10500778" cy="7898816"/>
          </a:xfrm>
          <a:prstGeom prst="rect">
            <a:avLst/>
          </a:prstGeom>
        </p:spPr>
      </p:pic>
      <p:sp>
        <p:nvSpPr>
          <p:cNvPr id="6" name="TextBox 22">
            <a:extLst>
              <a:ext uri="{FF2B5EF4-FFF2-40B4-BE49-F238E27FC236}">
                <a16:creationId xmlns:a16="http://schemas.microsoft.com/office/drawing/2014/main" id="{34C8EAD4-B93B-EE44-5A2C-7F266A9710DF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6182E-27D1-B8A6-9791-1EE0C5C306F0}"/>
              </a:ext>
            </a:extLst>
          </p:cNvPr>
          <p:cNvSpPr txBox="1"/>
          <p:nvPr/>
        </p:nvSpPr>
        <p:spPr>
          <a:xfrm>
            <a:off x="5943600" y="9892690"/>
            <a:ext cx="61722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3.1 -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Doanh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(FPT Software)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</p:spTree>
    <p:extLst>
      <p:ext uri="{BB962C8B-B14F-4D97-AF65-F5344CB8AC3E}">
        <p14:creationId xmlns:p14="http://schemas.microsoft.com/office/powerpoint/2010/main" val="1894605666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B344-F2B5-FE3B-1BF5-1D0F5A07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EC14E1-1DB0-5E82-8EFA-F0A9A16703EE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ED919E-731C-4772-9305-4E86FE58A965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7A6DE3A-23E6-803F-DA42-467A3F8225B0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93B509D7-D7C5-509B-9A38-79E5CC9A7922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023E8E8C-F6D9-932F-FF9C-911D216C1884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91BFCC-672F-E2E4-4583-706078B7C87E}"/>
              </a:ext>
            </a:extLst>
          </p:cNvPr>
          <p:cNvGrpSpPr/>
          <p:nvPr/>
        </p:nvGrpSpPr>
        <p:grpSpPr>
          <a:xfrm>
            <a:off x="2971800" y="1437519"/>
            <a:ext cx="7104396" cy="618357"/>
            <a:chOff x="2850173" y="3817519"/>
            <a:chExt cx="7104396" cy="618357"/>
          </a:xfrm>
        </p:grpSpPr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A0ECA2C9-5FC0-9F03-FD87-C77469C46F7E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02F6F79B-34E9-334B-92E7-0B0767593D16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3F1F13E1-B1FE-0DA8-73B9-0982CFB9CAA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II</a:t>
                </a:r>
              </a:p>
            </p:txBody>
          </p:sp>
        </p:grp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E91AE59A-70CA-782C-37F0-4FF27977D41C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Sơ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đồ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tổ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chức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– </a:t>
              </a:r>
              <a:r>
                <a:rPr lang="en-US" sz="2000" b="1" u="none" strike="noStrike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Khối</a:t>
              </a:r>
              <a:r>
                <a:rPr lang="en-US" sz="2000" b="1" u="none" strike="noStrike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2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2A1EC9-D193-D8AC-8620-F5FC4DDC5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045" y="2358379"/>
            <a:ext cx="11412267" cy="7198507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D1FBB8B8-06EA-AC3B-C37A-050754B574CB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06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75A9885-9AC8-FC11-56BF-AFEC7FF98C26}"/>
              </a:ext>
            </a:extLst>
          </p:cNvPr>
          <p:cNvSpPr txBox="1"/>
          <p:nvPr/>
        </p:nvSpPr>
        <p:spPr>
          <a:xfrm>
            <a:off x="6283769" y="9585837"/>
            <a:ext cx="705998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3.2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(External Customer)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</p:spTree>
    <p:extLst>
      <p:ext uri="{BB962C8B-B14F-4D97-AF65-F5344CB8AC3E}">
        <p14:creationId xmlns:p14="http://schemas.microsoft.com/office/powerpoint/2010/main" val="4003583124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4331-DAD3-0D3C-5722-1AA82CC4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BF63BE-F5E5-4265-2F4F-5CD31AFA2425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9E2BD3-2C40-4E5A-702C-68588D7F750C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9B1460-C6B4-BD12-E86D-24A1574EE632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850D77C-3AC1-BA86-F031-4DB629F3D652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85E152A-5779-5B8E-9310-6F7B9A9BAE49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CB08-DF57-7217-174E-A32928894FDD}"/>
              </a:ext>
            </a:extLst>
          </p:cNvPr>
          <p:cNvGrpSpPr/>
          <p:nvPr/>
        </p:nvGrpSpPr>
        <p:grpSpPr>
          <a:xfrm>
            <a:off x="2971800" y="1437519"/>
            <a:ext cx="7104396" cy="618357"/>
            <a:chOff x="2850173" y="3817519"/>
            <a:chExt cx="7104396" cy="618357"/>
          </a:xfrm>
        </p:grpSpPr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8724900E-F482-826B-D29E-98A3AABB1FAA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D1C994AC-A57B-A713-978A-EDE75EB54281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9DACD5B0-FEBB-501F-1E85-675AC8CEBA7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III</a:t>
                </a:r>
              </a:p>
            </p:txBody>
          </p:sp>
        </p:grp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8BF93B9C-5833-7083-0C0F-AF988B9BF042}"/>
                </a:ext>
              </a:extLst>
            </p:cNvPr>
            <p:cNvSpPr txBox="1"/>
            <p:nvPr/>
          </p:nvSpPr>
          <p:spPr>
            <a:xfrm>
              <a:off x="3771002" y="3972808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Thuật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ngữ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sổ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u="none" strike="noStrike" dirty="0" err="1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tay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:</a:t>
              </a:r>
              <a:endParaRPr lang="en-US" sz="2000" b="1" u="none" strike="noStrike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2BBC05C-53F3-45CD-1814-885AE006BBA0}"/>
              </a:ext>
            </a:extLst>
          </p:cNvPr>
          <p:cNvGrpSpPr/>
          <p:nvPr/>
        </p:nvGrpSpPr>
        <p:grpSpPr>
          <a:xfrm>
            <a:off x="3892629" y="2318147"/>
            <a:ext cx="7104395" cy="640721"/>
            <a:chOff x="2850173" y="3795155"/>
            <a:chExt cx="7104395" cy="640721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4FE220A3-A217-2DFE-708D-5407159D40C2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C0994653-AF94-7AEC-B089-8C9D360917E1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A3D6BEA3-2998-AA2A-296A-4161617AC37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01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53D837-2F8B-CCE9-B0ED-7B3C58535C7B}"/>
                </a:ext>
              </a:extLst>
            </p:cNvPr>
            <p:cNvSpPr txBox="1"/>
            <p:nvPr/>
          </p:nvSpPr>
          <p:spPr>
            <a:xfrm>
              <a:off x="3771001" y="3795155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Process Tailoring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Việc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hiệu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chỉnh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quy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phát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triển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khung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của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FSoft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9396F8-D1AC-344B-7D06-B748007C2EE6}"/>
              </a:ext>
            </a:extLst>
          </p:cNvPr>
          <p:cNvGrpSpPr/>
          <p:nvPr/>
        </p:nvGrpSpPr>
        <p:grpSpPr>
          <a:xfrm>
            <a:off x="3892629" y="3308747"/>
            <a:ext cx="7104395" cy="634486"/>
            <a:chOff x="2850173" y="3801390"/>
            <a:chExt cx="7104395" cy="634486"/>
          </a:xfrm>
        </p:grpSpPr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F099D21B-AD86-C8A8-D82D-2D20F2BDBBB9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1" name="Freeform 5">
                <a:extLst>
                  <a:ext uri="{FF2B5EF4-FFF2-40B4-BE49-F238E27FC236}">
                    <a16:creationId xmlns:a16="http://schemas.microsoft.com/office/drawing/2014/main" id="{B52608DA-C137-9955-F644-23D8D024C518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8323FD47-B818-BAAC-D0F6-B018B68D214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02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1F8F62-16BD-3DDD-F5B9-F21A325D76BE}"/>
                </a:ext>
              </a:extLst>
            </p:cNvPr>
            <p:cNvSpPr txBox="1"/>
            <p:nvPr/>
          </p:nvSpPr>
          <p:spPr>
            <a:xfrm>
              <a:off x="3771001" y="3801390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QA Plan (Quality Assurance Plan)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Bản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kế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hoạch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chi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tiết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các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hoạt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động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đảm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bảo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CL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7D381F-AE00-919F-C722-8851685247B6}"/>
              </a:ext>
            </a:extLst>
          </p:cNvPr>
          <p:cNvGrpSpPr/>
          <p:nvPr/>
        </p:nvGrpSpPr>
        <p:grpSpPr>
          <a:xfrm>
            <a:off x="3892629" y="4372743"/>
            <a:ext cx="7104395" cy="624310"/>
            <a:chOff x="2850173" y="3817519"/>
            <a:chExt cx="7104395" cy="624310"/>
          </a:xfrm>
        </p:grpSpPr>
        <p:grpSp>
          <p:nvGrpSpPr>
            <p:cNvPr id="24" name="Group 4">
              <a:extLst>
                <a:ext uri="{FF2B5EF4-FFF2-40B4-BE49-F238E27FC236}">
                  <a16:creationId xmlns:a16="http://schemas.microsoft.com/office/drawing/2014/main" id="{1155A3BE-645D-C282-1078-B40C06729076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A27501BE-CBBE-E098-7A61-CE6698DF6656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7" name="TextBox 6">
                <a:extLst>
                  <a:ext uri="{FF2B5EF4-FFF2-40B4-BE49-F238E27FC236}">
                    <a16:creationId xmlns:a16="http://schemas.microsoft.com/office/drawing/2014/main" id="{6FC88B43-D8D1-B019-1614-8DF4B14ADB8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03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0EAD5A-FFCA-A851-3D20-912E05CF9062}"/>
                </a:ext>
              </a:extLst>
            </p:cNvPr>
            <p:cNvSpPr txBox="1"/>
            <p:nvPr/>
          </p:nvSpPr>
          <p:spPr>
            <a:xfrm>
              <a:off x="3771001" y="3826276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QPPOs (Quantitative Process Performance Objectives)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Các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chỉ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số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mục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tiêu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chất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định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280AA8-BAE2-33FD-B372-5CE1936E5015}"/>
              </a:ext>
            </a:extLst>
          </p:cNvPr>
          <p:cNvGrpSpPr/>
          <p:nvPr/>
        </p:nvGrpSpPr>
        <p:grpSpPr>
          <a:xfrm>
            <a:off x="3892629" y="5438714"/>
            <a:ext cx="7104396" cy="626231"/>
            <a:chOff x="2850173" y="3809645"/>
            <a:chExt cx="7104396" cy="626231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BF6AEAF2-D679-7A22-B65A-A7B4D8C95017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202FC6B9-6D1C-34FD-B507-426EE0ACC344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464919D5-D425-5216-8A07-A0F7FA0D9D3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04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40FDBC-8456-C37F-26C1-ECB634F441E8}"/>
                </a:ext>
              </a:extLst>
            </p:cNvPr>
            <p:cNvSpPr txBox="1"/>
            <p:nvPr/>
          </p:nvSpPr>
          <p:spPr>
            <a:xfrm>
              <a:off x="3771002" y="3809645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FQC (FPT Quality Control) 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Ban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kiểm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soát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chất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lượng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FPT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C9A972-34B9-A5BF-D0CC-5871D1D6BF80}"/>
              </a:ext>
            </a:extLst>
          </p:cNvPr>
          <p:cNvGrpSpPr/>
          <p:nvPr/>
        </p:nvGrpSpPr>
        <p:grpSpPr>
          <a:xfrm>
            <a:off x="3892629" y="6492484"/>
            <a:ext cx="7104394" cy="619907"/>
            <a:chOff x="2850173" y="3817519"/>
            <a:chExt cx="7104394" cy="619907"/>
          </a:xfrm>
        </p:grpSpPr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A093C469-4E86-2E80-14F3-AB59CC85B48D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1C5B9F5D-9A76-45BD-2AA6-E49D16A83E90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37" name="TextBox 6">
                <a:extLst>
                  <a:ext uri="{FF2B5EF4-FFF2-40B4-BE49-F238E27FC236}">
                    <a16:creationId xmlns:a16="http://schemas.microsoft.com/office/drawing/2014/main" id="{15C39FB8-6896-012C-A803-454A6A57122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05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3959E4-CE23-C4C2-A8C7-BEBA8F1E97C7}"/>
                </a:ext>
              </a:extLst>
            </p:cNvPr>
            <p:cNvSpPr txBox="1"/>
            <p:nvPr/>
          </p:nvSpPr>
          <p:spPr>
            <a:xfrm>
              <a:off x="3771000" y="3821873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SEPG (Software Engineering Process Group)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Nhóm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chuyên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trách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quy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quản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trị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bộ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CMMI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72FD93-AB37-EC1B-5006-E5FA1878E362}"/>
              </a:ext>
            </a:extLst>
          </p:cNvPr>
          <p:cNvGrpSpPr/>
          <p:nvPr/>
        </p:nvGrpSpPr>
        <p:grpSpPr>
          <a:xfrm>
            <a:off x="3892629" y="7522198"/>
            <a:ext cx="7104394" cy="640132"/>
            <a:chOff x="2850173" y="3795744"/>
            <a:chExt cx="7104394" cy="640132"/>
          </a:xfrm>
        </p:grpSpPr>
        <p:grpSp>
          <p:nvGrpSpPr>
            <p:cNvPr id="39" name="Group 4">
              <a:extLst>
                <a:ext uri="{FF2B5EF4-FFF2-40B4-BE49-F238E27FC236}">
                  <a16:creationId xmlns:a16="http://schemas.microsoft.com/office/drawing/2014/main" id="{4DD15978-2A90-3EDC-C08B-84EFABEE029B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AA30FF98-AB25-1099-38BC-5A6104D6F1B8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D09488EA-1231-56A8-3A7D-AB2BE6D043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06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599CF8-B9D6-51F8-1363-FE597F9793E7}"/>
                </a:ext>
              </a:extLst>
            </p:cNvPr>
            <p:cNvSpPr txBox="1"/>
            <p:nvPr/>
          </p:nvSpPr>
          <p:spPr>
            <a:xfrm>
              <a:off x="3771000" y="3795744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PAL (Process Asset 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Library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Thư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viện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tài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sản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quy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–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biểu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mẫu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CMMI…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99E4DC-D6EF-5AA5-E70B-057BD17B1159}"/>
              </a:ext>
            </a:extLst>
          </p:cNvPr>
          <p:cNvGrpSpPr/>
          <p:nvPr/>
        </p:nvGrpSpPr>
        <p:grpSpPr>
          <a:xfrm>
            <a:off x="10618361" y="2318147"/>
            <a:ext cx="7104395" cy="643385"/>
            <a:chOff x="2850173" y="3792491"/>
            <a:chExt cx="7104395" cy="643385"/>
          </a:xfrm>
        </p:grpSpPr>
        <p:grpSp>
          <p:nvGrpSpPr>
            <p:cNvPr id="44" name="Group 4">
              <a:extLst>
                <a:ext uri="{FF2B5EF4-FFF2-40B4-BE49-F238E27FC236}">
                  <a16:creationId xmlns:a16="http://schemas.microsoft.com/office/drawing/2014/main" id="{3E3732DD-AC6B-E570-67E2-376ACCC7674F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FBBE6192-8124-D696-CF82-9900A3FCAE34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47" name="TextBox 6">
                <a:extLst>
                  <a:ext uri="{FF2B5EF4-FFF2-40B4-BE49-F238E27FC236}">
                    <a16:creationId xmlns:a16="http://schemas.microsoft.com/office/drawing/2014/main" id="{38E47693-639B-6701-784E-BBCDB051A69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07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155A81B-3212-AE2B-F554-571B858003A4}"/>
                </a:ext>
              </a:extLst>
            </p:cNvPr>
            <p:cNvSpPr txBox="1"/>
            <p:nvPr/>
          </p:nvSpPr>
          <p:spPr>
            <a:xfrm>
              <a:off x="3771001" y="3792491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FPT QMS (Quality Management System)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Hệ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thống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phần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mềm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QLCL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nội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bộ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,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lưu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dữ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liệu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…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687F562-BE2D-60FC-58BB-8C5DE8666FAB}"/>
              </a:ext>
            </a:extLst>
          </p:cNvPr>
          <p:cNvGrpSpPr/>
          <p:nvPr/>
        </p:nvGrpSpPr>
        <p:grpSpPr>
          <a:xfrm>
            <a:off x="10618361" y="3305597"/>
            <a:ext cx="7103146" cy="626231"/>
            <a:chOff x="2850173" y="3809645"/>
            <a:chExt cx="7103146" cy="626231"/>
          </a:xfrm>
        </p:grpSpPr>
        <p:grpSp>
          <p:nvGrpSpPr>
            <p:cNvPr id="49" name="Group 4">
              <a:extLst>
                <a:ext uri="{FF2B5EF4-FFF2-40B4-BE49-F238E27FC236}">
                  <a16:creationId xmlns:a16="http://schemas.microsoft.com/office/drawing/2014/main" id="{26664738-8230-E055-579F-1792FA93E051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51" name="Freeform 5">
                <a:extLst>
                  <a:ext uri="{FF2B5EF4-FFF2-40B4-BE49-F238E27FC236}">
                    <a16:creationId xmlns:a16="http://schemas.microsoft.com/office/drawing/2014/main" id="{79B0EC49-EE44-AAF5-C4EB-75C6CA149690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2" name="TextBox 6">
                <a:extLst>
                  <a:ext uri="{FF2B5EF4-FFF2-40B4-BE49-F238E27FC236}">
                    <a16:creationId xmlns:a16="http://schemas.microsoft.com/office/drawing/2014/main" id="{BB641664-B24D-8CA8-EA1D-C43EBDCF182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08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F30AF21-7EA7-E46F-B670-5F801E5610A8}"/>
                </a:ext>
              </a:extLst>
            </p:cNvPr>
            <p:cNvSpPr txBox="1"/>
            <p:nvPr/>
          </p:nvSpPr>
          <p:spPr>
            <a:xfrm>
              <a:off x="3769752" y="3809645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NC 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(Non-Conformance)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Điểm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không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tuân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thủ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QT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hoặc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sự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cố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nghiêm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u="none" strike="noStrike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trọng</a:t>
              </a:r>
              <a:r>
                <a:rPr lang="en-US" sz="2000" b="1" i="1" u="none" strike="noStrike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…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52C3A0F-0B10-B343-6C59-CF307864D9E4}"/>
              </a:ext>
            </a:extLst>
          </p:cNvPr>
          <p:cNvGrpSpPr/>
          <p:nvPr/>
        </p:nvGrpSpPr>
        <p:grpSpPr>
          <a:xfrm>
            <a:off x="10618361" y="4372743"/>
            <a:ext cx="7103146" cy="627114"/>
            <a:chOff x="2850173" y="3808762"/>
            <a:chExt cx="7103146" cy="627114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7F34E273-0B95-70FD-4E40-859B54BA34C0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D104E56F-85BB-D04D-4745-D49F644E6B6B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57" name="TextBox 6">
                <a:extLst>
                  <a:ext uri="{FF2B5EF4-FFF2-40B4-BE49-F238E27FC236}">
                    <a16:creationId xmlns:a16="http://schemas.microsoft.com/office/drawing/2014/main" id="{D9270E69-3C64-6500-7CDE-9B092337826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09</a:t>
                </a: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C88124-3625-0A4B-5E43-A2FE1589830A}"/>
                </a:ext>
              </a:extLst>
            </p:cNvPr>
            <p:cNvSpPr txBox="1"/>
            <p:nvPr/>
          </p:nvSpPr>
          <p:spPr>
            <a:xfrm>
              <a:off x="3769752" y="3808762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RCA 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(Root Cause Analysis)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Báo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cáo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phân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tích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nguyên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nhân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gốc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rễ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(5-Whys)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1B5A7C-445A-9CA1-1791-EB50BF56D20C}"/>
              </a:ext>
            </a:extLst>
          </p:cNvPr>
          <p:cNvGrpSpPr/>
          <p:nvPr/>
        </p:nvGrpSpPr>
        <p:grpSpPr>
          <a:xfrm>
            <a:off x="10618361" y="5438713"/>
            <a:ext cx="7085657" cy="626232"/>
            <a:chOff x="2850173" y="3809644"/>
            <a:chExt cx="7085657" cy="626232"/>
          </a:xfrm>
        </p:grpSpPr>
        <p:grpSp>
          <p:nvGrpSpPr>
            <p:cNvPr id="59" name="Group 4">
              <a:extLst>
                <a:ext uri="{FF2B5EF4-FFF2-40B4-BE49-F238E27FC236}">
                  <a16:creationId xmlns:a16="http://schemas.microsoft.com/office/drawing/2014/main" id="{B5863989-A80E-438C-1001-3CCBCB1F7462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F4388CA-5DBC-57FF-1463-38622F4A6292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 dirty="0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9F49E834-937C-E953-70E0-F2113114721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10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3C2B7F-B490-F5B6-5385-48D7BC9C7640}"/>
                </a:ext>
              </a:extLst>
            </p:cNvPr>
            <p:cNvSpPr txBox="1"/>
            <p:nvPr/>
          </p:nvSpPr>
          <p:spPr>
            <a:xfrm>
              <a:off x="3752263" y="3809644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CAPA 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(Corrective and Preventive Action)</a:t>
              </a:r>
              <a:endPara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Hành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động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ngăn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chặn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&amp;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khắc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phục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lỗi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khi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UAT</a:t>
              </a:r>
              <a:endParaRPr lang="en-US" sz="2000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CA4ABAC-544C-5EE7-32A9-383D82D92DFD}"/>
              </a:ext>
            </a:extLst>
          </p:cNvPr>
          <p:cNvGrpSpPr/>
          <p:nvPr/>
        </p:nvGrpSpPr>
        <p:grpSpPr>
          <a:xfrm>
            <a:off x="10618361" y="6485464"/>
            <a:ext cx="7103146" cy="622573"/>
            <a:chOff x="2850173" y="3817519"/>
            <a:chExt cx="7103146" cy="622573"/>
          </a:xfrm>
        </p:grpSpPr>
        <p:grpSp>
          <p:nvGrpSpPr>
            <p:cNvPr id="64" name="Group 4">
              <a:extLst>
                <a:ext uri="{FF2B5EF4-FFF2-40B4-BE49-F238E27FC236}">
                  <a16:creationId xmlns:a16="http://schemas.microsoft.com/office/drawing/2014/main" id="{BAA4F136-C44B-5AAD-3B63-5484A91F07FD}"/>
                </a:ext>
              </a:extLst>
            </p:cNvPr>
            <p:cNvGrpSpPr/>
            <p:nvPr/>
          </p:nvGrpSpPr>
          <p:grpSpPr>
            <a:xfrm>
              <a:off x="2850173" y="3817519"/>
              <a:ext cx="618357" cy="618357"/>
              <a:chOff x="0" y="0"/>
              <a:chExt cx="635000" cy="635000"/>
            </a:xfrm>
          </p:grpSpPr>
          <p:sp>
            <p:nvSpPr>
              <p:cNvPr id="66" name="Freeform 5">
                <a:extLst>
                  <a:ext uri="{FF2B5EF4-FFF2-40B4-BE49-F238E27FC236}">
                    <a16:creationId xmlns:a16="http://schemas.microsoft.com/office/drawing/2014/main" id="{23C317C0-78A1-AF54-6551-9FCE72A3D432}"/>
                  </a:ext>
                </a:extLst>
              </p:cNvPr>
              <p:cNvSpPr/>
              <p:nvPr/>
            </p:nvSpPr>
            <p:spPr>
              <a:xfrm>
                <a:off x="0" y="0"/>
                <a:ext cx="635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635000">
                    <a:moveTo>
                      <a:pt x="63500" y="0"/>
                    </a:moveTo>
                    <a:lnTo>
                      <a:pt x="571500" y="0"/>
                    </a:lnTo>
                    <a:cubicBezTo>
                      <a:pt x="606570" y="0"/>
                      <a:pt x="635000" y="28430"/>
                      <a:pt x="635000" y="63500"/>
                    </a:cubicBezTo>
                    <a:lnTo>
                      <a:pt x="635000" y="571500"/>
                    </a:lnTo>
                    <a:cubicBezTo>
                      <a:pt x="635000" y="606570"/>
                      <a:pt x="606570" y="635000"/>
                      <a:pt x="571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67" name="TextBox 6">
                <a:extLst>
                  <a:ext uri="{FF2B5EF4-FFF2-40B4-BE49-F238E27FC236}">
                    <a16:creationId xmlns:a16="http://schemas.microsoft.com/office/drawing/2014/main" id="{9E768B74-88C7-44A0-575C-023007E3077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5000" cy="6540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2000" u="none" strike="noStrike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Patriot"/>
                    <a:cs typeface="Times New Roman" panose="02020603050405020304" pitchFamily="18" charset="0"/>
                    <a:sym typeface="Patriot"/>
                  </a:rPr>
                  <a:t>11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5A236BA-0059-2B18-34AE-4A636FEC03C0}"/>
                </a:ext>
              </a:extLst>
            </p:cNvPr>
            <p:cNvSpPr txBox="1"/>
            <p:nvPr/>
          </p:nvSpPr>
          <p:spPr>
            <a:xfrm>
              <a:off x="3769752" y="3824539"/>
              <a:ext cx="618356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SV </a:t>
              </a:r>
              <a:r>
                <a:rPr lang="en-US" sz="2000" u="none" strike="noStrike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(Schedule Variance)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Chỉ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số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sai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lệch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lịch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trình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– SQA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sẽ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đánh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 </a:t>
              </a:r>
              <a:r>
                <a:rPr lang="en-US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giá</a:t>
              </a:r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rPr>
                <a:t>…</a:t>
              </a:r>
              <a:endParaRPr lang="en-US" sz="2000" b="1" i="1" u="none" strike="noStrike" dirty="0">
                <a:solidFill>
                  <a:srgbClr val="FF0000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endParaRPr>
            </a:p>
          </p:txBody>
        </p:sp>
      </p:grpSp>
      <p:sp>
        <p:nvSpPr>
          <p:cNvPr id="68" name="TextBox 22">
            <a:extLst>
              <a:ext uri="{FF2B5EF4-FFF2-40B4-BE49-F238E27FC236}">
                <a16:creationId xmlns:a16="http://schemas.microsoft.com/office/drawing/2014/main" id="{17F37C5C-04F2-7D30-AD3E-D53CDB354B5D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5300767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7BA8-608D-F4A3-E5C4-5ED0AA8A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D92D78-A814-0B8D-F0D0-EEC19262FC0E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B40C36-FA26-8139-173C-7DD73CE5CA82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DBB7E96-D6D6-E658-DEF1-9A5A5816AABD}"/>
              </a:ext>
            </a:extLst>
          </p:cNvPr>
          <p:cNvSpPr txBox="1"/>
          <p:nvPr/>
        </p:nvSpPr>
        <p:spPr>
          <a:xfrm>
            <a:off x="8763000" y="1700309"/>
            <a:ext cx="8458200" cy="4879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 MẪU: KẾ HOẠCH ĐẢM BẢO CHẤT LƯỢNG (QA PLAN)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QMS-TEM-QA-01 |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CMMI Level 5)</a:t>
            </a:r>
          </a:p>
          <a:p>
            <a:endParaRPr 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Thông tin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chung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dự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án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và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hồ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sơ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khởi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tạo</a:t>
            </a:r>
            <a:endParaRPr lang="en-US" sz="2000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0" lvl="0" indent="0" algn="l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Kết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quả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hiệu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chỉnh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quy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trình</a:t>
            </a:r>
            <a:endParaRPr lang="en-US" sz="2000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0" lvl="0" indent="0" algn="l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Cam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kết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mục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tiêu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chất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lượng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định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lượng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(QPPOs)</a:t>
            </a:r>
          </a:p>
          <a:p>
            <a:pPr lvl="0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Kế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hoạch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kiểm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toán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&amp;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Cổng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kiểm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soát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chất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lượng</a:t>
            </a:r>
            <a:endParaRPr lang="en-US" sz="2000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lvl="0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Cơ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chế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xử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lý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bất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thường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&amp;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điểm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kết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thúc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quy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trình</a:t>
            </a:r>
            <a:endParaRPr lang="en-US" sz="2000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lvl="0">
              <a:lnSpc>
                <a:spcPts val="3937"/>
              </a:lnSpc>
              <a:spcBef>
                <a:spcPct val="0"/>
              </a:spcBef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•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Phê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duyệt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&amp; Cam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kết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trách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nhiệm</a:t>
            </a:r>
            <a:endParaRPr lang="en-US" sz="2000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0" lvl="0" indent="0" algn="l">
              <a:lnSpc>
                <a:spcPts val="3937"/>
              </a:lnSpc>
              <a:spcBef>
                <a:spcPct val="0"/>
              </a:spcBef>
            </a:pPr>
            <a:endParaRPr lang="en-US" sz="2460" dirty="0">
              <a:solidFill>
                <a:srgbClr val="004AAD"/>
              </a:solidFill>
              <a:latin typeface="Kodchasan"/>
              <a:ea typeface="Kodchasan"/>
              <a:cs typeface="Kodchasan"/>
              <a:sym typeface="Kodchasan"/>
            </a:endParaRPr>
          </a:p>
          <a:p>
            <a:pPr marL="0" lvl="0" indent="0" algn="l">
              <a:lnSpc>
                <a:spcPts val="3937"/>
              </a:lnSpc>
              <a:spcBef>
                <a:spcPct val="0"/>
              </a:spcBef>
            </a:pPr>
            <a:endParaRPr lang="en-US" sz="2460" dirty="0">
              <a:solidFill>
                <a:srgbClr val="004AAD"/>
              </a:solidFill>
              <a:latin typeface="Kodchasan"/>
              <a:ea typeface="Kodchasan"/>
              <a:cs typeface="Kodchasan"/>
              <a:sym typeface="Kodchasan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3B2D019A-A73B-AA42-2CB7-62B3E9D1DE6A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9B95B4E5-7558-D60C-6351-18188FA02C0C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54BF5628-2D9E-5704-2B60-3D6594F277BD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2C4E2C-06DB-0F41-C1DD-76713C489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922" y="1371600"/>
            <a:ext cx="6008893" cy="8500645"/>
          </a:xfrm>
          <a:prstGeom prst="rect">
            <a:avLst/>
          </a:prstGeom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FECF1770-FB6C-3F46-D40C-B54E63698A34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3557577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/>
          <p:cNvSpPr/>
          <p:nvPr/>
        </p:nvSpPr>
        <p:spPr>
          <a:xfrm>
            <a:off x="1934027" y="3980029"/>
            <a:ext cx="2132510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1593840" y="4383906"/>
            <a:ext cx="4942147" cy="5257603"/>
          </a:xfrm>
          <a:custGeom>
            <a:avLst/>
            <a:gdLst/>
            <a:ahLst/>
            <a:cxnLst/>
            <a:rect l="l" t="t" r="r" b="b"/>
            <a:pathLst>
              <a:path w="4942147" h="5257603">
                <a:moveTo>
                  <a:pt x="0" y="0"/>
                </a:moveTo>
                <a:lnTo>
                  <a:pt x="4942146" y="0"/>
                </a:lnTo>
                <a:lnTo>
                  <a:pt x="4942146" y="5257603"/>
                </a:lnTo>
                <a:lnTo>
                  <a:pt x="0" y="5257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/>
          <p:cNvSpPr txBox="1"/>
          <p:nvPr/>
        </p:nvSpPr>
        <p:spPr>
          <a:xfrm>
            <a:off x="1901533" y="2177674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tính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CEE2FF54-0CA8-AF3D-7F12-49E88D3B62B5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0342910E-0427-6EF3-0D74-F49BA8374CDD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2BFC8CE-4021-A52F-7B91-3D840108DCE9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D9B7C9-9E3B-AE15-C298-9DA7A4486596}"/>
              </a:ext>
            </a:extLst>
          </p:cNvPr>
          <p:cNvGrpSpPr/>
          <p:nvPr/>
        </p:nvGrpSpPr>
        <p:grpSpPr>
          <a:xfrm>
            <a:off x="7436289" y="1629770"/>
            <a:ext cx="9708711" cy="3132730"/>
            <a:chOff x="7436289" y="1629770"/>
            <a:chExt cx="9708711" cy="313273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EBD873-67B1-3289-A724-1CF30AF1B994}"/>
                </a:ext>
              </a:extLst>
            </p:cNvPr>
            <p:cNvGrpSpPr/>
            <p:nvPr/>
          </p:nvGrpSpPr>
          <p:grpSpPr>
            <a:xfrm>
              <a:off x="7436289" y="1629770"/>
              <a:ext cx="7104395" cy="640721"/>
              <a:chOff x="2850173" y="3795155"/>
              <a:chExt cx="7104395" cy="640721"/>
            </a:xfrm>
          </p:grpSpPr>
          <p:grpSp>
            <p:nvGrpSpPr>
              <p:cNvPr id="17" name="Group 4">
                <a:extLst>
                  <a:ext uri="{FF2B5EF4-FFF2-40B4-BE49-F238E27FC236}">
                    <a16:creationId xmlns:a16="http://schemas.microsoft.com/office/drawing/2014/main" id="{0038E27F-801D-1326-EEF7-04163D5B819F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F53E2F73-6232-BA29-F44B-D57AD7D7166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0" name="TextBox 6">
                  <a:extLst>
                    <a:ext uri="{FF2B5EF4-FFF2-40B4-BE49-F238E27FC236}">
                      <a16:creationId xmlns:a16="http://schemas.microsoft.com/office/drawing/2014/main" id="{305299EC-4897-6731-A948-740DE88345A6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01</a:t>
                  </a: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0CE08A-CD2C-5325-4736-BF284CA6787A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6183567" cy="61555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Căn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(Process Tailoring)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gì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031943-4CB2-D083-543D-C1B6151C1B1E}"/>
                </a:ext>
              </a:extLst>
            </p:cNvPr>
            <p:cNvSpPr txBox="1"/>
            <p:nvPr/>
          </p:nvSpPr>
          <p:spPr>
            <a:xfrm>
              <a:off x="9120266" y="2608202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Do PM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nghiệm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4CE8DA42-BA04-8BC4-3129-A1BC37AD6B3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D7C64B-F84C-BBC4-BC0E-3479D575EA09}"/>
                </a:ext>
              </a:extLst>
            </p:cNvPr>
            <p:cNvSpPr txBox="1"/>
            <p:nvPr/>
          </p:nvSpPr>
          <p:spPr>
            <a:xfrm>
              <a:off x="9120266" y="3087895"/>
              <a:ext cx="802473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khung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Thư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PAL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khoản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phát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triển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(Agile/Waterfall).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06EE484A-D446-46BB-5DAF-B4CF0812B07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FF0998-B4C4-D864-C723-A5FE2663CE69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Sao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chép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cũ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trước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đó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1B8C6152-AD23-C457-76BD-FD4CEB4C629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475B13-8040-FD81-4563-1192FADB4EDD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Do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(Client)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trực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toàn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48901275-ADC0-A8AA-4617-E46751CD05D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342B80-FADC-BC81-1B7B-D4006BA9A3C9}"/>
              </a:ext>
            </a:extLst>
          </p:cNvPr>
          <p:cNvGrpSpPr/>
          <p:nvPr/>
        </p:nvGrpSpPr>
        <p:grpSpPr>
          <a:xfrm>
            <a:off x="7436289" y="5287370"/>
            <a:ext cx="9708711" cy="3132730"/>
            <a:chOff x="7436289" y="1629770"/>
            <a:chExt cx="9708711" cy="313273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35DCBE1-5F9F-3677-C3E1-429B65D17A0B}"/>
                </a:ext>
              </a:extLst>
            </p:cNvPr>
            <p:cNvGrpSpPr/>
            <p:nvPr/>
          </p:nvGrpSpPr>
          <p:grpSpPr>
            <a:xfrm>
              <a:off x="7436289" y="1629770"/>
              <a:ext cx="9301635" cy="640721"/>
              <a:chOff x="2850173" y="3795155"/>
              <a:chExt cx="9301635" cy="640721"/>
            </a:xfrm>
          </p:grpSpPr>
          <p:grpSp>
            <p:nvGrpSpPr>
              <p:cNvPr id="55" name="Group 4">
                <a:extLst>
                  <a:ext uri="{FF2B5EF4-FFF2-40B4-BE49-F238E27FC236}">
                    <a16:creationId xmlns:a16="http://schemas.microsoft.com/office/drawing/2014/main" id="{18C77704-E970-82CB-32B5-D2CD02E3F6BB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57" name="Freeform 5">
                  <a:extLst>
                    <a:ext uri="{FF2B5EF4-FFF2-40B4-BE49-F238E27FC236}">
                      <a16:creationId xmlns:a16="http://schemas.microsoft.com/office/drawing/2014/main" id="{079D3491-94C0-81B7-C0D2-7745D6B18EC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58" name="TextBox 6">
                  <a:extLst>
                    <a:ext uri="{FF2B5EF4-FFF2-40B4-BE49-F238E27FC236}">
                      <a16:creationId xmlns:a16="http://schemas.microsoft.com/office/drawing/2014/main" id="{8C29C637-2168-971B-B990-70AEFC25203C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02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EB3DD9E-DFF9-09E6-6CF9-A2E75358838E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380807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Tailoring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QA Plan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Ban FQC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yêu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hoãn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(Delay),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gì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AC146D-AC81-866C-05AE-20E87790C966}"/>
                </a:ext>
              </a:extLst>
            </p:cNvPr>
            <p:cNvSpPr txBox="1"/>
            <p:nvPr/>
          </p:nvSpPr>
          <p:spPr>
            <a:xfrm>
              <a:off x="9120266" y="2608202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thẳng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Ban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Giám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(BOD)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cưỡng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chế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duyệt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87FF2EC7-8F15-590C-0864-F140DE6A2CB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F7B837-9AC2-C51D-488D-127D2ABD4853}"/>
                </a:ext>
              </a:extLst>
            </p:cNvPr>
            <p:cNvSpPr txBox="1"/>
            <p:nvPr/>
          </p:nvSpPr>
          <p:spPr>
            <a:xfrm>
              <a:off x="9120266" y="3087895"/>
              <a:ext cx="802473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SQA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cập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“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Hủy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Hoãn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thống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FPT QMS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phiên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trình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lại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40159971-7FB0-124E-75E2-AEE825B51B0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FCB35C-F05D-5802-C849-40A368260A01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vẫn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tục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chạy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FQC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phê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duyệt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AC4F3BE1-878F-9ADD-8683-1A9520D8A06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9FC23BB-C4AF-9CA5-5F9D-8B4D4B974152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ngay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bước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bàn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giao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UAT.</a:t>
              </a: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02ED5FD7-8505-8080-A1E9-4289B04BB87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22">
            <a:extLst>
              <a:ext uri="{FF2B5EF4-FFF2-40B4-BE49-F238E27FC236}">
                <a16:creationId xmlns:a16="http://schemas.microsoft.com/office/drawing/2014/main" id="{9B258124-6314-EABC-D781-189C1A00FE60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09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330D-069C-E7CF-8F50-F10AAEF7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93326C-8A64-61E9-7587-3B58D5644F99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4F6C32A-592B-7359-0A09-F687CBF1D7AD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2ED5C35-4BA1-AF21-F5EA-E866AC803CD1}"/>
              </a:ext>
            </a:extLst>
          </p:cNvPr>
          <p:cNvSpPr/>
          <p:nvPr/>
        </p:nvSpPr>
        <p:spPr>
          <a:xfrm>
            <a:off x="1934027" y="3980029"/>
            <a:ext cx="2132510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6B4D9E6-077C-5DCA-027A-89DFEE597923}"/>
              </a:ext>
            </a:extLst>
          </p:cNvPr>
          <p:cNvSpPr/>
          <p:nvPr/>
        </p:nvSpPr>
        <p:spPr>
          <a:xfrm>
            <a:off x="1593840" y="4383906"/>
            <a:ext cx="4942147" cy="5257603"/>
          </a:xfrm>
          <a:custGeom>
            <a:avLst/>
            <a:gdLst/>
            <a:ahLst/>
            <a:cxnLst/>
            <a:rect l="l" t="t" r="r" b="b"/>
            <a:pathLst>
              <a:path w="4942147" h="5257603">
                <a:moveTo>
                  <a:pt x="0" y="0"/>
                </a:moveTo>
                <a:lnTo>
                  <a:pt x="4942146" y="0"/>
                </a:lnTo>
                <a:lnTo>
                  <a:pt x="4942146" y="5257603"/>
                </a:lnTo>
                <a:lnTo>
                  <a:pt x="0" y="5257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86032E4-9DDD-F7EF-42E2-26194D508FF2}"/>
              </a:ext>
            </a:extLst>
          </p:cNvPr>
          <p:cNvSpPr txBox="1"/>
          <p:nvPr/>
        </p:nvSpPr>
        <p:spPr>
          <a:xfrm>
            <a:off x="1901533" y="2177674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tính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373657B-0063-757E-3FA2-C39700E7A3B6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2A3922E1-42EC-1FFE-F6F7-50CBF527C7D2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C4F83DEC-FCE7-F1B9-74B1-D59F09EE69DE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4817EA-D731-F952-0E0A-99B6DC14056E}"/>
              </a:ext>
            </a:extLst>
          </p:cNvPr>
          <p:cNvGrpSpPr/>
          <p:nvPr/>
        </p:nvGrpSpPr>
        <p:grpSpPr>
          <a:xfrm>
            <a:off x="7436289" y="1629770"/>
            <a:ext cx="9739884" cy="3132730"/>
            <a:chOff x="7436289" y="1629770"/>
            <a:chExt cx="9739884" cy="313273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9398C3-15C6-8FF5-7A78-EB4BB32AA30F}"/>
                </a:ext>
              </a:extLst>
            </p:cNvPr>
            <p:cNvGrpSpPr/>
            <p:nvPr/>
          </p:nvGrpSpPr>
          <p:grpSpPr>
            <a:xfrm>
              <a:off x="7436289" y="1629770"/>
              <a:ext cx="9480111" cy="640721"/>
              <a:chOff x="2850173" y="3795155"/>
              <a:chExt cx="9480111" cy="640721"/>
            </a:xfrm>
          </p:grpSpPr>
          <p:grpSp>
            <p:nvGrpSpPr>
              <p:cNvPr id="17" name="Group 4">
                <a:extLst>
                  <a:ext uri="{FF2B5EF4-FFF2-40B4-BE49-F238E27FC236}">
                    <a16:creationId xmlns:a16="http://schemas.microsoft.com/office/drawing/2014/main" id="{BA3CDC36-D519-1E1F-547A-2CCC34DFCE7C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BE2B033F-86D3-0F81-CC10-1D07BAE15C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0" name="TextBox 6">
                  <a:extLst>
                    <a:ext uri="{FF2B5EF4-FFF2-40B4-BE49-F238E27FC236}">
                      <a16:creationId xmlns:a16="http://schemas.microsoft.com/office/drawing/2014/main" id="{C9EC650D-95A2-D645-43CF-3C9B65F28BB2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03</a:t>
                  </a: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A0F9A1-85F5-3C1A-9A7A-235C4BF305DE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tuân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thủ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đợt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căn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A05C7F-174C-24F6-4A6B-F23D4A79665F}"/>
                </a:ext>
              </a:extLst>
            </p:cNvPr>
            <p:cNvSpPr txBox="1"/>
            <p:nvPr/>
          </p:nvSpPr>
          <p:spPr>
            <a:xfrm>
              <a:off x="9120266" y="2608202"/>
              <a:ext cx="77961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thử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lại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code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ngay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lập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tức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8C15A6D-9EBD-DD50-A566-5D4E5DDFBF8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7BA5F1B-50D2-0C9A-D893-441845873225}"/>
                </a:ext>
              </a:extLst>
            </p:cNvPr>
            <p:cNvSpPr txBox="1"/>
            <p:nvPr/>
          </p:nvSpPr>
          <p:spPr>
            <a:xfrm>
              <a:off x="9120266" y="3087895"/>
              <a:ext cx="802473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Nguyên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Gốc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rễ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(RCA - 5-Whys),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log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FPT QMS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khắc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phục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D04C5C3B-76CD-F9C8-440B-59B557EF144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AE4E67-21D2-E546-0327-84FA7D54D376}"/>
                </a:ext>
              </a:extLst>
            </p:cNvPr>
            <p:cNvSpPr txBox="1"/>
            <p:nvPr/>
          </p:nvSpPr>
          <p:spPr>
            <a:xfrm>
              <a:off x="9144000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Bỏ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nhỏ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ảnh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hưởng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B1E76D03-8AC8-E0C9-9B84-9C56C166B4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9697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D003A1-4982-B350-9E0E-0149C1DFC908}"/>
                </a:ext>
              </a:extLst>
            </p:cNvPr>
            <p:cNvSpPr txBox="1"/>
            <p:nvPr/>
          </p:nvSpPr>
          <p:spPr>
            <a:xfrm>
              <a:off x="9151439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Phát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báo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yêu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BOD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ngay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3075A407-F3B2-C663-4A1F-34A9CBD24A2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77136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B991BB-933C-F1CD-BAB1-D6E552E28426}"/>
              </a:ext>
            </a:extLst>
          </p:cNvPr>
          <p:cNvGrpSpPr/>
          <p:nvPr/>
        </p:nvGrpSpPr>
        <p:grpSpPr>
          <a:xfrm>
            <a:off x="7436289" y="5287370"/>
            <a:ext cx="9739884" cy="3476298"/>
            <a:chOff x="7436289" y="1629770"/>
            <a:chExt cx="9739884" cy="309935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615E1FD-58EF-589B-538D-E59CC91BE6CF}"/>
                </a:ext>
              </a:extLst>
            </p:cNvPr>
            <p:cNvGrpSpPr/>
            <p:nvPr/>
          </p:nvGrpSpPr>
          <p:grpSpPr>
            <a:xfrm>
              <a:off x="7436289" y="1629770"/>
              <a:ext cx="9301635" cy="640721"/>
              <a:chOff x="2850173" y="3795155"/>
              <a:chExt cx="9301635" cy="640721"/>
            </a:xfrm>
          </p:grpSpPr>
          <p:grpSp>
            <p:nvGrpSpPr>
              <p:cNvPr id="55" name="Group 4">
                <a:extLst>
                  <a:ext uri="{FF2B5EF4-FFF2-40B4-BE49-F238E27FC236}">
                    <a16:creationId xmlns:a16="http://schemas.microsoft.com/office/drawing/2014/main" id="{802CBBA7-CE29-93A8-131E-49C0337AE9D8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57" name="Freeform 5">
                  <a:extLst>
                    <a:ext uri="{FF2B5EF4-FFF2-40B4-BE49-F238E27FC236}">
                      <a16:creationId xmlns:a16="http://schemas.microsoft.com/office/drawing/2014/main" id="{F80CE7A9-1F2C-6C3D-F8EA-E53FCCD760F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58" name="TextBox 6">
                  <a:extLst>
                    <a:ext uri="{FF2B5EF4-FFF2-40B4-BE49-F238E27FC236}">
                      <a16:creationId xmlns:a16="http://schemas.microsoft.com/office/drawing/2014/main" id="{6FE4D97F-8FD5-0791-EC72-F7C881B887F4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04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8CC7086-1A37-2104-D6AF-1A5EC5474E97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380807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quyết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sản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mềm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xưởng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sang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(Client)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gì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B00765-5220-9424-E889-02BBBB7D88C8}"/>
                </a:ext>
              </a:extLst>
            </p:cNvPr>
            <p:cNvSpPr txBox="1"/>
            <p:nvPr/>
          </p:nvSpPr>
          <p:spPr>
            <a:xfrm>
              <a:off x="9104083" y="2473523"/>
              <a:ext cx="7796134" cy="5488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Vượt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kỳ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đánh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Cuối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(Final Inspection)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</a:t>
              </a: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C7456F8F-5768-FD46-719F-8706015B0B5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2F039C1-B63B-CD72-028A-96334DA8E106}"/>
                </a:ext>
              </a:extLst>
            </p:cNvPr>
            <p:cNvSpPr txBox="1"/>
            <p:nvPr/>
          </p:nvSpPr>
          <p:spPr>
            <a:xfrm>
              <a:off x="9115269" y="3249869"/>
              <a:ext cx="8024734" cy="27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PM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đã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hoàn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mã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nguồn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81D373C9-B1C3-6F97-9722-15B6C46285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8AFB8FD-BD70-CDB8-7446-A756E7B5019A}"/>
                </a:ext>
              </a:extLst>
            </p:cNvPr>
            <p:cNvSpPr txBox="1"/>
            <p:nvPr/>
          </p:nvSpPr>
          <p:spPr>
            <a:xfrm>
              <a:off x="9144000" y="3871564"/>
              <a:ext cx="8024734" cy="27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gửi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email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yêu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bàn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giao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gấp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68E35F70-66D5-57B9-13AA-7E633F0585B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9697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6319099-526B-C8D8-1F3F-9B5A286D9729}"/>
                </a:ext>
              </a:extLst>
            </p:cNvPr>
            <p:cNvSpPr txBox="1"/>
            <p:nvPr/>
          </p:nvSpPr>
          <p:spPr>
            <a:xfrm>
              <a:off x="9151439" y="4454723"/>
              <a:ext cx="8024734" cy="2744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Đã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nộp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xong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QPPOs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lên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thống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FPT QMS.</a:t>
              </a: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F4E35AEC-F257-EC8E-F46A-5B69259147A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77136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22">
            <a:extLst>
              <a:ext uri="{FF2B5EF4-FFF2-40B4-BE49-F238E27FC236}">
                <a16:creationId xmlns:a16="http://schemas.microsoft.com/office/drawing/2014/main" id="{1CBE5AA2-5F94-B9D2-2D9C-29B34C951922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9527062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412C9-F698-3FD7-DC03-9B3C4AC6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54121B-8F7E-6029-8C87-5CDDF7B8684D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313D42-0B68-8052-73C0-600C07483C3F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55BF8E3-3665-F934-F932-24E02EF20BA5}"/>
              </a:ext>
            </a:extLst>
          </p:cNvPr>
          <p:cNvSpPr/>
          <p:nvPr/>
        </p:nvSpPr>
        <p:spPr>
          <a:xfrm>
            <a:off x="1934027" y="3980029"/>
            <a:ext cx="2132510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7374FD5-4762-8D3C-3B28-95EC18D9A0BC}"/>
              </a:ext>
            </a:extLst>
          </p:cNvPr>
          <p:cNvSpPr/>
          <p:nvPr/>
        </p:nvSpPr>
        <p:spPr>
          <a:xfrm>
            <a:off x="1593840" y="4383906"/>
            <a:ext cx="4942147" cy="5257603"/>
          </a:xfrm>
          <a:custGeom>
            <a:avLst/>
            <a:gdLst/>
            <a:ahLst/>
            <a:cxnLst/>
            <a:rect l="l" t="t" r="r" b="b"/>
            <a:pathLst>
              <a:path w="4942147" h="5257603">
                <a:moveTo>
                  <a:pt x="0" y="0"/>
                </a:moveTo>
                <a:lnTo>
                  <a:pt x="4942146" y="0"/>
                </a:lnTo>
                <a:lnTo>
                  <a:pt x="4942146" y="5257603"/>
                </a:lnTo>
                <a:lnTo>
                  <a:pt x="0" y="5257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95E715-85F0-3901-678A-8F063E828BB8}"/>
              </a:ext>
            </a:extLst>
          </p:cNvPr>
          <p:cNvSpPr txBox="1"/>
          <p:nvPr/>
        </p:nvSpPr>
        <p:spPr>
          <a:xfrm>
            <a:off x="1901533" y="2177674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tính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E36E25C6-7CA7-CFB2-37B2-2F71C475AA24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EE19B7B-6E58-B863-6CFB-F923C9C9039E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F7B8714C-443A-1F81-104E-96F6B28EB08A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C175A3D-D4B7-9AA2-568B-A5C47A0B6CD4}"/>
              </a:ext>
            </a:extLst>
          </p:cNvPr>
          <p:cNvGrpSpPr/>
          <p:nvPr/>
        </p:nvGrpSpPr>
        <p:grpSpPr>
          <a:xfrm>
            <a:off x="7436289" y="1629770"/>
            <a:ext cx="9739884" cy="3132730"/>
            <a:chOff x="7436289" y="1629770"/>
            <a:chExt cx="9739884" cy="313273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B9ADBC4-1AF0-97C7-3635-3621125DFB40}"/>
                </a:ext>
              </a:extLst>
            </p:cNvPr>
            <p:cNvGrpSpPr/>
            <p:nvPr/>
          </p:nvGrpSpPr>
          <p:grpSpPr>
            <a:xfrm>
              <a:off x="7436289" y="1629770"/>
              <a:ext cx="9480111" cy="640721"/>
              <a:chOff x="2850173" y="3795155"/>
              <a:chExt cx="9480111" cy="640721"/>
            </a:xfrm>
          </p:grpSpPr>
          <p:grpSp>
            <p:nvGrpSpPr>
              <p:cNvPr id="17" name="Group 4">
                <a:extLst>
                  <a:ext uri="{FF2B5EF4-FFF2-40B4-BE49-F238E27FC236}">
                    <a16:creationId xmlns:a16="http://schemas.microsoft.com/office/drawing/2014/main" id="{96A68123-3759-DC5F-683C-37DEC57CFB73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D7CFCCD3-88F2-F883-22D9-EA3F9012C70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0" name="TextBox 6">
                  <a:extLst>
                    <a:ext uri="{FF2B5EF4-FFF2-40B4-BE49-F238E27FC236}">
                      <a16:creationId xmlns:a16="http://schemas.microsoft.com/office/drawing/2014/main" id="{86E53711-0C9C-1D64-30C4-04ECD4E98D98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05</a:t>
                  </a: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23F13B-0D19-84D2-38FF-1F35FB386ED4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CAPA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sắc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SEPG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xử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D6930E-9D91-9E28-41FE-E8B2DEA685A3}"/>
                </a:ext>
              </a:extLst>
            </p:cNvPr>
            <p:cNvSpPr txBox="1"/>
            <p:nvPr/>
          </p:nvSpPr>
          <p:spPr>
            <a:xfrm>
              <a:off x="9120266" y="2608202"/>
              <a:ext cx="77961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Lưu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trữ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nội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bộ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máy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PM.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EB919772-8BEB-E11D-8A7A-0E02D97A41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93CE94-59E3-FF0F-175F-3C3BA89487BE}"/>
                </a:ext>
              </a:extLst>
            </p:cNvPr>
            <p:cNvSpPr txBox="1"/>
            <p:nvPr/>
          </p:nvSpPr>
          <p:spPr>
            <a:xfrm>
              <a:off x="9120266" y="3087895"/>
              <a:ext cx="802473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đóng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gói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đóng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góp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ngược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lại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Thư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PAL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toàn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ty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sử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0606D560-3E56-5800-3945-914863087D3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62D429-329F-84C8-AF31-7418461E79BE}"/>
                </a:ext>
              </a:extLst>
            </p:cNvPr>
            <p:cNvSpPr txBox="1"/>
            <p:nvPr/>
          </p:nvSpPr>
          <p:spPr>
            <a:xfrm>
              <a:off x="9144000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Xóa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bỏ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vì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đã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thúc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52D2CD5F-CB5C-E701-D533-2B304CC9364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69697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2E60ED7-73FF-7119-9009-5D21DE2F06C4}"/>
                </a:ext>
              </a:extLst>
            </p:cNvPr>
            <p:cNvSpPr txBox="1"/>
            <p:nvPr/>
          </p:nvSpPr>
          <p:spPr>
            <a:xfrm>
              <a:off x="9151439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Gửi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Khách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trữ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hộ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754BAA65-3FF6-EA8C-26E5-40E473E23A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77136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22">
            <a:extLst>
              <a:ext uri="{FF2B5EF4-FFF2-40B4-BE49-F238E27FC236}">
                <a16:creationId xmlns:a16="http://schemas.microsoft.com/office/drawing/2014/main" id="{34FEE088-F2FB-70D6-140A-52F86DF6D217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9748258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D845-C523-3676-8BD5-5E018C47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F09F05-C626-3DEC-86B0-16AD84B952D9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59633E-D752-64BA-8B64-6E692738DE77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722BA7C-01D6-0CB0-DBC5-B2D816CE127A}"/>
              </a:ext>
            </a:extLst>
          </p:cNvPr>
          <p:cNvSpPr/>
          <p:nvPr/>
        </p:nvSpPr>
        <p:spPr>
          <a:xfrm>
            <a:off x="1934027" y="3980029"/>
            <a:ext cx="2132510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732BA71-1319-80F9-0333-994F950F39C1}"/>
              </a:ext>
            </a:extLst>
          </p:cNvPr>
          <p:cNvSpPr/>
          <p:nvPr/>
        </p:nvSpPr>
        <p:spPr>
          <a:xfrm>
            <a:off x="1593840" y="4383906"/>
            <a:ext cx="4942147" cy="5257603"/>
          </a:xfrm>
          <a:custGeom>
            <a:avLst/>
            <a:gdLst/>
            <a:ahLst/>
            <a:cxnLst/>
            <a:rect l="l" t="t" r="r" b="b"/>
            <a:pathLst>
              <a:path w="4942147" h="5257603">
                <a:moveTo>
                  <a:pt x="0" y="0"/>
                </a:moveTo>
                <a:lnTo>
                  <a:pt x="4942146" y="0"/>
                </a:lnTo>
                <a:lnTo>
                  <a:pt x="4942146" y="5257603"/>
                </a:lnTo>
                <a:lnTo>
                  <a:pt x="0" y="5257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1D26FC1-0EFF-8AAB-97F2-D0384CF0846C}"/>
              </a:ext>
            </a:extLst>
          </p:cNvPr>
          <p:cNvSpPr txBox="1"/>
          <p:nvPr/>
        </p:nvSpPr>
        <p:spPr>
          <a:xfrm>
            <a:off x="1901533" y="2177674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tính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Không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C8B3E42D-003A-F4BD-9B09-4313E6651DF6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3581233-F81F-33C0-F7AA-E181763C1EAF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BE3285B1-1234-CEAD-E7AB-700E05D87288}"/>
              </a:ext>
            </a:extLst>
          </p:cNvPr>
          <p:cNvSpPr/>
          <p:nvPr/>
        </p:nvSpPr>
        <p:spPr>
          <a:xfrm>
            <a:off x="2971800" y="1145261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E7E914-A081-CFA8-D1F1-9C380BB09E33}"/>
              </a:ext>
            </a:extLst>
          </p:cNvPr>
          <p:cNvGrpSpPr/>
          <p:nvPr/>
        </p:nvGrpSpPr>
        <p:grpSpPr>
          <a:xfrm>
            <a:off x="7415052" y="1629770"/>
            <a:ext cx="9501348" cy="5414424"/>
            <a:chOff x="7415052" y="1629770"/>
            <a:chExt cx="9501348" cy="541442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F2F60A-720D-F8E5-71AC-02F62E51DC26}"/>
                </a:ext>
              </a:extLst>
            </p:cNvPr>
            <p:cNvGrpSpPr/>
            <p:nvPr/>
          </p:nvGrpSpPr>
          <p:grpSpPr>
            <a:xfrm>
              <a:off x="7436289" y="1629770"/>
              <a:ext cx="9480111" cy="923330"/>
              <a:chOff x="2850173" y="3795155"/>
              <a:chExt cx="9480111" cy="923330"/>
            </a:xfrm>
          </p:grpSpPr>
          <p:grpSp>
            <p:nvGrpSpPr>
              <p:cNvPr id="17" name="Group 4">
                <a:extLst>
                  <a:ext uri="{FF2B5EF4-FFF2-40B4-BE49-F238E27FC236}">
                    <a16:creationId xmlns:a16="http://schemas.microsoft.com/office/drawing/2014/main" id="{635C3158-01F5-1BCE-7F36-0E3988CB7952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E17FF770-8F12-9A54-04CB-EA331D3A238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0" name="TextBox 6">
                  <a:extLst>
                    <a:ext uri="{FF2B5EF4-FFF2-40B4-BE49-F238E27FC236}">
                      <a16:creationId xmlns:a16="http://schemas.microsoft.com/office/drawing/2014/main" id="{876E169F-AD5D-453E-8A16-ED3BCCDF43FA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01</a:t>
                  </a: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8B0F76-E393-679D-CD6B-6B7C835765E5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Anh/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Chị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hãy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SQA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PM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khung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Thư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PAL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QA Plan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chạy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Agile Scrum?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CD63D76-F387-1C11-FA5C-0CACF4735230}"/>
                </a:ext>
              </a:extLst>
            </p:cNvPr>
            <p:cNvGrpSpPr/>
            <p:nvPr/>
          </p:nvGrpSpPr>
          <p:grpSpPr>
            <a:xfrm>
              <a:off x="7432541" y="2788999"/>
              <a:ext cx="9480111" cy="923330"/>
              <a:chOff x="2850173" y="3795155"/>
              <a:chExt cx="9480111" cy="923330"/>
            </a:xfrm>
          </p:grpSpPr>
          <p:grpSp>
            <p:nvGrpSpPr>
              <p:cNvPr id="7" name="Group 4">
                <a:extLst>
                  <a:ext uri="{FF2B5EF4-FFF2-40B4-BE49-F238E27FC236}">
                    <a16:creationId xmlns:a16="http://schemas.microsoft.com/office/drawing/2014/main" id="{5B02A9B0-3D57-A834-222A-08C8E452C1A8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10" name="Freeform 5">
                  <a:extLst>
                    <a:ext uri="{FF2B5EF4-FFF2-40B4-BE49-F238E27FC236}">
                      <a16:creationId xmlns:a16="http://schemas.microsoft.com/office/drawing/2014/main" id="{EC299174-BF4D-91EA-004C-5881B5D5B4A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12" name="TextBox 6">
                  <a:extLst>
                    <a:ext uri="{FF2B5EF4-FFF2-40B4-BE49-F238E27FC236}">
                      <a16:creationId xmlns:a16="http://schemas.microsoft.com/office/drawing/2014/main" id="{130FE875-9ED3-C3CB-ECAD-236A15C312EE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02</a:t>
                  </a: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77D4A8-F976-02E3-4789-5C2EF8FF824C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tuân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thủ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trọng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(NC),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hủy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phê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duyệt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Quality Gate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Project Team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Re-audit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08DD769-BC9B-45FA-DD27-8D8B3F1CF4C3}"/>
                </a:ext>
              </a:extLst>
            </p:cNvPr>
            <p:cNvGrpSpPr/>
            <p:nvPr/>
          </p:nvGrpSpPr>
          <p:grpSpPr>
            <a:xfrm>
              <a:off x="7415052" y="3970089"/>
              <a:ext cx="9480111" cy="923330"/>
              <a:chOff x="2850173" y="3795155"/>
              <a:chExt cx="9480111" cy="923330"/>
            </a:xfrm>
          </p:grpSpPr>
          <p:grpSp>
            <p:nvGrpSpPr>
              <p:cNvPr id="21" name="Group 4">
                <a:extLst>
                  <a:ext uri="{FF2B5EF4-FFF2-40B4-BE49-F238E27FC236}">
                    <a16:creationId xmlns:a16="http://schemas.microsoft.com/office/drawing/2014/main" id="{D16E655B-5FE1-46FF-BE17-9C90C7E290E1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24" name="Freeform 5">
                  <a:extLst>
                    <a:ext uri="{FF2B5EF4-FFF2-40B4-BE49-F238E27FC236}">
                      <a16:creationId xmlns:a16="http://schemas.microsoft.com/office/drawing/2014/main" id="{BABC576B-3E71-E4CB-A23C-94EE6F2098A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5" name="TextBox 6">
                  <a:extLst>
                    <a:ext uri="{FF2B5EF4-FFF2-40B4-BE49-F238E27FC236}">
                      <a16:creationId xmlns:a16="http://schemas.microsoft.com/office/drawing/2014/main" id="{1A7BA753-7867-7689-11B6-E108D0AA015A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03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1402AB-F829-3398-19DA-0A8B037457C9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(Client)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trọng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đợt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ngũ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kỹ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CAPA,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(Rework)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B4862FA-F017-6CA6-FF3E-BACEF02D2730}"/>
                </a:ext>
              </a:extLst>
            </p:cNvPr>
            <p:cNvGrpSpPr/>
            <p:nvPr/>
          </p:nvGrpSpPr>
          <p:grpSpPr>
            <a:xfrm>
              <a:off x="7415052" y="5186781"/>
              <a:ext cx="9480111" cy="923330"/>
              <a:chOff x="2850173" y="3795155"/>
              <a:chExt cx="9480111" cy="923330"/>
            </a:xfrm>
          </p:grpSpPr>
          <p:grpSp>
            <p:nvGrpSpPr>
              <p:cNvPr id="27" name="Group 4">
                <a:extLst>
                  <a:ext uri="{FF2B5EF4-FFF2-40B4-BE49-F238E27FC236}">
                    <a16:creationId xmlns:a16="http://schemas.microsoft.com/office/drawing/2014/main" id="{50ECAD95-7FA3-9532-6C07-247BD27EF470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29" name="Freeform 5">
                  <a:extLst>
                    <a:ext uri="{FF2B5EF4-FFF2-40B4-BE49-F238E27FC236}">
                      <a16:creationId xmlns:a16="http://schemas.microsoft.com/office/drawing/2014/main" id="{7B9B2C27-7173-AF65-C74A-F79E7CE8173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30" name="TextBox 6">
                  <a:extLst>
                    <a:ext uri="{FF2B5EF4-FFF2-40B4-BE49-F238E27FC236}">
                      <a16:creationId xmlns:a16="http://schemas.microsoft.com/office/drawing/2014/main" id="{3A26FD64-A8FE-1319-0ED1-E7A2BA3BDA1C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04</a:t>
                  </a: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83D729-9515-2E83-5B54-47338CFA6D3F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Xin Ban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khẩn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SQA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quyết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dừng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khẩn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bàn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DBD6DB-8FB3-12E9-35AF-470C0CEFBB72}"/>
                </a:ext>
              </a:extLst>
            </p:cNvPr>
            <p:cNvGrpSpPr/>
            <p:nvPr/>
          </p:nvGrpSpPr>
          <p:grpSpPr>
            <a:xfrm>
              <a:off x="7432541" y="6403473"/>
              <a:ext cx="9480111" cy="640721"/>
              <a:chOff x="2850173" y="3795155"/>
              <a:chExt cx="9480111" cy="640721"/>
            </a:xfrm>
          </p:grpSpPr>
          <p:grpSp>
            <p:nvGrpSpPr>
              <p:cNvPr id="33" name="Group 4">
                <a:extLst>
                  <a:ext uri="{FF2B5EF4-FFF2-40B4-BE49-F238E27FC236}">
                    <a16:creationId xmlns:a16="http://schemas.microsoft.com/office/drawing/2014/main" id="{48759F7F-EDD6-0C97-AB6B-5FF9B0D6C819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35" name="Freeform 5">
                  <a:extLst>
                    <a:ext uri="{FF2B5EF4-FFF2-40B4-BE49-F238E27FC236}">
                      <a16:creationId xmlns:a16="http://schemas.microsoft.com/office/drawing/2014/main" id="{ECF3F6E5-3D04-055E-CED9-D16BFAD775C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36" name="TextBox 6">
                  <a:extLst>
                    <a:ext uri="{FF2B5EF4-FFF2-40B4-BE49-F238E27FC236}">
                      <a16:creationId xmlns:a16="http://schemas.microsoft.com/office/drawing/2014/main" id="{1D5A0A15-1633-940F-2D61-FDCB63B66AB2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05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6CC094-E016-C381-D607-E8A199FFDCE3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bạch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hỗ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trợ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soát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FPT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sản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UAT?</a:t>
                </a:r>
              </a:p>
            </p:txBody>
          </p:sp>
        </p:grpSp>
      </p:grpSp>
      <p:sp>
        <p:nvSpPr>
          <p:cNvPr id="60" name="TextBox 22">
            <a:extLst>
              <a:ext uri="{FF2B5EF4-FFF2-40B4-BE49-F238E27FC236}">
                <a16:creationId xmlns:a16="http://schemas.microsoft.com/office/drawing/2014/main" id="{3A353E49-4861-0CAA-5B1D-F08F992F6F4A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99504705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/>
          <p:cNvSpPr/>
          <p:nvPr/>
        </p:nvSpPr>
        <p:spPr>
          <a:xfrm>
            <a:off x="1537759" y="3530687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1699547" y="3676030"/>
            <a:ext cx="5676329" cy="5676329"/>
          </a:xfrm>
          <a:custGeom>
            <a:avLst/>
            <a:gdLst/>
            <a:ahLst/>
            <a:cxnLst/>
            <a:rect l="l" t="t" r="r" b="b"/>
            <a:pathLst>
              <a:path w="5676329" h="5676329">
                <a:moveTo>
                  <a:pt x="0" y="0"/>
                </a:moveTo>
                <a:lnTo>
                  <a:pt x="5676329" y="0"/>
                </a:lnTo>
                <a:lnTo>
                  <a:pt x="5676329" y="5676329"/>
                </a:lnTo>
                <a:lnTo>
                  <a:pt x="0" y="567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64AFC7E-98D9-A380-D50C-489DD2FECC56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B7E876C-90CA-DE93-94CE-ECB8BABB1986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694EA6-BDA6-E8E7-B687-A25007A72660}"/>
              </a:ext>
            </a:extLst>
          </p:cNvPr>
          <p:cNvGrpSpPr/>
          <p:nvPr/>
        </p:nvGrpSpPr>
        <p:grpSpPr>
          <a:xfrm>
            <a:off x="7436289" y="1629770"/>
            <a:ext cx="9725006" cy="3132730"/>
            <a:chOff x="7436289" y="1629770"/>
            <a:chExt cx="9725006" cy="31327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0ED0414-47C0-D99B-C6DD-812BDF42C16C}"/>
                </a:ext>
              </a:extLst>
            </p:cNvPr>
            <p:cNvGrpSpPr/>
            <p:nvPr/>
          </p:nvGrpSpPr>
          <p:grpSpPr>
            <a:xfrm>
              <a:off x="7436289" y="1629770"/>
              <a:ext cx="9403911" cy="640721"/>
              <a:chOff x="2850173" y="3795155"/>
              <a:chExt cx="9403911" cy="640721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75BCFE92-2D67-F1FB-207D-242F7783B812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2858B5F5-E459-F69C-4883-47D5BE1911F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6" name="TextBox 6">
                  <a:extLst>
                    <a:ext uri="{FF2B5EF4-FFF2-40B4-BE49-F238E27FC236}">
                      <a16:creationId xmlns:a16="http://schemas.microsoft.com/office/drawing/2014/main" id="{92C93AEB-B546-E355-E300-EC98BD22C637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01</a:t>
                  </a: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378317-E461-565B-C65D-505E4F3E0A35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4830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(SLA)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Ban FQC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xem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quyết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phê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duyệt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Hủy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Hoãn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Tailoring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lâu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307BD5-AE9D-5FC6-9F13-AF8F5CA228CB}"/>
                </a:ext>
              </a:extLst>
            </p:cNvPr>
            <p:cNvSpPr txBox="1"/>
            <p:nvPr/>
          </p:nvSpPr>
          <p:spPr>
            <a:xfrm>
              <a:off x="9120266" y="2608202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12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5F8BE8B2-B39D-1CD5-40E0-A874227B9C2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61B871-7F24-FEBA-2629-DA88DC744EBA}"/>
                </a:ext>
              </a:extLst>
            </p:cNvPr>
            <p:cNvSpPr txBox="1"/>
            <p:nvPr/>
          </p:nvSpPr>
          <p:spPr>
            <a:xfrm>
              <a:off x="9136561" y="3223900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24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F5C76512-DF15-2C6F-5978-F10BFC2D745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849DE-4BA2-EDEA-5A40-B5E56CF80F5E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48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700D3F08-9AD6-B249-4F10-DA4CADF7EC6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2A16B6-EDD9-BCD5-2E92-7BC39A340BF1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72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20D49643-52DC-7C2B-181D-B297C8424B6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F92B6C-25B5-CDA6-6837-EE275E3F990B}"/>
              </a:ext>
            </a:extLst>
          </p:cNvPr>
          <p:cNvGrpSpPr/>
          <p:nvPr/>
        </p:nvGrpSpPr>
        <p:grpSpPr>
          <a:xfrm>
            <a:off x="7436289" y="5287370"/>
            <a:ext cx="9708711" cy="3132730"/>
            <a:chOff x="7436289" y="1629770"/>
            <a:chExt cx="9708711" cy="313273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024E0D5-C059-F219-1199-29AF89D8D758}"/>
                </a:ext>
              </a:extLst>
            </p:cNvPr>
            <p:cNvGrpSpPr/>
            <p:nvPr/>
          </p:nvGrpSpPr>
          <p:grpSpPr>
            <a:xfrm>
              <a:off x="7436289" y="1629770"/>
              <a:ext cx="9301635" cy="640721"/>
              <a:chOff x="2850173" y="3795155"/>
              <a:chExt cx="9301635" cy="640721"/>
            </a:xfrm>
          </p:grpSpPr>
          <p:grpSp>
            <p:nvGrpSpPr>
              <p:cNvPr id="37" name="Group 4">
                <a:extLst>
                  <a:ext uri="{FF2B5EF4-FFF2-40B4-BE49-F238E27FC236}">
                    <a16:creationId xmlns:a16="http://schemas.microsoft.com/office/drawing/2014/main" id="{AD743074-353B-142A-CF04-56F6171E8623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39" name="Freeform 5">
                  <a:extLst>
                    <a:ext uri="{FF2B5EF4-FFF2-40B4-BE49-F238E27FC236}">
                      <a16:creationId xmlns:a16="http://schemas.microsoft.com/office/drawing/2014/main" id="{1F1917F8-D7A8-37CE-54CC-6E0305D5302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40" name="TextBox 6">
                  <a:extLst>
                    <a:ext uri="{FF2B5EF4-FFF2-40B4-BE49-F238E27FC236}">
                      <a16:creationId xmlns:a16="http://schemas.microsoft.com/office/drawing/2014/main" id="{30C00A4C-5AD8-1F77-0824-19FD1822D662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02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EFBEA3-13E6-21BE-9509-37DC36352075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380807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FQC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phê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duyệt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PM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lâu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QPPOs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thử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941DA0-20C2-D443-D99F-F2B52CF21280}"/>
                </a:ext>
              </a:extLst>
            </p:cNvPr>
            <p:cNvSpPr txBox="1"/>
            <p:nvPr/>
          </p:nvSpPr>
          <p:spPr>
            <a:xfrm>
              <a:off x="9120266" y="2608202"/>
              <a:ext cx="7617658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24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giờ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quá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24h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yêu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hủy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bỏ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D79A8DBD-0368-1DA7-A7C1-0988FC04FF3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675D0E5-3662-83FF-9237-DB71E7FBFDC0}"/>
                </a:ext>
              </a:extLst>
            </p:cNvPr>
            <p:cNvSpPr txBox="1"/>
            <p:nvPr/>
          </p:nvSpPr>
          <p:spPr>
            <a:xfrm>
              <a:off x="9112827" y="3207086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3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ngày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8CAF1134-43BF-22E1-D95C-DEDA1FB3813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CBDAEA-C745-74F9-B70C-37E0F51F6473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7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ngày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làm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vi-VN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DE6EAD0D-A459-B9D3-9739-A0E94A22BA5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88DAB6-F611-E527-A134-2888282FCE13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Cho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đến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thúc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dự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4ED29435-60B9-20B1-6B7C-C828C77607E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8">
            <a:extLst>
              <a:ext uri="{FF2B5EF4-FFF2-40B4-BE49-F238E27FC236}">
                <a16:creationId xmlns:a16="http://schemas.microsoft.com/office/drawing/2014/main" id="{315E12F5-570F-2C83-EEAC-6E1B717662E3}"/>
              </a:ext>
            </a:extLst>
          </p:cNvPr>
          <p:cNvSpPr txBox="1"/>
          <p:nvPr/>
        </p:nvSpPr>
        <p:spPr>
          <a:xfrm>
            <a:off x="1540257" y="1863777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CC397051-8126-6009-D1EA-E4DA83619A69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13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005F8-A97B-EBA0-DA94-CD27736C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BEA776-AF4C-C961-3961-B0E19A22B646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5D413B2-E370-699E-BBF4-5F1C67CE4B3F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C3C7433-A681-C075-AC7A-F93581FC9351}"/>
              </a:ext>
            </a:extLst>
          </p:cNvPr>
          <p:cNvSpPr/>
          <p:nvPr/>
        </p:nvSpPr>
        <p:spPr>
          <a:xfrm>
            <a:off x="1537759" y="3530687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B67E9E8-5ADF-5190-BC49-28BB62B32518}"/>
              </a:ext>
            </a:extLst>
          </p:cNvPr>
          <p:cNvSpPr/>
          <p:nvPr/>
        </p:nvSpPr>
        <p:spPr>
          <a:xfrm>
            <a:off x="1699547" y="3676030"/>
            <a:ext cx="5676329" cy="5676329"/>
          </a:xfrm>
          <a:custGeom>
            <a:avLst/>
            <a:gdLst/>
            <a:ahLst/>
            <a:cxnLst/>
            <a:rect l="l" t="t" r="r" b="b"/>
            <a:pathLst>
              <a:path w="5676329" h="5676329">
                <a:moveTo>
                  <a:pt x="0" y="0"/>
                </a:moveTo>
                <a:lnTo>
                  <a:pt x="5676329" y="0"/>
                </a:lnTo>
                <a:lnTo>
                  <a:pt x="5676329" y="5676329"/>
                </a:lnTo>
                <a:lnTo>
                  <a:pt x="0" y="567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69A426D-91FE-8AF1-2EFB-6E74ECBAA8DC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CD20AAA9-A2D7-3BE7-A3C6-69D4FFE1BBAF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53B1BD-C2BD-4691-E63B-5128D1D8E6A5}"/>
              </a:ext>
            </a:extLst>
          </p:cNvPr>
          <p:cNvGrpSpPr/>
          <p:nvPr/>
        </p:nvGrpSpPr>
        <p:grpSpPr>
          <a:xfrm>
            <a:off x="7436289" y="1629770"/>
            <a:ext cx="9725006" cy="3132730"/>
            <a:chOff x="7436289" y="1629770"/>
            <a:chExt cx="9725006" cy="31327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2812391-D3BD-721D-8A36-C4767B17113A}"/>
                </a:ext>
              </a:extLst>
            </p:cNvPr>
            <p:cNvGrpSpPr/>
            <p:nvPr/>
          </p:nvGrpSpPr>
          <p:grpSpPr>
            <a:xfrm>
              <a:off x="7436289" y="1629770"/>
              <a:ext cx="9403911" cy="640721"/>
              <a:chOff x="2850173" y="3795155"/>
              <a:chExt cx="9403911" cy="640721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2BF282BE-081C-7CB0-51AF-B4A670C3FB09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2A2CB31D-159E-BDB3-A659-8D8116CCF33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6" name="TextBox 6">
                  <a:extLst>
                    <a:ext uri="{FF2B5EF4-FFF2-40B4-BE49-F238E27FC236}">
                      <a16:creationId xmlns:a16="http://schemas.microsoft.com/office/drawing/2014/main" id="{D2CA0979-38F7-B9E5-C08E-839B91B6FF0F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03</a:t>
                  </a: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695C30-81B3-640E-4345-A359EAF2D5D8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4830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Ngưỡng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soát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Sai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Lịch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(Schedule Variance - SV)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Re-audit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EBABE0-57D8-685F-3B48-E2E0F731C3D0}"/>
                </a:ext>
              </a:extLst>
            </p:cNvPr>
            <p:cNvSpPr txBox="1"/>
            <p:nvPr/>
          </p:nvSpPr>
          <p:spPr>
            <a:xfrm>
              <a:off x="9120266" y="2608202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SV &lt;= 5%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5C8CD7D7-9FE8-05E4-FEC2-FEE25EEFCD8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E80B54-2F3D-815B-33EE-EA8EBFABE723}"/>
                </a:ext>
              </a:extLst>
            </p:cNvPr>
            <p:cNvSpPr txBox="1"/>
            <p:nvPr/>
          </p:nvSpPr>
          <p:spPr>
            <a:xfrm>
              <a:off x="9136561" y="3223900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SV &lt;= 10% (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SV &gt; 10%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luồng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053EF4B2-E5A8-4FC0-1A53-7FAFB9C9404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C93025-64A7-FD93-C956-6FDA4025E461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SV &lt;= 20%</a:t>
              </a: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14F5ED1B-607A-BFBF-0D77-82A75CFC7F8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2502BA-DA95-9BF6-B72D-98EB62ADAA07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SV &lt;= 30%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5942D85A-C098-D15C-B2B9-E44E03F5CA8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4961D7-AF6F-062D-05A5-16B8DF988BFA}"/>
              </a:ext>
            </a:extLst>
          </p:cNvPr>
          <p:cNvGrpSpPr/>
          <p:nvPr/>
        </p:nvGrpSpPr>
        <p:grpSpPr>
          <a:xfrm>
            <a:off x="7436289" y="5287370"/>
            <a:ext cx="9701272" cy="2549571"/>
            <a:chOff x="7436289" y="1629770"/>
            <a:chExt cx="9701272" cy="254957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DC5B77B-C4FE-BC10-5639-D623D7597A53}"/>
                </a:ext>
              </a:extLst>
            </p:cNvPr>
            <p:cNvGrpSpPr/>
            <p:nvPr/>
          </p:nvGrpSpPr>
          <p:grpSpPr>
            <a:xfrm>
              <a:off x="7436289" y="1629770"/>
              <a:ext cx="9301635" cy="640721"/>
              <a:chOff x="2850173" y="3795155"/>
              <a:chExt cx="9301635" cy="640721"/>
            </a:xfrm>
          </p:grpSpPr>
          <p:grpSp>
            <p:nvGrpSpPr>
              <p:cNvPr id="37" name="Group 4">
                <a:extLst>
                  <a:ext uri="{FF2B5EF4-FFF2-40B4-BE49-F238E27FC236}">
                    <a16:creationId xmlns:a16="http://schemas.microsoft.com/office/drawing/2014/main" id="{BDE2C761-997A-217F-44BA-DD9AFE783957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39" name="Freeform 5">
                  <a:extLst>
                    <a:ext uri="{FF2B5EF4-FFF2-40B4-BE49-F238E27FC236}">
                      <a16:creationId xmlns:a16="http://schemas.microsoft.com/office/drawing/2014/main" id="{F4A01B03-0F5D-6BEE-98E0-2B86ACF35EE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40" name="TextBox 6">
                  <a:extLst>
                    <a:ext uri="{FF2B5EF4-FFF2-40B4-BE49-F238E27FC236}">
                      <a16:creationId xmlns:a16="http://schemas.microsoft.com/office/drawing/2014/main" id="{E3F57211-1906-9AB5-990A-B5D5FCE2428D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04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4B3B71-1423-6D76-C0A6-C5218F22AAD8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380807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Ngưỡng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soát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Sai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Công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sức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(Effort Variance - EV)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xảy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lọt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vi-V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C32E71-054D-F1D7-64A5-F24FB6C37850}"/>
                </a:ext>
              </a:extLst>
            </p:cNvPr>
            <p:cNvSpPr txBox="1"/>
            <p:nvPr/>
          </p:nvSpPr>
          <p:spPr>
            <a:xfrm>
              <a:off x="9120266" y="2608202"/>
              <a:ext cx="7617658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EV &lt;= 8%</a:t>
              </a:r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BEC5B17E-A42A-30EA-FB30-93AA66F727F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DC9B14-5AE3-D442-8273-EEFC3F32D218}"/>
                </a:ext>
              </a:extLst>
            </p:cNvPr>
            <p:cNvSpPr txBox="1"/>
            <p:nvPr/>
          </p:nvSpPr>
          <p:spPr>
            <a:xfrm>
              <a:off x="9112827" y="3207086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EV &lt;= 15% (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Nếu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EV &gt; 15%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luồng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khẩn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cấp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3667E38-03C7-2AF6-8142-C5CA913A5EB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70B1E8-65AC-CE66-F82F-FE9F6534E6D2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EV &lt;= 25%</a:t>
              </a:r>
              <a:endParaRPr lang="vi-VN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F3CC5BAF-489B-B800-75CB-FCC07F3AF47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8">
            <a:extLst>
              <a:ext uri="{FF2B5EF4-FFF2-40B4-BE49-F238E27FC236}">
                <a16:creationId xmlns:a16="http://schemas.microsoft.com/office/drawing/2014/main" id="{A60A0335-005E-A817-DAB0-8053C7519CB8}"/>
              </a:ext>
            </a:extLst>
          </p:cNvPr>
          <p:cNvSpPr txBox="1"/>
          <p:nvPr/>
        </p:nvSpPr>
        <p:spPr>
          <a:xfrm>
            <a:off x="1540257" y="1863777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C973AF43-A9E4-E04C-566B-F7425139589A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14394739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0F60-F09F-CD40-B386-37C7678E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B68BD3-C708-65D7-A028-2D2C04E5060F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86033D-D14B-F05D-DDD9-37F4F87D90DA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5B2CCA7-8C41-7F68-67BE-E5D151A48A66}"/>
              </a:ext>
            </a:extLst>
          </p:cNvPr>
          <p:cNvSpPr/>
          <p:nvPr/>
        </p:nvSpPr>
        <p:spPr>
          <a:xfrm>
            <a:off x="1537759" y="3530687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D073AA8-57A9-E56C-9BF0-437381EDC9B9}"/>
              </a:ext>
            </a:extLst>
          </p:cNvPr>
          <p:cNvSpPr/>
          <p:nvPr/>
        </p:nvSpPr>
        <p:spPr>
          <a:xfrm>
            <a:off x="1699547" y="3676030"/>
            <a:ext cx="5676329" cy="5676329"/>
          </a:xfrm>
          <a:custGeom>
            <a:avLst/>
            <a:gdLst/>
            <a:ahLst/>
            <a:cxnLst/>
            <a:rect l="l" t="t" r="r" b="b"/>
            <a:pathLst>
              <a:path w="5676329" h="5676329">
                <a:moveTo>
                  <a:pt x="0" y="0"/>
                </a:moveTo>
                <a:lnTo>
                  <a:pt x="5676329" y="0"/>
                </a:lnTo>
                <a:lnTo>
                  <a:pt x="5676329" y="5676329"/>
                </a:lnTo>
                <a:lnTo>
                  <a:pt x="0" y="567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D671927-2B0D-6360-5CD2-7822D4DF741A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3637107-218B-9482-623B-026582C2AF14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F4D8B3-47B3-5355-28C6-25B881CA1E9B}"/>
              </a:ext>
            </a:extLst>
          </p:cNvPr>
          <p:cNvGrpSpPr/>
          <p:nvPr/>
        </p:nvGrpSpPr>
        <p:grpSpPr>
          <a:xfrm>
            <a:off x="7436289" y="1629770"/>
            <a:ext cx="9725006" cy="3132730"/>
            <a:chOff x="7436289" y="1629770"/>
            <a:chExt cx="9725006" cy="31327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1527C2-6A20-31B7-B13E-68CBD79429CA}"/>
                </a:ext>
              </a:extLst>
            </p:cNvPr>
            <p:cNvGrpSpPr/>
            <p:nvPr/>
          </p:nvGrpSpPr>
          <p:grpSpPr>
            <a:xfrm>
              <a:off x="7436289" y="1629770"/>
              <a:ext cx="9403911" cy="640721"/>
              <a:chOff x="2850173" y="3795155"/>
              <a:chExt cx="9403911" cy="640721"/>
            </a:xfrm>
          </p:grpSpPr>
          <p:grpSp>
            <p:nvGrpSpPr>
              <p:cNvPr id="23" name="Group 4">
                <a:extLst>
                  <a:ext uri="{FF2B5EF4-FFF2-40B4-BE49-F238E27FC236}">
                    <a16:creationId xmlns:a16="http://schemas.microsoft.com/office/drawing/2014/main" id="{9600D1C7-3960-9E0F-CB9B-4400CA90051E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25" name="Freeform 5">
                  <a:extLst>
                    <a:ext uri="{FF2B5EF4-FFF2-40B4-BE49-F238E27FC236}">
                      <a16:creationId xmlns:a16="http://schemas.microsoft.com/office/drawing/2014/main" id="{F1DFB3EA-F03A-8853-59E8-4828E989EC9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26" name="TextBox 6">
                  <a:extLst>
                    <a:ext uri="{FF2B5EF4-FFF2-40B4-BE49-F238E27FC236}">
                      <a16:creationId xmlns:a16="http://schemas.microsoft.com/office/drawing/2014/main" id="{06B14FBA-E421-C095-B785-442054BF664E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05</a:t>
                  </a: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FBCF-B2EA-91D8-DA8C-7A774675DF66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483083" cy="6155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Tỷ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lọt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(Defect Leakage Ratio)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khâu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khách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hàng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94D0C9-84D6-A6A1-E7C1-3C97D3673AA2}"/>
                </a:ext>
              </a:extLst>
            </p:cNvPr>
            <p:cNvSpPr txBox="1"/>
            <p:nvPr/>
          </p:nvSpPr>
          <p:spPr>
            <a:xfrm>
              <a:off x="9120266" y="2608202"/>
              <a:ext cx="6183567" cy="30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– &lt;= 1%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endParaRPr lang="vi-VN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4627CF3F-0DC8-B3AA-548D-1626EAF7F5A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3355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 cap="flat">
              <a:solidFill>
                <a:schemeClr val="accent1">
                  <a:shade val="95000"/>
                  <a:satMod val="10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49D39A-B1F0-5534-5F23-8E0450AF8BA4}"/>
                </a:ext>
              </a:extLst>
            </p:cNvPr>
            <p:cNvSpPr txBox="1"/>
            <p:nvPr/>
          </p:nvSpPr>
          <p:spPr>
            <a:xfrm>
              <a:off x="9136561" y="3223900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– &lt;= 5%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2F6C7B50-17C8-EB1E-D14E-95051FECE6E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2945150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E473A1-E285-99BC-26F7-2939AF52C1FF}"/>
                </a:ext>
              </a:extLst>
            </p:cNvPr>
            <p:cNvSpPr txBox="1"/>
            <p:nvPr/>
          </p:nvSpPr>
          <p:spPr>
            <a:xfrm>
              <a:off x="9112827" y="3871564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– &lt;= 10%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F74EA357-F10F-C5CB-326D-9DB8E7156F4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38524" y="3576764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93BA34-A33E-9B66-E125-E7ACA1647C37}"/>
                </a:ext>
              </a:extLst>
            </p:cNvPr>
            <p:cNvSpPr txBox="1"/>
            <p:nvPr/>
          </p:nvSpPr>
          <p:spPr>
            <a:xfrm>
              <a:off x="9120266" y="4454723"/>
              <a:ext cx="8024734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– &lt;= 15%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lỗi</a:t>
              </a:r>
              <a:endParaRPr lang="en-US" sz="20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35121FB4-4213-16B2-A318-2D35ACD230C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45963" y="4182071"/>
              <a:ext cx="479214" cy="412286"/>
            </a:xfrm>
            <a:prstGeom prst="bentConnector4">
              <a:avLst>
                <a:gd name="adj1" fmla="val 17887"/>
                <a:gd name="adj2" fmla="val -895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8">
            <a:extLst>
              <a:ext uri="{FF2B5EF4-FFF2-40B4-BE49-F238E27FC236}">
                <a16:creationId xmlns:a16="http://schemas.microsoft.com/office/drawing/2014/main" id="{82E195B1-D4E0-5217-E54C-CE543ADBB7CB}"/>
              </a:ext>
            </a:extLst>
          </p:cNvPr>
          <p:cNvSpPr txBox="1"/>
          <p:nvPr/>
        </p:nvSpPr>
        <p:spPr>
          <a:xfrm>
            <a:off x="1540257" y="1863777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marL="0" lvl="0" indent="0" algn="l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Có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FD32DAC3-7FCC-579B-18DD-6B77D92B43ED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6676878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E209-904C-E793-7C2B-E33055E8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F224B3-BDF6-8251-96AB-C28184FB68E2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7D4A93-89DD-1C97-7D09-CCD323FD896A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B3B0D60-08F0-2C18-73FC-97F7E459E77B}"/>
              </a:ext>
            </a:extLst>
          </p:cNvPr>
          <p:cNvSpPr/>
          <p:nvPr/>
        </p:nvSpPr>
        <p:spPr>
          <a:xfrm>
            <a:off x="1537759" y="3530687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13CDAE3-22F4-D5D5-A66E-4E9B2845F456}"/>
              </a:ext>
            </a:extLst>
          </p:cNvPr>
          <p:cNvSpPr/>
          <p:nvPr/>
        </p:nvSpPr>
        <p:spPr>
          <a:xfrm>
            <a:off x="1699547" y="3676030"/>
            <a:ext cx="5676329" cy="5676329"/>
          </a:xfrm>
          <a:custGeom>
            <a:avLst/>
            <a:gdLst/>
            <a:ahLst/>
            <a:cxnLst/>
            <a:rect l="l" t="t" r="r" b="b"/>
            <a:pathLst>
              <a:path w="5676329" h="5676329">
                <a:moveTo>
                  <a:pt x="0" y="0"/>
                </a:moveTo>
                <a:lnTo>
                  <a:pt x="5676329" y="0"/>
                </a:lnTo>
                <a:lnTo>
                  <a:pt x="5676329" y="5676329"/>
                </a:lnTo>
                <a:lnTo>
                  <a:pt x="0" y="567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E03ED2A-85D1-1D40-93A6-DBEFB1B1A61E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03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48910DC9-DA1D-D3F7-DF30-15D84BBC15BC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PHƯƠNG PHÁP THỰC HIỆN</a:t>
            </a: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21DC9BCF-027A-D3E7-3DE2-27700AA14B25}"/>
              </a:ext>
            </a:extLst>
          </p:cNvPr>
          <p:cNvSpPr txBox="1"/>
          <p:nvPr/>
        </p:nvSpPr>
        <p:spPr>
          <a:xfrm>
            <a:off x="1540257" y="1863777"/>
            <a:ext cx="8380807" cy="155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Phỏng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vấn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định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  <a:p>
            <a:pPr lvl="0">
              <a:lnSpc>
                <a:spcPts val="6362"/>
              </a:lnSpc>
            </a:pP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(</a:t>
            </a:r>
            <a:r>
              <a:rPr lang="en-US" sz="4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Không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cấu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i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trúc</a:t>
            </a:r>
            <a:r>
              <a:rPr lang="en-US" sz="4000" b="1" i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DB4590-5A73-1341-EC87-826397A0197B}"/>
              </a:ext>
            </a:extLst>
          </p:cNvPr>
          <p:cNvGrpSpPr/>
          <p:nvPr/>
        </p:nvGrpSpPr>
        <p:grpSpPr>
          <a:xfrm>
            <a:off x="7415052" y="1629770"/>
            <a:ext cx="9501348" cy="5697033"/>
            <a:chOff x="7415052" y="1629770"/>
            <a:chExt cx="9501348" cy="56970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527D5A-6817-A8B1-7813-8649D00CDFCA}"/>
                </a:ext>
              </a:extLst>
            </p:cNvPr>
            <p:cNvGrpSpPr/>
            <p:nvPr/>
          </p:nvGrpSpPr>
          <p:grpSpPr>
            <a:xfrm>
              <a:off x="7436289" y="1629770"/>
              <a:ext cx="9480111" cy="923330"/>
              <a:chOff x="2850173" y="3795155"/>
              <a:chExt cx="9480111" cy="923330"/>
            </a:xfrm>
          </p:grpSpPr>
          <p:grpSp>
            <p:nvGrpSpPr>
              <p:cNvPr id="57" name="Group 4">
                <a:extLst>
                  <a:ext uri="{FF2B5EF4-FFF2-40B4-BE49-F238E27FC236}">
                    <a16:creationId xmlns:a16="http://schemas.microsoft.com/office/drawing/2014/main" id="{4A1763BB-2718-326B-8079-EE350F32877D}"/>
                  </a:ext>
                </a:extLst>
              </p:cNvPr>
              <p:cNvGrpSpPr/>
              <p:nvPr/>
            </p:nvGrpSpPr>
            <p:grpSpPr>
              <a:xfrm>
                <a:off x="2850173" y="3817519"/>
                <a:ext cx="618357" cy="618357"/>
                <a:chOff x="0" y="0"/>
                <a:chExt cx="635000" cy="635000"/>
              </a:xfrm>
            </p:grpSpPr>
            <p:sp>
              <p:nvSpPr>
                <p:cNvPr id="59" name="Freeform 5">
                  <a:extLst>
                    <a:ext uri="{FF2B5EF4-FFF2-40B4-BE49-F238E27FC236}">
                      <a16:creationId xmlns:a16="http://schemas.microsoft.com/office/drawing/2014/main" id="{71E813EF-CC4F-A61A-5AD0-314BA71B1B1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60" name="TextBox 6">
                  <a:extLst>
                    <a:ext uri="{FF2B5EF4-FFF2-40B4-BE49-F238E27FC236}">
                      <a16:creationId xmlns:a16="http://schemas.microsoft.com/office/drawing/2014/main" id="{01B5F9AD-260B-0D10-DE55-7AAC6E4AA5B7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01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9D54E1A-AB5A-227B-CCEE-1A4680DAB3ED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kéo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Chuyên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SQA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đợt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cổng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Quality Gates?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44C078-429B-5046-03D5-4AC3F2A5260D}"/>
                </a:ext>
              </a:extLst>
            </p:cNvPr>
            <p:cNvGrpSpPr/>
            <p:nvPr/>
          </p:nvGrpSpPr>
          <p:grpSpPr>
            <a:xfrm>
              <a:off x="7432541" y="2788999"/>
              <a:ext cx="9480111" cy="923330"/>
              <a:chOff x="2850173" y="3795155"/>
              <a:chExt cx="9480111" cy="923330"/>
            </a:xfrm>
          </p:grpSpPr>
          <p:grpSp>
            <p:nvGrpSpPr>
              <p:cNvPr id="53" name="Group 4">
                <a:extLst>
                  <a:ext uri="{FF2B5EF4-FFF2-40B4-BE49-F238E27FC236}">
                    <a16:creationId xmlns:a16="http://schemas.microsoft.com/office/drawing/2014/main" id="{91E19E56-AB64-0099-1E78-ED377FF14054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55" name="Freeform 5">
                  <a:extLst>
                    <a:ext uri="{FF2B5EF4-FFF2-40B4-BE49-F238E27FC236}">
                      <a16:creationId xmlns:a16="http://schemas.microsoft.com/office/drawing/2014/main" id="{E70B6E4C-D2D9-0957-792D-E67FA97E5BF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56" name="TextBox 6">
                  <a:extLst>
                    <a:ext uri="{FF2B5EF4-FFF2-40B4-BE49-F238E27FC236}">
                      <a16:creationId xmlns:a16="http://schemas.microsoft.com/office/drawing/2014/main" id="{62C5587F-0694-3664-E6DD-B4397194A2D5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02</a:t>
                  </a: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28BB742-535F-2D52-8002-77139418F014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trả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vi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NC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UAT,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giờ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ngày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Rework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lâu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5C2666D-59C1-7DFE-D115-398B5F444086}"/>
                </a:ext>
              </a:extLst>
            </p:cNvPr>
            <p:cNvGrpSpPr/>
            <p:nvPr/>
          </p:nvGrpSpPr>
          <p:grpSpPr>
            <a:xfrm>
              <a:off x="7415052" y="3970089"/>
              <a:ext cx="9480111" cy="923330"/>
              <a:chOff x="2850173" y="3795155"/>
              <a:chExt cx="9480111" cy="923330"/>
            </a:xfrm>
          </p:grpSpPr>
          <p:grpSp>
            <p:nvGrpSpPr>
              <p:cNvPr id="49" name="Group 4">
                <a:extLst>
                  <a:ext uri="{FF2B5EF4-FFF2-40B4-BE49-F238E27FC236}">
                    <a16:creationId xmlns:a16="http://schemas.microsoft.com/office/drawing/2014/main" id="{DA462989-0BBE-8C5E-9954-24C380611211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51" name="Freeform 5">
                  <a:extLst>
                    <a:ext uri="{FF2B5EF4-FFF2-40B4-BE49-F238E27FC236}">
                      <a16:creationId xmlns:a16="http://schemas.microsoft.com/office/drawing/2014/main" id="{CA70C44D-B699-CF73-BC79-2AC31C55059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52" name="TextBox 6">
                  <a:extLst>
                    <a:ext uri="{FF2B5EF4-FFF2-40B4-BE49-F238E27FC236}">
                      <a16:creationId xmlns:a16="http://schemas.microsoft.com/office/drawing/2014/main" id="{1255F187-ACE9-476E-6F59-9B7FB28AEBF7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03</a:t>
                  </a: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269460-66F4-9A28-6EBD-5C638D0382AA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Tỷ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phủ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(Test Coverage %)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mật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(Defect Density - bugs/KLOC)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trước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Final Inspection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7FCFBE4-9664-A2DC-A739-8434A033B2B5}"/>
                </a:ext>
              </a:extLst>
            </p:cNvPr>
            <p:cNvGrpSpPr/>
            <p:nvPr/>
          </p:nvGrpSpPr>
          <p:grpSpPr>
            <a:xfrm>
              <a:off x="7415052" y="5186781"/>
              <a:ext cx="9480111" cy="923330"/>
              <a:chOff x="2850173" y="3795155"/>
              <a:chExt cx="9480111" cy="923330"/>
            </a:xfrm>
          </p:grpSpPr>
          <p:grpSp>
            <p:nvGrpSpPr>
              <p:cNvPr id="45" name="Group 4">
                <a:extLst>
                  <a:ext uri="{FF2B5EF4-FFF2-40B4-BE49-F238E27FC236}">
                    <a16:creationId xmlns:a16="http://schemas.microsoft.com/office/drawing/2014/main" id="{79F5A54B-C351-4200-EF27-2A5DFE6143CD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47" name="Freeform 5">
                  <a:extLst>
                    <a:ext uri="{FF2B5EF4-FFF2-40B4-BE49-F238E27FC236}">
                      <a16:creationId xmlns:a16="http://schemas.microsoft.com/office/drawing/2014/main" id="{52432094-AF74-407B-AA12-F755CC9D5C0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48" name="TextBox 6">
                  <a:extLst>
                    <a:ext uri="{FF2B5EF4-FFF2-40B4-BE49-F238E27FC236}">
                      <a16:creationId xmlns:a16="http://schemas.microsoft.com/office/drawing/2014/main" id="{604B5D1B-96DA-3868-458C-211239848335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04</a:t>
                  </a: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F3F01EF-4A91-CB08-8E97-401120F5A1B4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1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tài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tỷ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(%)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Tailoring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FQC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chối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hoãn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CMMI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trăm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4AFA3BD-3AAE-6560-3405-FDB9B135E33E}"/>
                </a:ext>
              </a:extLst>
            </p:cNvPr>
            <p:cNvGrpSpPr/>
            <p:nvPr/>
          </p:nvGrpSpPr>
          <p:grpSpPr>
            <a:xfrm>
              <a:off x="7432541" y="6403473"/>
              <a:ext cx="9480111" cy="923330"/>
              <a:chOff x="2850173" y="3795155"/>
              <a:chExt cx="9480111" cy="923330"/>
            </a:xfrm>
          </p:grpSpPr>
          <p:grpSp>
            <p:nvGrpSpPr>
              <p:cNvPr id="36" name="Group 4">
                <a:extLst>
                  <a:ext uri="{FF2B5EF4-FFF2-40B4-BE49-F238E27FC236}">
                    <a16:creationId xmlns:a16="http://schemas.microsoft.com/office/drawing/2014/main" id="{8EE6A5DD-215B-38EA-1635-CF4C038C7295}"/>
                  </a:ext>
                </a:extLst>
              </p:cNvPr>
              <p:cNvGrpSpPr/>
              <p:nvPr/>
            </p:nvGrpSpPr>
            <p:grpSpPr>
              <a:xfrm>
                <a:off x="2850173" y="3798968"/>
                <a:ext cx="618357" cy="636908"/>
                <a:chOff x="0" y="-19050"/>
                <a:chExt cx="635000" cy="654050"/>
              </a:xfrm>
            </p:grpSpPr>
            <p:sp>
              <p:nvSpPr>
                <p:cNvPr id="43" name="Freeform 5">
                  <a:extLst>
                    <a:ext uri="{FF2B5EF4-FFF2-40B4-BE49-F238E27FC236}">
                      <a16:creationId xmlns:a16="http://schemas.microsoft.com/office/drawing/2014/main" id="{CB86F78F-63DA-8EED-7770-8E49900476D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35000" cy="6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0" h="635000">
                      <a:moveTo>
                        <a:pt x="63500" y="0"/>
                      </a:moveTo>
                      <a:lnTo>
                        <a:pt x="571500" y="0"/>
                      </a:lnTo>
                      <a:cubicBezTo>
                        <a:pt x="606570" y="0"/>
                        <a:pt x="635000" y="28430"/>
                        <a:pt x="635000" y="63500"/>
                      </a:cubicBezTo>
                      <a:lnTo>
                        <a:pt x="635000" y="571500"/>
                      </a:lnTo>
                      <a:cubicBezTo>
                        <a:pt x="635000" y="606570"/>
                        <a:pt x="606570" y="635000"/>
                        <a:pt x="571500" y="635000"/>
                      </a:cubicBezTo>
                      <a:lnTo>
                        <a:pt x="63500" y="635000"/>
                      </a:lnTo>
                      <a:cubicBezTo>
                        <a:pt x="28430" y="635000"/>
                        <a:pt x="0" y="606570"/>
                        <a:pt x="0" y="5715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close/>
                    </a:path>
                  </a:pathLst>
                </a:custGeom>
                <a:solidFill>
                  <a:srgbClr val="3B82F6"/>
                </a:solidFill>
              </p:spPr>
              <p:txBody>
                <a:bodyPr/>
                <a:lstStyle/>
                <a:p>
                  <a:endParaRPr lang="vi-VN"/>
                </a:p>
              </p:txBody>
            </p:sp>
            <p:sp>
              <p:nvSpPr>
                <p:cNvPr id="44" name="TextBox 6">
                  <a:extLst>
                    <a:ext uri="{FF2B5EF4-FFF2-40B4-BE49-F238E27FC236}">
                      <a16:creationId xmlns:a16="http://schemas.microsoft.com/office/drawing/2014/main" id="{4CB95964-1D2E-B324-EFD9-A3B01DF2A81D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35000" cy="65405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spcBef>
                      <a:spcPct val="0"/>
                    </a:spcBef>
                  </a:pPr>
                  <a:r>
                    <a:rPr lang="en-US" sz="2000" u="none" strike="noStrike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Patriot"/>
                      <a:cs typeface="Times New Roman" panose="02020603050405020304" pitchFamily="18" charset="0"/>
                      <a:sym typeface="Patriot"/>
                    </a:rPr>
                    <a:t>05</a:t>
                  </a: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E8DAB94-99A7-75D5-02EF-E6253AE766A6}"/>
                  </a:ext>
                </a:extLst>
              </p:cNvPr>
              <p:cNvSpPr txBox="1"/>
              <p:nvPr/>
            </p:nvSpPr>
            <p:spPr>
              <a:xfrm>
                <a:off x="3771001" y="3795155"/>
                <a:ext cx="8559283" cy="92333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Bef>
                    <a:spcPct val="0"/>
                  </a:spcBef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thúc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Ban SEPG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mất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ngày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thẩm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CAPA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sắc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việc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đóng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cập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nhật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phiên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Thư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viện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PAL?</a:t>
                </a:r>
              </a:p>
            </p:txBody>
          </p:sp>
        </p:grpSp>
      </p:grpSp>
      <p:sp>
        <p:nvSpPr>
          <p:cNvPr id="62" name="TextBox 22">
            <a:extLst>
              <a:ext uri="{FF2B5EF4-FFF2-40B4-BE49-F238E27FC236}">
                <a16:creationId xmlns:a16="http://schemas.microsoft.com/office/drawing/2014/main" id="{602FA654-0476-DD7D-EB3C-6B27A11EA8B9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1631465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3313-50B5-C382-D3FE-E5FED8F4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FBB977-95FA-C41B-DCBF-A3E40C5C097F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7C3018-9A26-C355-3878-5AC4EB9B8D57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78BF59-C6B2-D247-95A2-32063E8CA199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6E23AD4-D405-127E-3768-9FADB73A7EE8}"/>
              </a:ext>
            </a:extLst>
          </p:cNvPr>
          <p:cNvSpPr txBox="1"/>
          <p:nvPr/>
        </p:nvSpPr>
        <p:spPr>
          <a:xfrm>
            <a:off x="2971800" y="519461"/>
            <a:ext cx="11811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(GTGT)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707FB23-F066-4BF1-7E01-FE8F40EBFF10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DA9FF8C2-2D5E-9F4D-601A-1E35FAE3A300}"/>
              </a:ext>
            </a:extLst>
          </p:cNvPr>
          <p:cNvSpPr txBox="1"/>
          <p:nvPr/>
        </p:nvSpPr>
        <p:spPr>
          <a:xfrm>
            <a:off x="6391085" y="9688848"/>
            <a:ext cx="550583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4.1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BPMN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1781D450-EF9D-DFB3-D2F9-D919B8BD59D2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EDC854-0171-940B-19A3-40679D057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659" y="1264002"/>
            <a:ext cx="10797282" cy="840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31666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2C408-EDBD-90C6-0579-5AF5D55E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EB3F9A-AD27-0181-2315-4E89E3130B1D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03CA85-B2E0-642D-8198-5E74E60220B2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04FEB05-6045-3726-AD54-8FB7F26BBA42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AE3F75-4789-9572-8E46-F36C45731C51}"/>
              </a:ext>
            </a:extLst>
          </p:cNvPr>
          <p:cNvSpPr txBox="1"/>
          <p:nvPr/>
        </p:nvSpPr>
        <p:spPr>
          <a:xfrm>
            <a:off x="2971800" y="519461"/>
            <a:ext cx="12344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(GTGT)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77F8E76-7586-8A46-32EC-DEA1C6361316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2F1FEC2C-4B8D-A859-12B8-ECAB4F375CB6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8</a:t>
            </a:r>
            <a:endParaRPr lang="en-US" sz="2800" u="none" strike="noStrike" dirty="0">
              <a:solidFill>
                <a:srgbClr val="0070C0"/>
              </a:solidFill>
              <a:latin typeface="Times New Roman" panose="02020603050405020304" pitchFamily="18" charset="0"/>
              <a:ea typeface="Patriot"/>
              <a:cs typeface="Times New Roman" panose="02020603050405020304" pitchFamily="18" charset="0"/>
              <a:sym typeface="Patrio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4795C6-C3F2-34BD-2A24-3EE658562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059650"/>
              </p:ext>
            </p:extLst>
          </p:nvPr>
        </p:nvGraphicFramePr>
        <p:xfrm>
          <a:off x="1371600" y="1995139"/>
          <a:ext cx="1554480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93131642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6194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91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endParaRPr lang="vi-V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</a:t>
                      </a:r>
                      <a:endParaRPr lang="vi-V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Điền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endParaRPr lang="vi-V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SQA.</a:t>
                      </a:r>
                      <a:endParaRPr lang="vi-V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khởi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ERP/QMS.</a:t>
                      </a:r>
                      <a:endParaRPr lang="vi-V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xem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bổ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việc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tới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227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Phối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PLan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 tích hợp đồng cùng với PM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Hiệu chỉnh QT dựa trên PAL theo chuẩn CMMI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 kế hoạch ĐBCL (QA </a:t>
                      </a:r>
                      <a:r>
                        <a:rPr lang="vi-VN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Plan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ý tailoring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mẫu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QA Plan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tailoring.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777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 phương án hiệu chỉnh QT &amp; QA Plan lên FQC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mẫu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ban FQC.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 nhận phương án hiệu chỉnh QT &amp; QA Plan lên FQC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FQC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1299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Xem xét phương án hiệu chỉnh QT &amp; QA Plan (SLA 24h)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FQC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CMMI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hay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(Auto-approval)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140571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 nhật trạng thái "Hủy/Hoãn dự án" trên FPT QMS &amp; Tự động thông báo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FQC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thúc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rủi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PMO/ERP.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680711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3B58C4F-8F92-565C-61E5-6AA07BA7A5A4}"/>
              </a:ext>
            </a:extLst>
          </p:cNvPr>
          <p:cNvSpPr txBox="1"/>
          <p:nvPr/>
        </p:nvSpPr>
        <p:spPr>
          <a:xfrm>
            <a:off x="1270416" y="1604298"/>
            <a:ext cx="1531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BẢNG 4.1: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PHÂN TÍCH GIÁ TRỊ GIA TĂNG CỦA QUY TRÌNH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267432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96DA-5760-2B1F-F12F-7E5CC6E2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F053C4-2D3C-A148-6480-27ABA893C304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58FF5C-1F75-B27F-093D-07F53DFBC180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51D961-1165-8214-02E9-76E7CD18EA58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40AF8F-B6AB-F180-D1D4-2A3B73EE81C0}"/>
              </a:ext>
            </a:extLst>
          </p:cNvPr>
          <p:cNvSpPr txBox="1"/>
          <p:nvPr/>
        </p:nvSpPr>
        <p:spPr>
          <a:xfrm>
            <a:off x="2971800" y="519461"/>
            <a:ext cx="128778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(GTGT)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FA32B51-0CCF-44F8-69FD-D640714970AE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1AC9190C-7084-09E7-9964-8D596ADAA441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19</a:t>
            </a:r>
            <a:endParaRPr lang="en-US" sz="2800" u="none" strike="noStrike" dirty="0">
              <a:solidFill>
                <a:srgbClr val="0070C0"/>
              </a:solidFill>
              <a:latin typeface="Times New Roman" panose="02020603050405020304" pitchFamily="18" charset="0"/>
              <a:ea typeface="Patriot"/>
              <a:cs typeface="Times New Roman" panose="02020603050405020304" pitchFamily="18" charset="0"/>
              <a:sym typeface="Patrio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68F46A-8750-63E9-07FB-528B31247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656152"/>
              </p:ext>
            </p:extLst>
          </p:nvPr>
        </p:nvGraphicFramePr>
        <p:xfrm>
          <a:off x="1371600" y="1409700"/>
          <a:ext cx="15544800" cy="8536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93131642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6194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686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(QPPOs)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FQC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QPPOs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1090911"/>
                  </a:ext>
                </a:extLst>
              </a:tr>
              <a:tr h="91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QPPOs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(SLA 24h)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mật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kê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 thừa baseline metrics từ các dự án tương tự trên PAL.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 nhật trạng thái "Chưa được phê duyệt QT" trên FPT QMS &amp; Tự động thông báo đến PM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PM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QMS tự động đếm giờ và cập nhật trạng thái tự động.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kì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Quality Gates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pipeline CI/CD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quét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nguồn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tĩnh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 tích nguyên nhân gốc rễ (RCA), Lưu vào QMS &amp; Thực hiện khắc phục lỗi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Tìm nguyên nhân cốt lõi nhằm chuẩn hóa và ngăn lỗi tái diễn.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[NVA] - 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 hiện khắc phục lỗi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 hóa ngân hàng giải pháp nguyên nhân gốc rễ trên QMS.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Times New Roman" panose="02020603050405020304" pitchFamily="18" charset="0"/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Đào tạo và cung cấp checklist tự kiểm tra cho đội ngũ dự án.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  <a:tr h="99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Hủy phê duyệt cổng chất lượng, Cập nhật FPT QMS và Xem xét kết quả sai lệch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nghiêm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(NC)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SV.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SV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1299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 lỗi (Fix NC) và Yêu cầu Re-audit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(Rework)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đúng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Peer Review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140571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 báo cáo lên BOD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SV/EV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680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261756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7EAA4-C2EB-DD3E-283E-3C055BD2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ACA6CB-3706-4AC8-1C08-825EF3D70933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E1834BE-E957-4D76-2131-1F5F9BECEEEC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F642F07-68B2-50A1-1C33-88E59FE1CCC1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083123-D72F-6E8D-B341-90078C2B2F60}"/>
              </a:ext>
            </a:extLst>
          </p:cNvPr>
          <p:cNvSpPr txBox="1"/>
          <p:nvPr/>
        </p:nvSpPr>
        <p:spPr>
          <a:xfrm>
            <a:off x="2971800" y="519461"/>
            <a:ext cx="118872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(GTGT)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C75AC17-6FF6-C7C1-36CF-89DE28C245E2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F29767EA-D84B-E643-DDBE-078374A51415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586D9C-8B7D-0C5B-A8FA-CED29D872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885973"/>
              </p:ext>
            </p:extLst>
          </p:nvPr>
        </p:nvGraphicFramePr>
        <p:xfrm>
          <a:off x="1371600" y="1409700"/>
          <a:ext cx="15544800" cy="7850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93131642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6194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91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BOD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cắt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nghiêm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ty.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BOD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kịp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5014083"/>
                  </a:ext>
                </a:extLst>
              </a:tr>
              <a:tr h="916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 hiện kiểm tra CL cuối cùng 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vi-VN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Inspection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bắt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 động tổng hợp kết quả kiểm thử từ hệ thống CI/CD.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 lỗi mã nguồn / tài liệu nội bộ và thông báo kiểm tra lại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khiếm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khuyết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Siết chặt tiêu chí Definition of Done (DoD) tại các Sprint.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Phê duyệt xuất xưởng &amp; Bàn giao KH - yêu cầu nghiệm thu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Ký số biên bản bàn giao trực tiếp trên hệ thống số hóa.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 hàng thực hiện nghiệm thu (UAT)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 cấp môi trường UAT chuẩn và tài liệu hướng dẫn trực quan.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  <a:tr h="99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 nhận kết quả UAT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Thu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 hàng xác nhận trực tiếp qua cổng giao tiếp điện tử.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1299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 nhật trạng thái "Chưa bàn giao" trên FPT QMS &amp; Kiểm tra ngưỡng EV &amp; Leakage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chiếu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lệch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tỷ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chiếu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140571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CAPA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QMS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phòng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ngừa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bug (Jira).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680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72583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9EE3-00B1-FC4A-2FB2-06132857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651801-05A0-0B13-3E61-9AD3D3AE1986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5447BE7-111F-26E1-02BA-D723AED57E4F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DE2AC9-A4F5-40FC-E973-C455CD8FB4F5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8DCAB4-B619-5C32-20EE-4D5B0570E9CB}"/>
              </a:ext>
            </a:extLst>
          </p:cNvPr>
          <p:cNvSpPr txBox="1"/>
          <p:nvPr/>
        </p:nvSpPr>
        <p:spPr>
          <a:xfrm>
            <a:off x="2971800" y="519461"/>
            <a:ext cx="120396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(GTGT)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EAC22CF-C350-E5EF-D005-161F23FF20BC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C260B9AB-A30C-4016-DB5A-C3F5861A2A17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255A25-DB96-5D79-1526-5842FFB27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526882"/>
              </p:ext>
            </p:extLst>
          </p:nvPr>
        </p:nvGraphicFramePr>
        <p:xfrm>
          <a:off x="1371600" y="1629770"/>
          <a:ext cx="15544800" cy="374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93131642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6194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9924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(Rework)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Team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nguồn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lọt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tầng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Nâng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(Unit/Integration Test).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37246910"/>
                  </a:ext>
                </a:extLst>
              </a:tr>
              <a:tr h="9924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Ban SEPG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đóng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gói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PAL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 động đồng bộ báo cáo CAPA xuất sắc vào kho dữ liệu SEPG.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1151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vi-V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Đóng gói tri thức vào thư viện PAL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SEPG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BVA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CMMI Level 5.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kiếm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970644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2702-E3C8-B035-FE0B-03609D43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78FEF9-313D-BAA2-FB1A-91133A790E69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0FC5ACC-762F-9CAA-E3BE-BA088E1A9291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55282D-0C08-8D08-D5BF-A09FDCF8677E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C67893-105F-C1A6-859A-7216AE6B1F2D}"/>
              </a:ext>
            </a:extLst>
          </p:cNvPr>
          <p:cNvSpPr txBox="1"/>
          <p:nvPr/>
        </p:nvSpPr>
        <p:spPr>
          <a:xfrm>
            <a:off x="2971800" y="519461"/>
            <a:ext cx="137922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6FBE539-0B77-4D2F-84C5-AAC16E30BB55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231D3208-2078-42AF-AFE2-E075D16EE53B}"/>
              </a:ext>
            </a:extLst>
          </p:cNvPr>
          <p:cNvSpPr txBox="1"/>
          <p:nvPr/>
        </p:nvSpPr>
        <p:spPr>
          <a:xfrm>
            <a:off x="6600564" y="9786901"/>
            <a:ext cx="5086871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4.2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BPMN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E8739F90-F7FC-C897-DD2C-560B76FCACF5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D43F9-EF22-C264-6BDB-28433C4303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357" y="1295772"/>
            <a:ext cx="10797283" cy="84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80290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5D8A-C9F9-A4C0-1467-F28CD836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8B1615-FA13-14AB-E9E5-25A005217155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303C23-E55C-B123-32B3-209496C60CF5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EB883C-D96F-12D6-58A9-4F101BAF47EC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A130313-D60D-7042-0A0E-5E83680576DB}"/>
              </a:ext>
            </a:extLst>
          </p:cNvPr>
          <p:cNvSpPr txBox="1"/>
          <p:nvPr/>
        </p:nvSpPr>
        <p:spPr>
          <a:xfrm>
            <a:off x="2971800" y="519461"/>
            <a:ext cx="13487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EEFAD9C-950E-5957-5177-7448553346DA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A4EC5025-5774-7472-7976-7A438146604E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23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A880E5F-7442-B80E-DCB6-4285B067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54291"/>
              </p:ext>
            </p:extLst>
          </p:nvPr>
        </p:nvGraphicFramePr>
        <p:xfrm>
          <a:off x="1371600" y="2078209"/>
          <a:ext cx="15544800" cy="769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09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CL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(PM)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khởi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 thống FPT QMS tự động đồng bộ và kích hoạt hồ sơ kiểm soát ngay khi dự án được tạo trên ERP.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89732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[Transp. / Motion]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CL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Chuyên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tin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bổ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phụ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[Motion]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Phối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HĐ, Hiệu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QT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QA Plan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cứu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giữa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Thư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PAL, Jira)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Tích hợp công cụ gợi ý mẫu Tailoring tự động dựa trên mô hình phát triển và tự động sinh bản thảo QA Plan.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77732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QT &amp; QA Plan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Tailoring sang Ban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thẩm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 động chuyển trạng thái luồng hồ sơ (Auto-routing) sang hàng đợi của FQC ngay khi SQA hoàn tất.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[Transp. / Motion]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 động phân phối vào danh sách thẩm định theo cơ chế Round-Robin cho kiểm toán viên FQC.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129906"/>
                  </a:ext>
                </a:extLst>
              </a:tr>
              <a:tr h="112592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QPPOs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FQC gửi thông báo yêu cầu PM khai báo bộ chỉ số cam kết QPPOs sau khi đã phê duyệt phương án.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form cam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ngay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140571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BOD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gửi văn bản báo cáo cảnh báo sự cố vi phạm vượt ngưỡng kiểm soát lên Ban Giám đốc.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thì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Email/Teams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kèm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chặn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68071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F7812E6-A60D-5324-2CDE-DF8CD1AD3882}"/>
              </a:ext>
            </a:extLst>
          </p:cNvPr>
          <p:cNvSpPr txBox="1"/>
          <p:nvPr/>
        </p:nvSpPr>
        <p:spPr>
          <a:xfrm>
            <a:off x="1270416" y="1604298"/>
            <a:ext cx="1531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BẢNG 4.2.1: BẢNG PHÂN TÍCH SỰ LÃNG PHÍ (NHÓM MOVE – DI CHUYỂN)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54988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C610-4CEA-A972-FD98-DDDF6C2A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D8FCC9-3ABD-62FB-46A4-40009D467384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B1F960-040E-13C3-D658-678C79066083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85D93D-D822-0916-2F03-C9A7DF15A3E7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79F457-223F-148D-2BB7-60BB377830BD}"/>
              </a:ext>
            </a:extLst>
          </p:cNvPr>
          <p:cNvSpPr txBox="1"/>
          <p:nvPr/>
        </p:nvSpPr>
        <p:spPr>
          <a:xfrm>
            <a:off x="2971800" y="519461"/>
            <a:ext cx="13487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EEF0DDC-9B4B-DCF7-5D70-0E0F6A3EDFB4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2850CF5E-982E-53A2-CBEF-426BE891B1ED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24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2C3D3AB-F39B-9480-45E2-A49AE252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451287"/>
              </p:ext>
            </p:extLst>
          </p:nvPr>
        </p:nvGraphicFramePr>
        <p:xfrm>
          <a:off x="1371600" y="1409700"/>
          <a:ext cx="1554480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b="1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b="1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b="1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2210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KH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xưởng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build/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(Client Portal)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quyền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truy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build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343046"/>
                  </a:ext>
                </a:extLst>
              </a:tr>
              <a:tr h="12210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112592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[Transportation]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SEPG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đóng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gói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PAL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(CAPA)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sắc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Ban SEPG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CAPA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đóng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gói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SEPG.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752295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322F-62DD-7168-E1F5-4FB2F7B2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48DF2C-9FF2-FFA1-2D82-6234409873AC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BAE732-3350-8128-5CDE-A74303454EC0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7D31AF0-EC3B-2A70-7A41-7FEAEFCA9C15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03945C9-56A9-D7E7-E561-F7B97465F08F}"/>
              </a:ext>
            </a:extLst>
          </p:cNvPr>
          <p:cNvSpPr txBox="1"/>
          <p:nvPr/>
        </p:nvSpPr>
        <p:spPr>
          <a:xfrm>
            <a:off x="2971800" y="519461"/>
            <a:ext cx="132588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EC2B52E-56EB-2BB1-CFE1-698441B5A0B9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D0908C2A-5046-CB62-AB13-29A387EE4714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25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D236587-3EA6-F445-5D05-B392038F0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425578"/>
              </p:ext>
            </p:extLst>
          </p:nvPr>
        </p:nvGraphicFramePr>
        <p:xfrm>
          <a:off x="1371600" y="2078209"/>
          <a:ext cx="15544800" cy="4970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09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[Waiting]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thẩm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SLA 24h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đoạn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nằm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Ban FQC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xem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24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Áp dụng chính sách duyệt tự động (Auto-approval) cho các dự án áp dụng quy trình chuẩn khung.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106701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[Waiting]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QPPOs &amp; Test Plan - SLA 24h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Quản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(PM)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Cho phép kế thừa tự động bộ chỉ số chuẩn từ Baseline lịch sử của các dự án tương đồng.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[Inventory / WIP]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Quality Gates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nguồn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dang (WIP)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ứ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SQA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Giới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WIP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Kanban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Continuous Inspection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CI/CD.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[Waiting]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Chờ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 phẩm đã hoàn thiện nhưng phải chờ đợi đối tác/khách hàng sắp xếp nhân sự chạy nghiệm thu.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lịch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 chi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5EE2891-C900-913C-A5C9-ACA51FDF8415}"/>
              </a:ext>
            </a:extLst>
          </p:cNvPr>
          <p:cNvSpPr txBox="1"/>
          <p:nvPr/>
        </p:nvSpPr>
        <p:spPr>
          <a:xfrm>
            <a:off x="1270416" y="1604298"/>
            <a:ext cx="1531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4.2.2: BẢNG PHÂN TÍCH SỰ LÃNG PHÍ (NHÓM HOLD – GIỮ LẠI)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69204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8007-B61B-46A3-E795-AA105F3C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2DBBAA-6C8F-4833-32A9-BE039840CCAB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9385A1-AF91-585C-977F-FDB44BCD3A52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CF48B8-2341-8C20-4188-9F8F3C6952E0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B52625-17D8-41DC-4391-62C53C80AB27}"/>
              </a:ext>
            </a:extLst>
          </p:cNvPr>
          <p:cNvSpPr txBox="1"/>
          <p:nvPr/>
        </p:nvSpPr>
        <p:spPr>
          <a:xfrm>
            <a:off x="2971800" y="519461"/>
            <a:ext cx="1361106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471A8AC-8CE2-65F8-17B6-3544F09E61B9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3CD659A-5BC7-AAF0-5646-215ADFFD89E4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FBAA9E-818D-FC1F-B05A-C4E8E6A50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03334"/>
              </p:ext>
            </p:extLst>
          </p:nvPr>
        </p:nvGraphicFramePr>
        <p:xfrm>
          <a:off x="1371600" y="2078209"/>
          <a:ext cx="15544800" cy="7942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09506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[Defects]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Vòng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lặp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RCA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sót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Project Team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gốc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rễ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Cung cấp sẵn checklist tự kiểm tra chất lượng nội bộ cho Dev/Tester trước khi gọi kiểm toán.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1067018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[Over-processing]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NC &amp;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Hủy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Quality Gate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hủy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QMS.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(Gate-blocking)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SV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ngay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NC.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[Defects]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Vòng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lặp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NC &amp; Re-audit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(Rework)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cam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chéo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(Peer Review)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nghiêm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ngặt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thẩm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[Over-processing]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Hủy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SLA (Over-processing)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Toàn bộ công sức chuẩn bị hồ sơ bị hủy bỏ khi FQC từ chối hoặc PM nộp chậm quá 24h (End Event 2 &amp; 3).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SLA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thúc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đẩy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đúng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[Defects]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Final Inspection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 phẩm phát sinh khiếm khuyết nội bộ trước khi xuất xưởng, buộc phải lặp lại việc sửa code và kiểm tra.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(Unit Test / Automation Test)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siết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chặt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Definition of Done (DoD).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776364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[Defects]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UAT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nghiêm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Vòng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lặp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CAPA &amp; Rework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Sản phẩm bị lọt lỗi đến tay khách hàng, buộc dự án phải lập CAPA, sửa lại mã nguồn và kiểm thử lại từ đầu.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trường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Staging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Production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674907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[Over-processing]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”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SQA phải thao tác thủ công trên hệ thống để hoàn tác trạng thái và đối chiếu các ngưỡng sai lệch EV/Leakage.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QMS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chiếu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ngưỡng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chặn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489035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CEE0A16-D27E-81C3-6946-C8B20CB481EB}"/>
              </a:ext>
            </a:extLst>
          </p:cNvPr>
          <p:cNvSpPr txBox="1"/>
          <p:nvPr/>
        </p:nvSpPr>
        <p:spPr>
          <a:xfrm>
            <a:off x="1270416" y="1604298"/>
            <a:ext cx="1531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4.2.3: BẢNG PHÂN TÍCH LÃNG PHÍ (NHÓM OVERDO – LÀM QUÁ MỨC)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65109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7254-B0AE-5F17-4028-74984A6A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007BBD-642D-0F89-27A3-B2D11C53F0AA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96414B9-726E-A616-74B1-F0D3690D1113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530B3C-D893-D487-C8E0-3D947756437A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A2AB34B-1B93-90FF-E136-EBE475F177BB}"/>
              </a:ext>
            </a:extLst>
          </p:cNvPr>
          <p:cNvSpPr txBox="1"/>
          <p:nvPr/>
        </p:nvSpPr>
        <p:spPr>
          <a:xfrm>
            <a:off x="2971800" y="519461"/>
            <a:ext cx="13106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(SỰ LÃNG PHÍ)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E6838AC-FADF-FDE3-FC07-CBCC58AD3F0F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FB31C20E-E29E-6844-654E-E53E5F3631C1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27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4C9600-9416-362C-7C62-8C49C59A2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135461"/>
              </p:ext>
            </p:extLst>
          </p:nvPr>
        </p:nvGraphicFramePr>
        <p:xfrm>
          <a:off x="1371600" y="2078209"/>
          <a:ext cx="15544800" cy="1617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18976505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Khắc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09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[Over-production]</a:t>
                      </a:r>
                      <a:endParaRPr lang="vi-V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End Event 4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mã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nguồn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đó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trở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lãng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sớm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(Early Warning System)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đồ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SPC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can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thiệp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kịp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80200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6FBD-7227-3BB8-C68D-2B74439F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BE5207-D988-A064-10B0-FE26FCBFA900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F7655D-6643-32ED-E53B-E86EDCDCD0E3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0B14DF1-E87C-5546-3E65-515AD7E72612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1004D0-D838-E6FD-E32D-E77ECB03560A}"/>
              </a:ext>
            </a:extLst>
          </p:cNvPr>
          <p:cNvSpPr txBox="1"/>
          <p:nvPr/>
        </p:nvSpPr>
        <p:spPr>
          <a:xfrm>
            <a:off x="2971800" y="519461"/>
            <a:ext cx="134112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(CÁC BÊN LQ)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768DE29-9118-242F-3A21-B21BFB224E07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9806846C-279B-BD50-CAD2-7D1EAA3CE82B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28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CE2648-6953-3794-17D5-CB87BD00F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22149"/>
              </p:ext>
            </p:extLst>
          </p:nvPr>
        </p:nvGraphicFramePr>
        <p:xfrm>
          <a:off x="2075054" y="2111959"/>
          <a:ext cx="14137892" cy="4970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4552">
                  <a:extLst>
                    <a:ext uri="{9D8B030D-6E8A-4147-A177-3AD203B41FA5}">
                      <a16:colId xmlns:a16="http://schemas.microsoft.com/office/drawing/2014/main" val="199948940"/>
                    </a:ext>
                  </a:extLst>
                </a:gridCol>
                <a:gridCol w="7233340">
                  <a:extLst>
                    <a:ext uri="{9D8B030D-6E8A-4147-A177-3AD203B41FA5}">
                      <a16:colId xmlns:a16="http://schemas.microsoft.com/office/drawing/2014/main" val="3509355846"/>
                    </a:ext>
                  </a:extLst>
                </a:gridCol>
              </a:tblGrid>
              <a:tr h="607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bên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liên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</a:t>
                      </a:r>
                      <a:endParaRPr lang="vi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Mối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tâm</a:t>
                      </a:r>
                      <a:endParaRPr lang="vi-VN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172324"/>
                  </a:ext>
                </a:extLst>
              </a:tr>
              <a:tr h="1009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(Client/PO)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 ngại về chất lượng phần mềm, tỷ lệ lọt lỗi nghiệm thu (Defect Leakage) và việc bàn giao chậm tiến độ.</a:t>
                      </a:r>
                      <a:endParaRPr lang="vi-VN" sz="1800" b="0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5446966"/>
                  </a:ext>
                </a:extLst>
              </a:tr>
              <a:tr h="106701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ngũ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(PM, Dev, Tester)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lực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(SLA 24h),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sửa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(Rework)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nguy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vượt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trần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ngân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(SV, EV).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157149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Chuyên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Đảm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bảo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(SQA &amp; FQC)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Đảm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bảo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tuân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thủ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tuyệt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CMMI Level 5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cổng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Quality Gates.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395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Giám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đốc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(BOD) &amp; Ban SEPG</a:t>
                      </a:r>
                      <a:endParaRPr lang="vi-VN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thiểu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rủi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hủy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tri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cải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(CAPA)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Thư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viện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PAL.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0777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688698A-EF89-C636-BD2D-C7668532A987}"/>
              </a:ext>
            </a:extLst>
          </p:cNvPr>
          <p:cNvSpPr txBox="1"/>
          <p:nvPr/>
        </p:nvSpPr>
        <p:spPr>
          <a:xfrm>
            <a:off x="2075054" y="1629770"/>
            <a:ext cx="14507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4.3: BẢNG PHÂN TÍCH CÁC BÊN LIÊN QUAN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007609"/>
      </p:ext>
    </p:extLst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5DB9-7F07-7C47-D5E4-1A66D440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859BFA-83FB-7B14-66A8-A05075B91E25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03B12C-923F-A340-1738-26ACF2370C33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DF6356-9E68-D9FD-6BF9-FB4310A75AA5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D77AE3-5531-108A-F4A3-94434D1EB00B}"/>
              </a:ext>
            </a:extLst>
          </p:cNvPr>
          <p:cNvSpPr txBox="1"/>
          <p:nvPr/>
        </p:nvSpPr>
        <p:spPr>
          <a:xfrm>
            <a:off x="2971800" y="519461"/>
            <a:ext cx="133350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TÍNH  (CÁC BÊN LQ)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F9031C2-176A-2D11-68EC-DAB77125AA31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E06C6563-6A84-8528-A80C-9ABF593ABAA4}"/>
              </a:ext>
            </a:extLst>
          </p:cNvPr>
          <p:cNvSpPr txBox="1"/>
          <p:nvPr/>
        </p:nvSpPr>
        <p:spPr>
          <a:xfrm>
            <a:off x="6599321" y="7634097"/>
            <a:ext cx="5086871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4.3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(Fishbone Diagram)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DAAAE4AB-13C3-BB7D-0A24-5DA8F5B873E6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29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F0280-6099-FB78-C1EF-0DA5F3604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07298"/>
            <a:ext cx="16151915" cy="50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65006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DE34-0990-A6EB-080B-DE4F0B1F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4E87C6-C0A7-E03C-7C36-A25ACB7055FD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1848D2-BF69-1E92-81ED-9C6A7CF38C24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C906E57-AB25-193C-B166-E1EECF781DCE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06AF40-64F1-5450-6EB1-9344A102D408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6F41621-AAF5-26D5-BB2C-FB58C878FF8D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A2D30120-6D44-1F3E-0A71-CA525F291348}"/>
              </a:ext>
            </a:extLst>
          </p:cNvPr>
          <p:cNvSpPr txBox="1"/>
          <p:nvPr/>
        </p:nvSpPr>
        <p:spPr>
          <a:xfrm>
            <a:off x="3102926" y="9892690"/>
            <a:ext cx="550583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4.4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BPMN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78A0ACCD-917F-31D7-2F72-2D3FF74434A4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30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2F73DF92-5C68-8422-E0EF-7676C2AFCC15}"/>
              </a:ext>
            </a:extLst>
          </p:cNvPr>
          <p:cNvSpPr txBox="1"/>
          <p:nvPr/>
        </p:nvSpPr>
        <p:spPr>
          <a:xfrm>
            <a:off x="11734799" y="1700309"/>
            <a:ext cx="6333357" cy="605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Hiệu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5488" lvl="0" indent="-342900" algn="l">
              <a:lnSpc>
                <a:spcPts val="393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Thời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gian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xử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lý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: </a:t>
            </a:r>
            <a:b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</a:b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PT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1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= 1.0 + 0.5 + 5.0 + 0.5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7.0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giờ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725488" lvl="0" indent="-342900" algn="l">
              <a:lnSpc>
                <a:spcPts val="393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Thời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gian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chu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kỳ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:</a:t>
            </a:r>
            <a:b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</a:b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CT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1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= 1.0 + 0.5 + 5.0 + 0.5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7.0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giờ</a:t>
            </a:r>
            <a:b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</a:b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(FQC)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QPPOs</a:t>
            </a:r>
            <a:endParaRPr 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5488" lvl="0" indent="-342900">
              <a:lnSpc>
                <a:spcPts val="393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Thời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gian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xử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lý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: </a:t>
            </a:r>
            <a:b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</a:b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PT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= 0.5 + 2.0 + (0.05 * 0.5) + 0.95 * [0.2 + (0.98 * 3.0 + 0.02 * 0.5)]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5.52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giờ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  <a:p>
            <a:pPr marL="725488" lvl="0" indent="-342900">
              <a:lnSpc>
                <a:spcPts val="393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Thời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gian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chu </a:t>
            </a:r>
            <a:r>
              <a:rPr lang="en-US" sz="20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kỳ</a:t>
            </a: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:</a:t>
            </a:r>
            <a:b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</a:br>
            <a:r>
              <a:rPr lang="en-US" sz="20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	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CT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= 0.5 + 24.0 + (0.05 * 0.5) + 0.95 * [0.2 + (0.98 * 24.0 + 0.02 * 0.5)]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47.07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giờ</a:t>
            </a:r>
            <a:endParaRPr lang="en-US" sz="2460" dirty="0">
              <a:solidFill>
                <a:srgbClr val="004AAD"/>
              </a:solidFill>
              <a:latin typeface="Kodchasan"/>
              <a:ea typeface="Kodchasan"/>
              <a:cs typeface="Kodchasan"/>
              <a:sym typeface="Kodchas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59984B-2823-644D-FB3F-E6814DE499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2" y="1252054"/>
            <a:ext cx="11067957" cy="86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8512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526F-B4CF-9AA7-9250-6D280948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35EB8F-7300-D663-2498-6D8E845C8FEC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DEDD24-68CE-BE79-49B8-33BFA3BF25AA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1317433-82D6-B787-CB22-F48AADE9708E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51BDEBA-15F1-F8C6-8C1E-BD1A958E9609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D4ADC73-885D-EFBA-531C-D7A0CDA7EB4D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C2D972DA-BFEE-E1DD-D760-20B046F90968}"/>
              </a:ext>
            </a:extLst>
          </p:cNvPr>
          <p:cNvSpPr txBox="1"/>
          <p:nvPr/>
        </p:nvSpPr>
        <p:spPr>
          <a:xfrm>
            <a:off x="3102926" y="9892690"/>
            <a:ext cx="550583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4.4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BPMN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endParaRPr lang="en-US" sz="2000" b="1" u="none" strike="noStrike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C1AE0E96-0D22-5B9A-5B27-E9E5779C0B78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CE3148AF-4337-E497-9025-0AB14B19D87D}"/>
                  </a:ext>
                </a:extLst>
              </p:cNvPr>
              <p:cNvSpPr txBox="1"/>
              <p:nvPr/>
            </p:nvSpPr>
            <p:spPr>
              <a:xfrm>
                <a:off x="11734799" y="1700309"/>
                <a:ext cx="6333357" cy="78602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Quality Gates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xử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lý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 </a:t>
                </a:r>
                <a:b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</a:b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PT</a:t>
                </a:r>
                <a:r>
                  <a:rPr lang="en-US" sz="20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3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4.0+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Kodchas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Kodchasan"/>
                              </a:rPr>
                              <m:t>0.20 ∗ 35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 + 0.10 ∗ 0.5 +(0.08  ∗  6.0)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1 − 0.08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+0.02 ∗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1.0+1.0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𝟓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.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𝟕𝟐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𝐠𝐢</m:t>
                    </m:r>
                    <m:r>
                      <a:rPr lang="en-US" sz="20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ờ</m:t>
                    </m:r>
                  </m:oMath>
                </a14:m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chu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kỳ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</a:t>
                </a:r>
                <a:b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</a:b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CT</a:t>
                </a:r>
                <a:r>
                  <a:rPr lang="en-US" sz="20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3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8.0 + (0.20  ∗ 3.5) + 0.05 + 0.48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0.92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+0.04=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𝟏𝟎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.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𝟎𝟕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𝐠𝐢</m:t>
                    </m:r>
                    <m:r>
                      <a:rPr lang="en-US" sz="20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382588" lvl="0">
                  <a:lnSpc>
                    <a:spcPts val="3937"/>
                  </a:lnSpc>
                  <a:spcBef>
                    <a:spcPct val="0"/>
                  </a:spcBef>
                </a:pP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4: Final Inspection, UAT &amp;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Đóng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gói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CAPA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xử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lý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 </a:t>
                </a:r>
                <a:b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</a:b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PT</a:t>
                </a:r>
                <a:r>
                  <a:rPr lang="en-US" sz="20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4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𝟐𝟐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.</m:t>
                    </m:r>
                    <m:r>
                      <a:rPr lang="en-US" sz="20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𝟓𝟓</m:t>
                    </m:r>
                    <m:r>
                      <a:rPr lang="en-US" sz="20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 </m:t>
                    </m:r>
                    <m:r>
                      <a:rPr lang="en-US" sz="20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𝐠𝐢</m:t>
                    </m:r>
                    <m:r>
                      <a:rPr lang="en-US" sz="20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ờ</m:t>
                    </m:r>
                  </m:oMath>
                </a14:m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chu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kỳ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</a:t>
                </a:r>
                <a:b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</a:b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CT</a:t>
                </a:r>
                <a:r>
                  <a:rPr lang="en-US" sz="20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4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8.55</m:t>
                    </m:r>
                    <m:r>
                      <a:rPr lang="en-US" sz="20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 </m:t>
                    </m:r>
                    <m:r>
                      <a:rPr lang="en-US" sz="20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𝐠𝐢</m:t>
                    </m:r>
                    <m:r>
                      <a:rPr lang="en-US" sz="20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382588" lvl="0">
                  <a:lnSpc>
                    <a:spcPts val="3937"/>
                  </a:lnSpc>
                  <a:spcBef>
                    <a:spcPct val="0"/>
                  </a:spcBef>
                </a:pP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xử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lý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PT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1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PT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2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PT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3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PT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4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40.79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giờ</a:t>
                </a:r>
                <a:endPara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Thời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gian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CK = CT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1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CT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2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CT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3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+ CT</a:t>
                </a:r>
                <a:r>
                  <a:rPr lang="en-US" sz="2000" baseline="-25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4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= 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102.69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giờ</a:t>
                </a:r>
                <a:endPara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lnSpc>
                    <a:spcPts val="393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i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Độ</a:t>
                </a:r>
                <a:r>
                  <a:rPr lang="en-US" sz="2000" b="1" i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b="1" i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hiệu</a:t>
                </a:r>
                <a:r>
                  <a:rPr lang="en-US" sz="2000" b="1" i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</a:t>
                </a:r>
                <a:r>
                  <a:rPr lang="en-US" sz="2000" b="1" i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quả</a:t>
                </a:r>
                <a:r>
                  <a:rPr lang="en-US" sz="2000" b="1" i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 CK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𝟒𝟎</m:t>
                        </m:r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𝟕𝟗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𝟏𝟎𝟐</m:t>
                        </m:r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Kodchasan"/>
                          </a:rPr>
                          <m:t>𝟔𝟗</m:t>
                        </m:r>
                      </m:den>
                    </m:f>
                    <m:r>
                      <a:rPr lang="en-US" sz="2000" b="1" i="1" smtClean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𝟑𝟗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.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𝟕𝟐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Kodchasan"/>
                      </a:rPr>
                      <m:t>%</m:t>
                    </m:r>
                  </m:oMath>
                </a14:m>
                <a:endParaRPr lang="en-US" sz="2000" b="1" i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</p:txBody>
          </p:sp>
        </mc:Choice>
        <mc:Fallback xmlns="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CE3148AF-4337-E497-9025-0AB14B19D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799" y="1700309"/>
                <a:ext cx="6333357" cy="7860293"/>
              </a:xfrm>
              <a:prstGeom prst="rect">
                <a:avLst/>
              </a:prstGeom>
              <a:blipFill>
                <a:blip r:embed="rId3"/>
                <a:stretch>
                  <a:fillRect l="-2214" t="-1009" r="-1925" b="-93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6AEF447-7C20-B2CE-C501-8101C34370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1" y="1252053"/>
            <a:ext cx="11067959" cy="861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89824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662C-ECCE-2386-760B-97BAFBF8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B68910-5960-7672-52C8-340EEC70E531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914F172-DABF-0E8D-7FFD-9BCE7F1185AD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0EC8E28-A740-1F5A-DCEF-0021F754D721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26CB1C-2E27-A125-785C-FE84A9DFCAD0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FE5AA85-77B4-E25E-300D-8BDB2E8099FF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D0BEB406-C09C-6DC3-A321-2B02F0CA41C5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EF5D49B9-9D26-F619-DAB0-C59BC04479C9}"/>
                  </a:ext>
                </a:extLst>
              </p:cNvPr>
              <p:cNvSpPr txBox="1"/>
              <p:nvPr/>
            </p:nvSpPr>
            <p:spPr>
              <a:xfrm>
                <a:off x="1066800" y="2025253"/>
                <a:ext cx="16383000" cy="64660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chính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First-Pass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Yield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𝐅𝐏𝐘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- Tỷ lệ đạt ngay lần đầu)</a:t>
                </a:r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dự án đi qua toàn bộ các cổng thẩm định, kiểm toán và nghiệm thu mà không mắc bất kỳ lỗi nào cần làm lại (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Rework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Rework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/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Loop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Rates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(Tỷ lệ lặp lại/làm lại)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  <a:sym typeface="Kodchasan"/>
                  </a:rPr>
                  <a:t>: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lỗi thường trong kiểm toán SQA: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audit_normal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20%</m:t>
                    </m:r>
                  </m:oMath>
                </a14:m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lỗi không tuân thủ nghiêm trọng (NC) trong giới hạn: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audit_NC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8%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lỗi kiểm tra xuất xưởng (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Final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Inspection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Fail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final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lỗi bàn giao khách hàng (UAT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Fail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uat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8%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.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Drop-out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Termination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Rates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(Tỷ lệ hủy/dừng dự án khẩn cấp)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Kodchasan"/>
                  </a:rPr>
                  <a:t>: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FQC từ chối / Quá hạn SLA 24h: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cancel_FQC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(gồm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3%</m:t>
                    </m:r>
                    <m:r>
                      <a:rPr lang="en-US" sz="2000" b="0" i="0" smtClean="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 chối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+2%</m:t>
                    </m:r>
                    <m:r>
                      <a:rPr lang="en-US" sz="2000" b="0" i="0" smtClean="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 SLA).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PM không nộp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QPPOs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quá 24h: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cancel_PM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BOD dừng khẩn cấp do lệch SV/EV vượt ngưỡng: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stop_BOD</m:t>
                        </m:r>
                      </m:sub>
                    </m:sSub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=2%+2%=</m:t>
                    </m:r>
                    <m:r>
                      <a:rPr lang="vi-VN" sz="20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Leakage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(Tỷ lệ lọt lỗi ra khách hàng):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Tỷ lệ phát hiện lỗi tại khâu UAT so với tổng các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đợt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kiểm tra.</a:t>
                </a:r>
              </a:p>
              <a:p>
                <a:pPr marL="1182688" lvl="1" indent="-34290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</p:txBody>
          </p:sp>
        </mc:Choice>
        <mc:Fallback xmlns="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EF5D49B9-9D26-F619-DAB0-C59BC0447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25253"/>
                <a:ext cx="16383000" cy="6466001"/>
              </a:xfrm>
              <a:prstGeom prst="rect">
                <a:avLst/>
              </a:prstGeom>
              <a:blipFill>
                <a:blip r:embed="rId3"/>
                <a:stretch>
                  <a:fillRect l="-856" t="-1225" r="-4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2CE9C51-8669-2454-6C0A-A411571CE338}"/>
              </a:ext>
            </a:extLst>
          </p:cNvPr>
          <p:cNvSpPr txBox="1"/>
          <p:nvPr/>
        </p:nvSpPr>
        <p:spPr>
          <a:xfrm>
            <a:off x="2971800" y="1188474"/>
            <a:ext cx="8380807" cy="73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tích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chất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i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</p:txBody>
      </p:sp>
    </p:spTree>
    <p:extLst>
      <p:ext uri="{BB962C8B-B14F-4D97-AF65-F5344CB8AC3E}">
        <p14:creationId xmlns:p14="http://schemas.microsoft.com/office/powerpoint/2010/main" val="3392536319"/>
      </p:ext>
    </p:extLst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ECA7-97C2-CB0B-69A7-62AA5D92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773E9C-43D6-A4C5-7F99-7DDF53AEC94A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931C41-3E05-DE53-5EBF-FA49877153A5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2F78CC9-6894-3696-9F8D-E9E85D7B541D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7C31028-204B-329F-9B5B-4AD70A109DC0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FD67254-6AF4-1FD7-050B-D985C419A5C5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D0666236-2C68-CFDB-DBE4-7CB9A90FA83A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6BC6E50C-EA40-5C2C-9503-DF33CE0A19C5}"/>
                  </a:ext>
                </a:extLst>
              </p:cNvPr>
              <p:cNvSpPr txBox="1"/>
              <p:nvPr/>
            </p:nvSpPr>
            <p:spPr>
              <a:xfrm>
                <a:off x="1066800" y="2202786"/>
                <a:ext cx="16383000" cy="64093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First-Pass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Yield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𝐹𝑃𝑌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toàn trình)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: 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𝐅𝐏𝐘</m:t>
                    </m:r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FQC Pass</m:t>
                        </m:r>
                      </m:e>
                    </m:d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QPPOs Đúng hạn</m:t>
                        </m:r>
                      </m:e>
                    </m:d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Kiểm toán Đạt</m:t>
                        </m:r>
                      </m:e>
                    </m:d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Final Đạt</m:t>
                        </m:r>
                      </m:e>
                    </m:d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 sz="2000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UAT Pass</m:t>
                        </m:r>
                      </m:e>
                    </m:d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𝟓𝟐</m:t>
                    </m:r>
                    <m:r>
                      <a:rPr lang="vi-VN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𝟕𝟗</m:t>
                    </m:r>
                    <m:r>
                      <a:rPr lang="vi-VN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b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</a:b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  =&gt;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𝟓𝟐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𝟕𝟗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%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ự á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đ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qua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quy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tr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ì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nh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đạ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chu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ẩ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kh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ô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ng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ầ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ch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ỉ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nh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ử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ho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ặ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ị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ch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ậ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m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tr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ễ. </m:t>
                    </m:r>
                  </m:oMath>
                </a14:m>
                <a:br>
                  <a:rPr lang="en-US" sz="2000" b="0" i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</a:br>
                <a:r>
                  <a:rPr lang="en-US" sz="2000" b="0" i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𝟒𝟕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𝟐𝟏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%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ự á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ò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ạ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ph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tr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qua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í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nh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ấ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1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ò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ng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ử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/rework ho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ặ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g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ặ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ự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ố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ừ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ng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kh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ẩ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ấ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p</m:t>
                    </m:r>
                  </m:oMath>
                </a14:m>
                <a:endPara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725488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bàn giao thành công cuối cùng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Overall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Process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Yield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𝑂𝑃𝑌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: 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vi-VN" sz="2000" b="1" i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𝐎𝐏𝐘</m:t>
                    </m:r>
                    <m:r>
                      <a:rPr lang="vi-VN" sz="2000" i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1−0.05</m:t>
                        </m:r>
                      </m:e>
                    </m:d>
                    <m:r>
                      <a:rPr lang="vi-VN" sz="2000" i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1−0.02</m:t>
                        </m:r>
                      </m:e>
                    </m:d>
                    <m:r>
                      <a:rPr lang="vi-VN" sz="2000" i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vi-VN" sz="2000" i="0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1−0.04</m:t>
                        </m:r>
                      </m:e>
                    </m:d>
                    <m:r>
                      <a:rPr lang="vi-VN" sz="2000" i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=0.95×0.98×0.96=</m:t>
                    </m:r>
                    <m:r>
                      <a:rPr lang="vi-VN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𝟖𝟗</m:t>
                    </m:r>
                    <m:r>
                      <a:rPr lang="vi-VN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𝟑𝟖</m:t>
                    </m:r>
                    <m:r>
                      <a:rPr lang="vi-VN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% </m:t>
                    </m:r>
                  </m:oMath>
                </a14:m>
                <a:endParaRPr lang="vi-V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725488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Tỷ lệ lọt lỗi ra ngoài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Defect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Leakage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: 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Defect Leakage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Lỗi tại UAT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Lỗi tại Final</m:t>
                        </m:r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Lỗi tại UAT</m:t>
                        </m:r>
                      </m:den>
                    </m:f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0.10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ea typeface="Kodchasan"/>
                            <a:cs typeface="Times New Roman" panose="02020603050405020304" pitchFamily="18" charset="0"/>
                          </a:rPr>
                          <m:t>0.10+0.10</m:t>
                        </m:r>
                      </m:den>
                    </m:f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𝟎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% 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vi-V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 pháp khắc phục về Chất lượng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Chuẩn hóa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Checklist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trước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Final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Inspection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: Bổ sung bộ tiêu chí nghiệm thu tương tự UAT vào bước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Final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Inspection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của SQA để phát hiện lỗi nghiệp vụ sớm, giảm tỷ lệ lỗi lọt ra khách hàng từ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xuống dưới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3%</m:t>
                    </m:r>
                  </m:oMath>
                </a14:m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Đưa ra cơ chế cảnh báo sớm chỉ số SV &amp; EV: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Cài đặt ngưỡng cảnh báo sớm (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Early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Warning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Trigger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 khi SV/EV chạm mốc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70%</m:t>
                    </m:r>
                  </m:oMath>
                </a14:m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giới hạn để xử lý ngay, triệt tiêu nguy cơ phải chuyển hồ sơ lên BOD dừng khẩn cấp.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Tự động hóa kiểm tra tài liệu QA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Plan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Áp dụng biểu mẫu điện tử có ràng buộc điều kiện tự động trên FPT QMS, giúp FQC duyệt hồ sơ thông suốt ngay lần đầu, nâng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 i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FPY</m:t>
                    </m:r>
                  </m:oMath>
                </a14:m>
                <a:r>
                  <a:rPr lang="en-US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khâu thẩm định từ </a:t>
                </a:r>
                <a14:m>
                  <m:oMath xmlns:m="http://schemas.openxmlformats.org/officeDocument/2006/math">
                    <m:r>
                      <a:rPr lang="vi-VN" sz="2000" b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95%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lên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99%</m:t>
                    </m:r>
                  </m:oMath>
                </a14:m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.</a:t>
                </a:r>
                <a:endParaRPr lang="vi-VN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6BC6E50C-EA40-5C2C-9503-DF33CE0A1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202786"/>
                <a:ext cx="16383000" cy="6409383"/>
              </a:xfrm>
              <a:prstGeom prst="rect">
                <a:avLst/>
              </a:prstGeom>
              <a:blipFill>
                <a:blip r:embed="rId3"/>
                <a:stretch>
                  <a:fillRect l="-856" t="-1236" r="-1042" b="-142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42EA9DE-4314-1E77-F2A5-FCB0EA7DA368}"/>
              </a:ext>
            </a:extLst>
          </p:cNvPr>
          <p:cNvSpPr txBox="1"/>
          <p:nvPr/>
        </p:nvSpPr>
        <p:spPr>
          <a:xfrm>
            <a:off x="2971800" y="1188474"/>
            <a:ext cx="8380807" cy="73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tích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chất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lượng</a:t>
            </a:r>
            <a:endParaRPr lang="en-US" sz="4000" b="1" i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</p:txBody>
      </p:sp>
    </p:spTree>
    <p:extLst>
      <p:ext uri="{BB962C8B-B14F-4D97-AF65-F5344CB8AC3E}">
        <p14:creationId xmlns:p14="http://schemas.microsoft.com/office/powerpoint/2010/main" val="2366217329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374-CC7C-E2ED-679D-7EB23723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9980A2-4976-47CB-18F2-86682CA2E768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22B014-7F97-43F4-1F63-7B130CE7A180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571C19-5447-C312-01F8-61A37D4EA2D8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D7C4CDD-2092-7E22-8A29-6EF4FDF8E1C8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EFFF9B2-C766-57F4-AE2D-31D709CF1602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1E797ADD-EB47-0165-180A-CF6F37ED761C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B7C122D6-8B59-10DE-EFF2-A4AF228C65B2}"/>
                  </a:ext>
                </a:extLst>
              </p:cNvPr>
              <p:cNvSpPr txBox="1"/>
              <p:nvPr/>
            </p:nvSpPr>
            <p:spPr>
              <a:xfrm>
                <a:off x="1066800" y="2025253"/>
                <a:ext cx="16383000" cy="86856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 định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mức vận hành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Quy mô tính toán: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𝑁</m:t>
                    </m:r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=100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dự án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năm</m:t>
                    </m:r>
                  </m:oMath>
                </a14:m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Đơn giá nhân công trung bình: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𝐶</m:t>
                    </m:r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=25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USD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giờ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(tương đương </a:t>
                </a:r>
                <a14:m>
                  <m:oMath xmlns:m="http://schemas.openxmlformats.org/officeDocument/2006/math">
                    <m:r>
                      <a:rPr lang="vi-VN" sz="2000">
                        <a:solidFill>
                          <a:srgbClr val="004AAD"/>
                        </a:solidFill>
                        <a:latin typeface="Cambria Math" panose="02040503050406030204" pitchFamily="18" charset="0"/>
                        <a:ea typeface="Kodchasan"/>
                        <a:cs typeface="Times New Roman" panose="02020603050405020304" pitchFamily="18" charset="0"/>
                      </a:rPr>
                      <m:t>∼600.000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VNĐ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ea typeface="Kodchasan"/>
                        <a:cs typeface="Times New Roman" panose="02020603050405020304" pitchFamily="18" charset="0"/>
                      </a:rPr>
                      <m:t>giờ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ea typeface="Kodchasan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ea typeface="Kodchasan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giá trị gia tăng trực tiếp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Value-Added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</m:t>
                        </m:r>
                      </m:sub>
                    </m:sSub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thực hiện tác vụ tạo giá trị nghiệm thu trực tiếp cho khách hàng (T20).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hỗ trợ nghiệp vụ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Business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Value-Added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BVA</m:t>
                        </m:r>
                      </m:sub>
                    </m:sSub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kiểm soát chất lượng, thẩm định, QA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kiểm toán SQA,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Inspection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đóng gói tri thức PAL.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lãng phí phi giá trị (Non-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Added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NVA</m:t>
                        </m:r>
                      </m:sub>
                    </m:sSub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phát sinh từ các bước tiếp nhận, chuyển giao thủ công, cập nhật trạng thái hủy/chưa duyệt (T02, T04, T05, T07, T10, T19, T21, T24).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sửa sai / Làm lại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Poor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Quality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Rework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Rework</m:t>
                        </m:r>
                      </m:sub>
                    </m:sSub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trả cho việc phân tích RCA, sửa mã nguồn, lập CAPA và Re-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(T12, T14, T18, T25, T26).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 thời gian xử lý cơ sở toàn trình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𝑃𝑇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=40.79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/dự án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hời gian theo 4 nhóm hoạt động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 gian VA (T20):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𝟏𝟔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 gian BVA chuẩn (T01, T03, T06, T08, T09, T11, T13, T15, T16, T17, T22, T23):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𝟏𝟗</m:t>
                    </m:r>
                    <m:r>
                      <a:rPr lang="vi-VN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𝟎𝟒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 gian NVA trung gian (T02, T04, T05, T07, T10, T19, T21, T24): </a:t>
                </a:r>
                <a14:m>
                  <m:oMath xmlns:m="http://schemas.openxmlformats.org/officeDocument/2006/math"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2.585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ờ</m:t>
                    </m:r>
                    <m:r>
                      <a:rPr lang="vi-VN" sz="20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≈2.59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 gian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Rework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Sửa lỗi (T12, T14, T18, T25, T26):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vi-V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𝟑𝟖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39788"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=&gt; 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(Tổng kiểm tra: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16.0+19.04+2.59+2.38≈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40.01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2000" b="1" i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trước khi cộng dồn hệ số vòng lặp 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vi-VN" sz="2000" b="1" i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d>
                      <m:dPr>
                        <m:ctrlPr>
                          <a:rPr lang="vi-VN" sz="2000" b="1" i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vi-VN" sz="2000" b="1" i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vi-VN" sz="2000" b="1" i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vi-VN" sz="2000" b="1" i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vi-VN" sz="2000" b="1" i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B7C122D6-8B59-10DE-EFF2-A4AF228C6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25253"/>
                <a:ext cx="16383000" cy="8685647"/>
              </a:xfrm>
              <a:prstGeom prst="rect">
                <a:avLst/>
              </a:prstGeom>
              <a:blipFill>
                <a:blip r:embed="rId3"/>
                <a:stretch>
                  <a:fillRect l="-856" t="-912" r="-7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34C8D6C-5CA7-5A6C-0322-6A2546DF5F6D}"/>
              </a:ext>
            </a:extLst>
          </p:cNvPr>
          <p:cNvSpPr txBox="1"/>
          <p:nvPr/>
        </p:nvSpPr>
        <p:spPr>
          <a:xfrm>
            <a:off x="2971800" y="1188474"/>
            <a:ext cx="8380807" cy="73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tích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chi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phí</a:t>
            </a:r>
            <a:endParaRPr lang="en-US" sz="4000" b="1" i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</p:txBody>
      </p:sp>
    </p:spTree>
    <p:extLst>
      <p:ext uri="{BB962C8B-B14F-4D97-AF65-F5344CB8AC3E}">
        <p14:creationId xmlns:p14="http://schemas.microsoft.com/office/powerpoint/2010/main" val="261521478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EC49-025A-1B65-37C9-310B88B5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340D13-A44D-AAA8-80AF-D76FE6A89BB8}"/>
              </a:ext>
            </a:extLst>
          </p:cNvPr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52C2083-540C-1FFB-061C-1D38E60A7D3B}"/>
              </a:ext>
            </a:extLst>
          </p:cNvPr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31307C-56A9-A707-B350-A152D0B8A15E}"/>
              </a:ext>
            </a:extLst>
          </p:cNvPr>
          <p:cNvSpPr txBox="1"/>
          <p:nvPr/>
        </p:nvSpPr>
        <p:spPr>
          <a:xfrm>
            <a:off x="1066800" y="24705"/>
            <a:ext cx="255224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ts val="600"/>
              </a:spcBef>
              <a:spcAft>
                <a:spcPts val="600"/>
              </a:spcAft>
            </a:pPr>
            <a:r>
              <a:rPr lang="en-US" sz="9000" b="1" i="1" dirty="0">
                <a:solidFill>
                  <a:srgbClr val="F97316"/>
                </a:solidFill>
                <a:latin typeface="Times New Roman" panose="02020603050405020304" pitchFamily="18" charset="0"/>
                <a:ea typeface="Kodchasan Bold Italics"/>
                <a:cs typeface="Times New Roman" panose="02020603050405020304" pitchFamily="18" charset="0"/>
                <a:sym typeface="Kodchasan Bold Italics"/>
              </a:rPr>
              <a:t>04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9151797-1CD6-0B44-5943-9E22477578CA}"/>
              </a:ext>
            </a:extLst>
          </p:cNvPr>
          <p:cNvSpPr txBox="1"/>
          <p:nvPr/>
        </p:nvSpPr>
        <p:spPr>
          <a:xfrm>
            <a:off x="2971800" y="519461"/>
            <a:ext cx="12725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 TÍCH QUY TRÌNH - ĐỊNH LƯỢNG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D7D3695-57B7-46F3-0312-27D38528675E}"/>
              </a:ext>
            </a:extLst>
          </p:cNvPr>
          <p:cNvSpPr/>
          <p:nvPr/>
        </p:nvSpPr>
        <p:spPr>
          <a:xfrm>
            <a:off x="2971800" y="1135014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7EA4C242-4E09-15CE-6484-1C694CC57412}"/>
              </a:ext>
            </a:extLst>
          </p:cNvPr>
          <p:cNvSpPr txBox="1"/>
          <p:nvPr/>
        </p:nvSpPr>
        <p:spPr>
          <a:xfrm>
            <a:off x="17449800" y="9394282"/>
            <a:ext cx="618357" cy="63690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spcBef>
                <a:spcPct val="0"/>
              </a:spcBef>
            </a:pPr>
            <a:r>
              <a:rPr lang="en-US" sz="2800" u="none" strike="noStrike" dirty="0">
                <a:solidFill>
                  <a:srgbClr val="0070C0"/>
                </a:solidFill>
                <a:latin typeface="Times New Roman" panose="02020603050405020304" pitchFamily="18" charset="0"/>
                <a:ea typeface="Patriot"/>
                <a:cs typeface="Times New Roman" panose="02020603050405020304" pitchFamily="18" charset="0"/>
                <a:sym typeface="Patriot"/>
              </a:rPr>
              <a:t>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4BAB9184-3206-5F58-5494-43A3E9D576F8}"/>
                  </a:ext>
                </a:extLst>
              </p:cNvPr>
              <p:cNvSpPr txBox="1"/>
              <p:nvPr/>
            </p:nvSpPr>
            <p:spPr>
              <a:xfrm>
                <a:off x="1066800" y="2025253"/>
                <a:ext cx="16383000" cy="78197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toán chi phí hằng năm cho 100 dự án (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Đơn giá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giờ</m:t>
                    </m:r>
                  </m:oMath>
                </a14:m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Kodchasan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giá trị thực tế (VA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</m:t>
                        </m:r>
                      </m:sub>
                    </m:sSub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=100×16.0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×25$=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𝟒𝟎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𝟎𝟎𝟎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năm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hỗ trợ đảm bảo chất lượng (BVA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BVA</m:t>
                        </m:r>
                      </m:sub>
                    </m:sSub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=100×19.04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×25$=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𝟒𝟕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𝟔𝟎𝟎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lãng phí do bước trung gian (NVA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b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vi-V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NVA</m:t>
                        </m:r>
                      </m:sub>
                    </m:sSub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=100×2.59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×25$=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𝟒𝟕𝟓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lãng phí do chất lượng kém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Poor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Quality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Rework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39788"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	</a:t>
                </a:r>
                <a:r>
                  <a:rPr lang="vi-V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Rework</m:t>
                        </m:r>
                      </m:sub>
                    </m:sSub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=100×</m:t>
                    </m:r>
                    <m:d>
                      <m:d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5.72−4.05+3.78−3.0+22.55−20.04</m:t>
                        </m:r>
                      </m:e>
                    </m:d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×25$≈100×3.16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×25$=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𝟗𝟎𝟎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 chi phí vận hành chất lượng hằng năm:</a:t>
                </a: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2588" lv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 b="1">
                            <a:solidFill>
                              <a:srgbClr val="004AA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2000" b="1" i="0">
                            <a:solidFill>
                              <a:srgbClr val="004AA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Total</m:t>
                        </m:r>
                      </m:sub>
                    </m:sSub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=100×40.79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004AA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×25$=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𝟗𝟕𝟓</m:t>
                    </m:r>
                    <m:r>
                      <m:rPr>
                        <m:nor/>
                      </m:rPr>
                      <a:rPr lang="vi-VN" sz="2000" b="1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  <m:r>
                      <a:rPr lang="vi-VN" sz="2000" b="1">
                        <a:solidFill>
                          <a:srgbClr val="004AAD"/>
                        </a:solidFill>
                        <a:latin typeface="Cambria Math" panose="02040503050406030204" pitchFamily="18" charset="0"/>
                      </a:rPr>
                      <m:t> </m:t>
                    </m:r>
                  </m:oMath>
                </a14:m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khắc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phục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Triệt tiêu các lãng phí NVA bằng tự động hóa: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 hợp hệ thống thông báo tự động (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Auto-trigger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API) giữa FPT QMS và hệ thống quản lý dự án để bỏ qua các bước "Tiếp nhận", "Nộp", "Cập nhật trạng thái thủ công", giúp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tiết kiệm ngay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6,475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Kodchasan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Cắt giảm chi phí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Rework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thông qua kiểm thử sớm (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Shift-Left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b="1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</a:t>
                </a: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 tư vào công cụ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tự động và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Static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Code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Analysis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Lane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Project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Team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để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50%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 lỗi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khâu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Inspection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UAT,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giúp cắt giảm trực tiếp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∼4,000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 phí sửa lỗi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5488" lvl="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vi-VN" sz="2000" b="1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Tái sử dụng tài sản PAL: 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 hóa các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template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bài học kinh nghiệm từ thư viện PAL để rút ngắn thời gian lập QA </a:t>
                </a:r>
                <a:r>
                  <a:rPr lang="vi-VN" sz="2000" dirty="0" err="1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</a:t>
                </a:r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 đoạn 1 từ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5.0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xuống còn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2.5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tiết kiệm thêm </a:t>
                </a:r>
                <a14:m>
                  <m:oMath xmlns:m="http://schemas.openxmlformats.org/officeDocument/2006/math">
                    <m:r>
                      <a:rPr lang="vi-VN" sz="2000" b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6,250</m:t>
                    </m:r>
                    <m:r>
                      <m:rPr>
                        <m:nor/>
                      </m:rPr>
                      <a:rPr lang="vi-VN" sz="2000" i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USD/năm</m:t>
                    </m:r>
                  </m:oMath>
                </a14:m>
                <a:r>
                  <a:rPr lang="vi-VN" sz="2000" dirty="0">
                    <a:solidFill>
                      <a:srgbClr val="004AA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sz="2000" dirty="0"/>
              </a:p>
              <a:p>
                <a:pPr marL="1182688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b="1" dirty="0">
                  <a:solidFill>
                    <a:srgbClr val="004AA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4BAB9184-3206-5F58-5494-43A3E9D57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25253"/>
                <a:ext cx="16383000" cy="7819705"/>
              </a:xfrm>
              <a:prstGeom prst="rect">
                <a:avLst/>
              </a:prstGeom>
              <a:blipFill>
                <a:blip r:embed="rId3"/>
                <a:stretch>
                  <a:fillRect l="-856" t="-1013" r="-7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26326C5-72FB-5C76-5A56-4BC949D9CB02}"/>
              </a:ext>
            </a:extLst>
          </p:cNvPr>
          <p:cNvSpPr txBox="1"/>
          <p:nvPr/>
        </p:nvSpPr>
        <p:spPr>
          <a:xfrm>
            <a:off x="2971800" y="1188474"/>
            <a:ext cx="8380807" cy="73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62"/>
              </a:lnSpc>
            </a:pP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Phân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tích</a:t>
            </a: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 chi </a:t>
            </a:r>
            <a:r>
              <a:rPr lang="en-US" sz="4000" b="1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 Bold"/>
                <a:cs typeface="Times New Roman" panose="02020603050405020304" pitchFamily="18" charset="0"/>
                <a:sym typeface="Kodchasan Bold"/>
              </a:rPr>
              <a:t>phí</a:t>
            </a:r>
            <a:endParaRPr lang="en-US" sz="4000" b="1" i="1" dirty="0">
              <a:solidFill>
                <a:srgbClr val="004AAD"/>
              </a:solidFill>
              <a:latin typeface="Times New Roman" panose="02020603050405020304" pitchFamily="18" charset="0"/>
              <a:ea typeface="Kodchasan Bold"/>
              <a:cs typeface="Times New Roman" panose="02020603050405020304" pitchFamily="18" charset="0"/>
              <a:sym typeface="Kodchasan Bold"/>
            </a:endParaRPr>
          </a:p>
        </p:txBody>
      </p:sp>
    </p:spTree>
    <p:extLst>
      <p:ext uri="{BB962C8B-B14F-4D97-AF65-F5344CB8AC3E}">
        <p14:creationId xmlns:p14="http://schemas.microsoft.com/office/powerpoint/2010/main" val="2602989741"/>
      </p:ext>
    </p:extLst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9156">
            <a:off x="-5357921" y="3459568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1" y="0"/>
                </a:lnTo>
                <a:lnTo>
                  <a:pt x="10198041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1439156">
            <a:off x="11113926" y="-6957184"/>
            <a:ext cx="10198041" cy="11858187"/>
          </a:xfrm>
          <a:custGeom>
            <a:avLst/>
            <a:gdLst/>
            <a:ahLst/>
            <a:cxnLst/>
            <a:rect l="l" t="t" r="r" b="b"/>
            <a:pathLst>
              <a:path w="10198041" h="11858187">
                <a:moveTo>
                  <a:pt x="0" y="0"/>
                </a:moveTo>
                <a:lnTo>
                  <a:pt x="10198040" y="0"/>
                </a:lnTo>
                <a:lnTo>
                  <a:pt x="10198040" y="11858187"/>
                </a:lnTo>
                <a:lnTo>
                  <a:pt x="0" y="1185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TextBox 4"/>
          <p:cNvSpPr txBox="1"/>
          <p:nvPr/>
        </p:nvSpPr>
        <p:spPr>
          <a:xfrm>
            <a:off x="5227802" y="2745881"/>
            <a:ext cx="8564398" cy="459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Quản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lý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chất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lượng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và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cải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tiến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quy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trình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gồm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4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giai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 </a:t>
            </a:r>
            <a:r>
              <a:rPr lang="en-US" sz="2800" dirty="0" err="1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đoạn</a:t>
            </a:r>
            <a:r>
              <a:rPr lang="en-US" sz="2800" dirty="0">
                <a:solidFill>
                  <a:srgbClr val="004AAD"/>
                </a:solidFill>
                <a:latin typeface="Times New Roman" panose="02020603050405020304" pitchFamily="18" charset="0"/>
                <a:ea typeface="Kodchasan"/>
                <a:cs typeface="Times New Roman" panose="02020603050405020304" pitchFamily="18" charset="0"/>
                <a:sym typeface="Kodchasan"/>
              </a:rPr>
              <a:t>:</a:t>
            </a:r>
            <a:endParaRPr lang="en-US" sz="2800" u="none" strike="noStrike" dirty="0">
              <a:solidFill>
                <a:srgbClr val="004AAD"/>
              </a:solidFill>
              <a:latin typeface="Times New Roman" panose="02020603050405020304" pitchFamily="18" charset="0"/>
              <a:ea typeface="Kodchasan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78726" y="948448"/>
            <a:ext cx="4730548" cy="141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38"/>
              </a:lnSpc>
            </a:pPr>
            <a:r>
              <a:rPr lang="en-US" sz="5000" b="1" dirty="0">
                <a:solidFill>
                  <a:srgbClr val="004AAD"/>
                </a:solidFill>
                <a:latin typeface="Times New Roman" panose="02020603050405020304" pitchFamily="18" charset="0"/>
                <a:ea typeface="Danh Da Bold"/>
                <a:cs typeface="Times New Roman" panose="02020603050405020304" pitchFamily="18" charset="0"/>
                <a:sym typeface="Danh Da Bold"/>
              </a:rPr>
              <a:t>TỔNG KẾT</a:t>
            </a:r>
          </a:p>
        </p:txBody>
      </p:sp>
      <p:sp>
        <p:nvSpPr>
          <p:cNvPr id="6" name="AutoShape 6"/>
          <p:cNvSpPr/>
          <p:nvPr/>
        </p:nvSpPr>
        <p:spPr>
          <a:xfrm>
            <a:off x="7924793" y="2448478"/>
            <a:ext cx="2438413" cy="0"/>
          </a:xfrm>
          <a:prstGeom prst="line">
            <a:avLst/>
          </a:prstGeom>
          <a:ln w="4762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7" name="Group 7"/>
          <p:cNvGrpSpPr/>
          <p:nvPr/>
        </p:nvGrpSpPr>
        <p:grpSpPr>
          <a:xfrm>
            <a:off x="1905000" y="3874294"/>
            <a:ext cx="597920" cy="673068"/>
            <a:chOff x="0" y="-66675"/>
            <a:chExt cx="797226" cy="8974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7226" cy="830749"/>
            </a:xfrm>
            <a:custGeom>
              <a:avLst/>
              <a:gdLst/>
              <a:ahLst/>
              <a:cxnLst/>
              <a:rect l="l" t="t" r="r" b="b"/>
              <a:pathLst>
                <a:path w="797226" h="830749">
                  <a:moveTo>
                    <a:pt x="398613" y="0"/>
                  </a:moveTo>
                  <a:cubicBezTo>
                    <a:pt x="178465" y="0"/>
                    <a:pt x="0" y="185970"/>
                    <a:pt x="0" y="415375"/>
                  </a:cubicBezTo>
                  <a:cubicBezTo>
                    <a:pt x="0" y="644780"/>
                    <a:pt x="178465" y="830749"/>
                    <a:pt x="398613" y="830749"/>
                  </a:cubicBezTo>
                  <a:cubicBezTo>
                    <a:pt x="618761" y="830749"/>
                    <a:pt x="797226" y="644780"/>
                    <a:pt x="797226" y="415375"/>
                  </a:cubicBezTo>
                  <a:cubicBezTo>
                    <a:pt x="797226" y="185970"/>
                    <a:pt x="618761" y="0"/>
                    <a:pt x="398613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97226" cy="89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800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01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42088" y="3967621"/>
            <a:ext cx="6782912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Hiệu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(Tailoring)</a:t>
            </a:r>
            <a:endParaRPr lang="en-US" sz="2500" dirty="0">
              <a:solidFill>
                <a:srgbClr val="004AA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905000" y="5307509"/>
            <a:ext cx="597920" cy="623062"/>
            <a:chOff x="0" y="0"/>
            <a:chExt cx="797226" cy="83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7226" cy="830749"/>
            </a:xfrm>
            <a:custGeom>
              <a:avLst/>
              <a:gdLst/>
              <a:ahLst/>
              <a:cxnLst/>
              <a:rect l="l" t="t" r="r" b="b"/>
              <a:pathLst>
                <a:path w="797226" h="830749">
                  <a:moveTo>
                    <a:pt x="398613" y="0"/>
                  </a:moveTo>
                  <a:cubicBezTo>
                    <a:pt x="178465" y="0"/>
                    <a:pt x="0" y="185970"/>
                    <a:pt x="0" y="415375"/>
                  </a:cubicBezTo>
                  <a:cubicBezTo>
                    <a:pt x="0" y="644780"/>
                    <a:pt x="178465" y="830749"/>
                    <a:pt x="398613" y="830749"/>
                  </a:cubicBezTo>
                  <a:cubicBezTo>
                    <a:pt x="618761" y="830749"/>
                    <a:pt x="797226" y="644780"/>
                    <a:pt x="797226" y="415375"/>
                  </a:cubicBezTo>
                  <a:cubicBezTo>
                    <a:pt x="797226" y="185970"/>
                    <a:pt x="618761" y="0"/>
                    <a:pt x="398613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797226" cy="89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42088" y="5288459"/>
            <a:ext cx="6782912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FQC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QPPOs (SLA 24h)</a:t>
            </a:r>
            <a:endParaRPr lang="en-US" sz="2500" dirty="0">
              <a:solidFill>
                <a:srgbClr val="004AA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1125200" y="3924300"/>
            <a:ext cx="597920" cy="623062"/>
            <a:chOff x="0" y="0"/>
            <a:chExt cx="797226" cy="8307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97226" cy="830749"/>
            </a:xfrm>
            <a:custGeom>
              <a:avLst/>
              <a:gdLst/>
              <a:ahLst/>
              <a:cxnLst/>
              <a:rect l="l" t="t" r="r" b="b"/>
              <a:pathLst>
                <a:path w="797226" h="830749">
                  <a:moveTo>
                    <a:pt x="398613" y="0"/>
                  </a:moveTo>
                  <a:cubicBezTo>
                    <a:pt x="178465" y="0"/>
                    <a:pt x="0" y="185970"/>
                    <a:pt x="0" y="415375"/>
                  </a:cubicBezTo>
                  <a:cubicBezTo>
                    <a:pt x="0" y="644780"/>
                    <a:pt x="178465" y="830749"/>
                    <a:pt x="398613" y="830749"/>
                  </a:cubicBezTo>
                  <a:cubicBezTo>
                    <a:pt x="618761" y="830749"/>
                    <a:pt x="797226" y="644780"/>
                    <a:pt x="797226" y="415375"/>
                  </a:cubicBezTo>
                  <a:cubicBezTo>
                    <a:pt x="797226" y="185970"/>
                    <a:pt x="618761" y="0"/>
                    <a:pt x="398613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97226" cy="89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Yu Gothic" panose="020B0400000000000000" pitchFamily="34" charset="-128"/>
                  <a:cs typeface="Times New Roman" panose="02020603050405020304" pitchFamily="18" charset="0"/>
                  <a:sym typeface="Patriot"/>
                </a:rPr>
                <a:t>03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036297" y="3916859"/>
            <a:ext cx="55241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Định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(Process Audit) &amp;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(Quality Gates)</a:t>
            </a:r>
            <a:endParaRPr lang="en-US" sz="2500" dirty="0">
              <a:solidFill>
                <a:srgbClr val="004AA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Kodchasan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1125200" y="5307509"/>
            <a:ext cx="597920" cy="623062"/>
            <a:chOff x="0" y="0"/>
            <a:chExt cx="797226" cy="8307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7226" cy="830749"/>
            </a:xfrm>
            <a:custGeom>
              <a:avLst/>
              <a:gdLst/>
              <a:ahLst/>
              <a:cxnLst/>
              <a:rect l="l" t="t" r="r" b="b"/>
              <a:pathLst>
                <a:path w="797226" h="830749">
                  <a:moveTo>
                    <a:pt x="398613" y="0"/>
                  </a:moveTo>
                  <a:cubicBezTo>
                    <a:pt x="178465" y="0"/>
                    <a:pt x="0" y="185970"/>
                    <a:pt x="0" y="415375"/>
                  </a:cubicBezTo>
                  <a:cubicBezTo>
                    <a:pt x="0" y="644780"/>
                    <a:pt x="178465" y="830749"/>
                    <a:pt x="398613" y="830749"/>
                  </a:cubicBezTo>
                  <a:cubicBezTo>
                    <a:pt x="618761" y="830749"/>
                    <a:pt x="797226" y="644780"/>
                    <a:pt x="797226" y="415375"/>
                  </a:cubicBezTo>
                  <a:cubicBezTo>
                    <a:pt x="797226" y="185970"/>
                    <a:pt x="618761" y="0"/>
                    <a:pt x="398613" y="0"/>
                  </a:cubicBezTo>
                  <a:close/>
                </a:path>
              </a:pathLst>
            </a:custGeom>
            <a:solidFill>
              <a:srgbClr val="F9731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797226" cy="89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 dirty="0">
                  <a:solidFill>
                    <a:srgbClr val="FFFFFF"/>
                  </a:solidFill>
                  <a:latin typeface="Times New Roman" panose="02020603050405020304" pitchFamily="18" charset="0"/>
                  <a:ea typeface="Patriot"/>
                  <a:cs typeface="Times New Roman" panose="02020603050405020304" pitchFamily="18" charset="0"/>
                  <a:sym typeface="Patriot"/>
                </a:rPr>
                <a:t>04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036297" y="5288459"/>
            <a:ext cx="517767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(Final Inspection) &amp;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500" dirty="0">
                <a:solidFill>
                  <a:srgbClr val="004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(UAT)</a:t>
            </a:r>
            <a:endParaRPr lang="en-US" sz="2500" dirty="0">
              <a:solidFill>
                <a:srgbClr val="004AA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Kodchasan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887537" y="8014887"/>
            <a:ext cx="12500448" cy="59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71"/>
              </a:lnSpc>
            </a:pP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Cảm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ơn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thầy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và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các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bạn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đã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lắng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 </a:t>
            </a:r>
            <a:r>
              <a:rPr lang="en-US" sz="4000" b="1" u="none" strike="noStrike" dirty="0" err="1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nghe</a:t>
            </a:r>
            <a:r>
              <a:rPr lang="en-US" sz="4000" b="1" u="none" strike="noStrike" dirty="0">
                <a:solidFill>
                  <a:srgbClr val="004AAD"/>
                </a:solidFill>
                <a:latin typeface="Times New Roman" panose="02020603050405020304" pitchFamily="18" charset="0"/>
                <a:ea typeface="Patriot Medium"/>
                <a:cs typeface="Times New Roman" panose="02020603050405020304" pitchFamily="18" charset="0"/>
                <a:sym typeface="Patriot Medium"/>
              </a:rPr>
              <a:t>!</a:t>
            </a:r>
          </a:p>
        </p:txBody>
      </p:sp>
      <p:sp>
        <p:nvSpPr>
          <p:cNvPr id="36" name="AutoShape 36"/>
          <p:cNvSpPr/>
          <p:nvPr/>
        </p:nvSpPr>
        <p:spPr>
          <a:xfrm>
            <a:off x="7232761" y="8844373"/>
            <a:ext cx="3810000" cy="0"/>
          </a:xfrm>
          <a:prstGeom prst="line">
            <a:avLst/>
          </a:prstGeom>
          <a:ln w="28575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Freeform 38"/>
          <p:cNvSpPr/>
          <p:nvPr/>
        </p:nvSpPr>
        <p:spPr>
          <a:xfrm>
            <a:off x="0" y="7412380"/>
            <a:ext cx="5183685" cy="2863986"/>
          </a:xfrm>
          <a:custGeom>
            <a:avLst/>
            <a:gdLst/>
            <a:ahLst/>
            <a:cxnLst/>
            <a:rect l="l" t="t" r="r" b="b"/>
            <a:pathLst>
              <a:path w="5183685" h="2863986">
                <a:moveTo>
                  <a:pt x="0" y="0"/>
                </a:moveTo>
                <a:lnTo>
                  <a:pt x="5183685" y="0"/>
                </a:lnTo>
                <a:lnTo>
                  <a:pt x="5183685" y="2863985"/>
                </a:lnTo>
                <a:lnTo>
                  <a:pt x="0" y="2863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6776</Words>
  <Application>Microsoft Office PowerPoint</Application>
  <PresentationFormat>Custom</PresentationFormat>
  <Paragraphs>662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Patriot</vt:lpstr>
      <vt:lpstr>Arial</vt:lpstr>
      <vt:lpstr>Times New Roman</vt:lpstr>
      <vt:lpstr>Calibri</vt:lpstr>
      <vt:lpstr>Cambria Math</vt:lpstr>
      <vt:lpstr>Kodchasan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Lý Kiến Đức</cp:lastModifiedBy>
  <cp:revision>153</cp:revision>
  <dcterms:created xsi:type="dcterms:W3CDTF">2006-08-16T00:00:00Z</dcterms:created>
  <dcterms:modified xsi:type="dcterms:W3CDTF">2026-09-09T16:12:33Z</dcterms:modified>
  <dc:identifier>DAHTS894HVk</dc:identifier>
</cp:coreProperties>
</file>